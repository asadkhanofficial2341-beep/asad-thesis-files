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2" r:id="rId1"/>
  </p:sldMasterIdLst>
  <p:notesMasterIdLst>
    <p:notesMasterId r:id="rId33"/>
  </p:notesMasterIdLst>
  <p:sldIdLst>
    <p:sldId id="280" r:id="rId2"/>
    <p:sldId id="257" r:id="rId3"/>
    <p:sldId id="256" r:id="rId4"/>
    <p:sldId id="258" r:id="rId5"/>
    <p:sldId id="260" r:id="rId6"/>
    <p:sldId id="300" r:id="rId7"/>
    <p:sldId id="259" r:id="rId8"/>
    <p:sldId id="261" r:id="rId9"/>
    <p:sldId id="265" r:id="rId10"/>
    <p:sldId id="267" r:id="rId11"/>
    <p:sldId id="268" r:id="rId12"/>
    <p:sldId id="294" r:id="rId13"/>
    <p:sldId id="295" r:id="rId14"/>
    <p:sldId id="296" r:id="rId15"/>
    <p:sldId id="297" r:id="rId16"/>
    <p:sldId id="269" r:id="rId17"/>
    <p:sldId id="272" r:id="rId18"/>
    <p:sldId id="283" r:id="rId19"/>
    <p:sldId id="284" r:id="rId20"/>
    <p:sldId id="266" r:id="rId21"/>
    <p:sldId id="287" r:id="rId22"/>
    <p:sldId id="298" r:id="rId23"/>
    <p:sldId id="273" r:id="rId24"/>
    <p:sldId id="274" r:id="rId25"/>
    <p:sldId id="275" r:id="rId26"/>
    <p:sldId id="271" r:id="rId27"/>
    <p:sldId id="285" r:id="rId28"/>
    <p:sldId id="288" r:id="rId29"/>
    <p:sldId id="299" r:id="rId30"/>
    <p:sldId id="277" r:id="rId31"/>
    <p:sldId id="279" r:id="rId3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74" autoAdjust="0"/>
  </p:normalViewPr>
  <p:slideViewPr>
    <p:cSldViewPr snapToGrid="0" snapToObjects="1">
      <p:cViewPr varScale="1">
        <p:scale>
          <a:sx n="72" d="100"/>
          <a:sy n="72" d="100"/>
        </p:scale>
        <p:origin x="107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3B383-6A14-46AB-A7DE-742B15C33F9E}" type="datetimeFigureOut">
              <a:rPr lang="en-PK" smtClean="0"/>
              <a:t>12/09/2026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5007E-B1A3-4106-B116-89CDED5B7D80}" type="slidenum">
              <a:rPr lang="en-PK" smtClean="0"/>
              <a:t>‹#›</a:t>
            </a:fld>
            <a:endParaRPr lang="en-PK"/>
          </a:p>
        </p:txBody>
      </p:sp>
    </p:spTree>
    <p:extLst>
      <p:ext uri="{BB962C8B-B14F-4D97-AF65-F5344CB8AC3E}">
        <p14:creationId xmlns:p14="http://schemas.microsoft.com/office/powerpoint/2010/main" val="7539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38BDF8"/>
                </a:solidFill>
                <a:latin typeface="Poppins SemiBold"/>
                <a:ea typeface="Poppins SemiBold"/>
                <a:cs typeface="Poppins SemiBold"/>
                <a:sym typeface="Poppins SemiBold"/>
              </a:rPr>
              <a:t>Random Forest 1.0 Anomaly</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Hadoop labels were assigned per application, not per log line. The dataset features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and </a:t>
            </a:r>
            <a:r>
              <a:rPr lang="en-US" sz="1600" b="0" i="0" u="none" strike="noStrike" cap="none" dirty="0" err="1">
                <a:solidFill>
                  <a:srgbClr val="CBD5E1"/>
                </a:solidFill>
                <a:latin typeface="Inter"/>
                <a:ea typeface="Inter"/>
                <a:cs typeface="Inter"/>
                <a:sym typeface="Inter"/>
              </a:rPr>
              <a:t>container_id</a:t>
            </a:r>
            <a:r>
              <a:rPr lang="en-US" sz="1600" b="0" i="0" u="none" strike="noStrike" cap="none" dirty="0">
                <a:solidFill>
                  <a:srgbClr val="CBD5E1"/>
                </a:solidFill>
                <a:latin typeface="Inter"/>
                <a:ea typeface="Inter"/>
                <a:cs typeface="Inter"/>
                <a:sym typeface="Inter"/>
              </a:rPr>
              <a:t> were directly linked to these application labels.</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Random Forest achieved 1.0 F1 by memorizing the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mapping, bypassing actual log pattern analysis. This textbook Feature Leakage exposes a dataset limitation, not true model performance.</a:t>
            </a:r>
            <a:endParaRPr lang="en-US" sz="1600" dirty="0"/>
          </a:p>
          <a:p>
            <a:pPr marL="0" lvl="0" indent="0" algn="l" rtl="0">
              <a:spcBef>
                <a:spcPts val="0"/>
              </a:spcBef>
              <a:spcAft>
                <a:spcPts val="0"/>
              </a:spcAft>
              <a:buNone/>
            </a:pPr>
            <a:endParaRPr sz="1600" dirty="0"/>
          </a:p>
        </p:txBody>
      </p:sp>
      <p:sp>
        <p:nvSpPr>
          <p:cNvPr id="421" name="Google Shape;42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3D94-D6CE-C4CD-05B6-08F03A383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B0F3D39-0D27-9102-3AA6-3882AC2D6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ED1E268-7A47-9F26-D321-4532E2CCCF0F}"/>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5705568D-70D7-CC98-5AF0-556E06FF4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D9A98-85BE-0FE0-7D69-529F48274DF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03213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4623-6CBF-CD53-4F79-C8EBE2AC61C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3EA3612-FBC7-A5AB-E0FF-6AA5C2E6B8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D635E4-C1EB-6ECE-F176-181707DE71DF}"/>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5DD92621-C881-1767-D4C4-ADC09158A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F8A9-10BA-F941-68CB-23EDBD45FF4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93068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3413-C750-106C-AB5B-310EE2C50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947BC72-BC2B-2609-8E38-B4B2DEF015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68AD10-12CF-9E24-920B-1092A4C2ED84}"/>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D21BF262-0782-63E7-BA44-EBD528644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E69C-ACCA-3D1C-379A-32E35AE9726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89571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CC48-A2C0-CBA4-47B3-2FA22EFD9D9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3EE8877-3C35-6301-07FB-BDDA454117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FC9AF29-1860-04B0-E0EE-2C73427B4F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7C90841-FC38-4449-D8C5-05D4C8DD8D77}"/>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a:extLst>
              <a:ext uri="{FF2B5EF4-FFF2-40B4-BE49-F238E27FC236}">
                <a16:creationId xmlns:a16="http://schemas.microsoft.com/office/drawing/2014/main" id="{2C880FBD-0BBA-05AA-5062-3AA2287A25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2D05F2-56AD-8C14-1C2D-8CC9B8FAB7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04533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5C76-4423-2360-B192-AD440A61831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F675081-57AF-2520-B57B-F98C32A49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F79EB6-D34A-E6C6-E66F-E5D9A4A49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48E80EF6-50DD-1CDA-A899-74E55D925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1ED575-ED32-6C94-D93D-0F9819D6C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4570875-ABE0-90FD-AB39-0F89B328172A}"/>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a:extLst>
              <a:ext uri="{FF2B5EF4-FFF2-40B4-BE49-F238E27FC236}">
                <a16:creationId xmlns:a16="http://schemas.microsoft.com/office/drawing/2014/main" id="{9E02FF37-6092-8711-0449-1F42CDDE2C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806657-4C10-D9D3-046D-342636EB6AA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7684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BCEF-5D22-DBC6-D1D5-F00A63EE7A8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ACCAABC-7E0D-ADCE-F673-C4A80194DD99}"/>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a:extLst>
              <a:ext uri="{FF2B5EF4-FFF2-40B4-BE49-F238E27FC236}">
                <a16:creationId xmlns:a16="http://schemas.microsoft.com/office/drawing/2014/main" id="{E36D7A30-329D-7557-6D52-A659E69540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30A869-4039-FA20-71DF-0813DF244D2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34642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78AF58-71BC-0404-543F-99BEF389A287}"/>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a:extLst>
              <a:ext uri="{FF2B5EF4-FFF2-40B4-BE49-F238E27FC236}">
                <a16:creationId xmlns:a16="http://schemas.microsoft.com/office/drawing/2014/main" id="{0B492CEE-D2E8-E6AB-D320-59E0FE747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51EE94-7022-0E52-9B0F-1F30DB83A0F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3664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9654-C4F4-8705-B661-FAD89DE19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DA0B7CE-AAE8-5EAA-45A9-A8FA97066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788B0E3-9963-FD83-1D0E-3DADD8904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CCB6E-E917-CEEE-7EC2-813ADD3FF5AC}"/>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a:extLst>
              <a:ext uri="{FF2B5EF4-FFF2-40B4-BE49-F238E27FC236}">
                <a16:creationId xmlns:a16="http://schemas.microsoft.com/office/drawing/2014/main" id="{D75ADB94-2CA6-040D-F12D-952D4E6FD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32CF3-B2F1-D907-9B95-77CED68687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5290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F46C-5F11-3306-614E-661AF1736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BFBFFCC-758B-D9BA-06CA-AB3786DC1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69D2AF9-28BF-87CD-841E-3D08037CD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8D9DB6-9899-EDE9-4AED-7815DE48BAAB}"/>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a:extLst>
              <a:ext uri="{FF2B5EF4-FFF2-40B4-BE49-F238E27FC236}">
                <a16:creationId xmlns:a16="http://schemas.microsoft.com/office/drawing/2014/main" id="{B6BC06EE-7D65-0D3F-1C5D-C36A6875E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E3FC06-6B52-D246-B555-9222505E6F2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25890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FE76-86AB-6007-C2DA-2A7DD170E24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7EFEB1C-9664-FC21-4C4A-73AD79BF7F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238883-6487-B9C3-C4D8-88C698E96CB9}"/>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3627AB75-3793-5F4C-3137-8448823D5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BE4D3-31EF-D355-D8A7-05C526B9CCE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09048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A2799-5567-5AB6-5A1C-F3459AB787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C71A642-AA3F-7C1B-2721-A29CB130E0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2757BDA-3BA4-ED6D-920C-F96DCA3D4C73}"/>
              </a:ext>
            </a:extLst>
          </p:cNvPr>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FA58BC1C-FCD9-0E9F-A045-7E12BA9F3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1E064-F0CA-0A99-EBD5-CBA0AE28FC7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107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86261-E774-054D-0884-3E53638F7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48FDFA-20AE-3808-A6F9-8FE56A393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FE74770-8279-EF5F-02B5-7014527F9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9/12/2026</a:t>
            </a:fld>
            <a:endParaRPr lang="en-US"/>
          </a:p>
        </p:txBody>
      </p:sp>
      <p:sp>
        <p:nvSpPr>
          <p:cNvPr id="5" name="Footer Placeholder 4">
            <a:extLst>
              <a:ext uri="{FF2B5EF4-FFF2-40B4-BE49-F238E27FC236}">
                <a16:creationId xmlns:a16="http://schemas.microsoft.com/office/drawing/2014/main" id="{0B784342-B6F5-DE14-459C-A50834615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66C97E-5D96-6586-051E-17F0BACF0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97393622"/>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machine-learning/confusion-matrix-machine-learning/" TargetMode="External"/><Relationship Id="rId2" Type="http://schemas.openxmlformats.org/officeDocument/2006/relationships/hyperlink" Target="https://www.picsellia.com/post/understanding-the-f1-score-in-machine-learning-the-harmonic-mean-of-precision-and-recall"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evelopers.google.com/machine-learning/crash-course/classification/accuracy-precision-recal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583790" y="699688"/>
            <a:ext cx="11201400" cy="18859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125" b="1" i="0" u="none" strike="noStrike" cap="none" dirty="0">
                <a:solidFill>
                  <a:srgbClr val="003366"/>
                </a:solidFill>
                <a:latin typeface="Helvetica Neue"/>
                <a:ea typeface="Helvetica Neue"/>
                <a:cs typeface="Helvetica Neue"/>
                <a:sym typeface="Helvetica Neue"/>
              </a:rPr>
              <a:t>Generative Models vs Traditional AI-Driven Anomaly Detection in Large-Scale System Logs</a:t>
            </a:r>
            <a:endParaRPr dirty="0"/>
          </a:p>
        </p:txBody>
      </p:sp>
      <p:sp>
        <p:nvSpPr>
          <p:cNvPr id="85" name="Google Shape;85;p13"/>
          <p:cNvSpPr txBox="1"/>
          <p:nvPr/>
        </p:nvSpPr>
        <p:spPr>
          <a:xfrm>
            <a:off x="4592843" y="3336577"/>
            <a:ext cx="3006313"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555555"/>
                </a:solidFill>
                <a:latin typeface="Helvetica Neue"/>
                <a:ea typeface="Helvetica Neue"/>
                <a:cs typeface="Helvetica Neue"/>
                <a:sym typeface="Helvetica Neue"/>
              </a:rPr>
              <a:t>A Comparative Study</a:t>
            </a:r>
            <a:endParaRPr/>
          </a:p>
        </p:txBody>
      </p:sp>
      <p:sp>
        <p:nvSpPr>
          <p:cNvPr id="86" name="Google Shape;86;p13"/>
          <p:cNvSpPr txBox="1"/>
          <p:nvPr/>
        </p:nvSpPr>
        <p:spPr>
          <a:xfrm>
            <a:off x="2612587" y="4093354"/>
            <a:ext cx="6966823" cy="1620444"/>
          </a:xfrm>
          <a:prstGeom prst="rect">
            <a:avLst/>
          </a:prstGeom>
          <a:noFill/>
          <a:ln>
            <a:noFill/>
          </a:ln>
        </p:spPr>
        <p:txBody>
          <a:bodyPr spcFirstLastPara="1" wrap="square" lIns="0" tIns="0" rIns="0" bIns="0" anchor="t" anchorCtr="0">
            <a:spAutoFit/>
          </a:bodyPr>
          <a:lstStyle/>
          <a:p>
            <a:pPr marL="0" marR="0" lvl="0" indent="0" algn="ctr" rtl="0">
              <a:lnSpc>
                <a:spcPct val="179948"/>
              </a:lnSpc>
              <a:spcBef>
                <a:spcPts val="0"/>
              </a:spcBef>
              <a:spcAft>
                <a:spcPts val="0"/>
              </a:spcAft>
              <a:buNone/>
            </a:pPr>
            <a:r>
              <a:rPr lang="en-US" sz="1950" b="1" i="0" u="none" strike="noStrike" cap="none" dirty="0">
                <a:solidFill>
                  <a:srgbClr val="003366"/>
                </a:solidFill>
                <a:latin typeface="Helvetica Neue"/>
                <a:ea typeface="Helvetica Neue"/>
                <a:cs typeface="Helvetica Neue"/>
                <a:sym typeface="Helvetica Neue"/>
              </a:rPr>
              <a:t>Muhammad Asad Mahmood Khan</a:t>
            </a:r>
            <a:r>
              <a:rPr lang="en-US" sz="1950" b="0" i="0" u="none" strike="noStrike" cap="none" dirty="0">
                <a:solidFill>
                  <a:srgbClr val="333333"/>
                </a:solidFill>
                <a:latin typeface="Helvetica Neue"/>
                <a:ea typeface="Helvetica Neue"/>
                <a:cs typeface="Helvetica Neue"/>
                <a:sym typeface="Helvetica Neue"/>
              </a:rPr>
              <a:t> [Roll No: 243260]</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Program: MSAI (Fall 2024)</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Air University, Department of Creative Technologies</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Presentation Agenda</a:t>
            </a:r>
            <a:endParaRPr dirty="0">
              <a:latin typeface="Times New Roman" panose="02020603050405020304" pitchFamily="18" charset="0"/>
              <a:cs typeface="Times New Roman" panose="02020603050405020304" pitchFamily="18" charset="0"/>
            </a:endParaRPr>
          </a:p>
        </p:txBody>
      </p:sp>
      <p:sp>
        <p:nvSpPr>
          <p:cNvPr id="93" name="Google Shape;93;p1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 name="Content Placeholder 5">
            <a:extLst>
              <a:ext uri="{FF2B5EF4-FFF2-40B4-BE49-F238E27FC236}">
                <a16:creationId xmlns:a16="http://schemas.microsoft.com/office/drawing/2014/main" id="{E4178636-F758-71A1-FF6E-3B3E8E9A8EEE}"/>
              </a:ext>
            </a:extLst>
          </p:cNvPr>
          <p:cNvSpPr>
            <a:spLocks noGrp="1"/>
          </p:cNvSpPr>
          <p:nvPr>
            <p:ph sz="half" idx="2"/>
          </p:nvPr>
        </p:nvSpPr>
        <p:spPr>
          <a:xfrm>
            <a:off x="534311" y="1565695"/>
            <a:ext cx="7833512" cy="4806530"/>
          </a:xfrm>
        </p:spPr>
        <p:txBody>
          <a:bodyPr>
            <a:noAutofit/>
          </a:bodyPr>
          <a:lstStyle/>
          <a:p>
            <a:pPr>
              <a:spcAft>
                <a:spcPts val="1000"/>
              </a:spcAft>
              <a:buNone/>
              <a:defRPr sz="1500"/>
            </a:pPr>
            <a:r>
              <a:rPr lang="en-PK" sz="2000" b="1"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Introduction</a:t>
            </a:r>
            <a:endParaRPr lang="en-PK" sz="2000" b="1" dirty="0">
              <a:latin typeface="Times New Roman" panose="02020603050405020304" pitchFamily="18" charset="0"/>
              <a:cs typeface="Times New Roman" panose="02020603050405020304" pitchFamily="18" charset="0"/>
            </a:endParaRPr>
          </a:p>
          <a:p>
            <a:pPr>
              <a:spcAft>
                <a:spcPts val="1000"/>
              </a:spcAft>
              <a:buNone/>
              <a:defRPr sz="1500"/>
            </a:pPr>
            <a:r>
              <a:rPr lang="en-US" sz="2000" b="1" dirty="0">
                <a:latin typeface="Times New Roman" panose="02020603050405020304" pitchFamily="18" charset="0"/>
                <a:cs typeface="Times New Roman" panose="02020603050405020304" pitchFamily="18" charset="0"/>
              </a:rPr>
              <a:t>2</a:t>
            </a:r>
            <a:r>
              <a:rPr lang="en-PK" sz="2000" b="1" dirty="0">
                <a:latin typeface="Times New Roman" panose="02020603050405020304" pitchFamily="18" charset="0"/>
                <a:cs typeface="Times New Roman" panose="02020603050405020304" pitchFamily="18" charset="0"/>
              </a:rPr>
              <a:t>. Literature Review (Traditional ML &amp; Deep Learning)</a:t>
            </a:r>
          </a:p>
          <a:p>
            <a:pPr>
              <a:spcAft>
                <a:spcPts val="1000"/>
              </a:spcAft>
              <a:buNone/>
              <a:defRPr sz="1500"/>
            </a:pPr>
            <a:r>
              <a:rPr lang="en-US" sz="2000" b="1" dirty="0">
                <a:latin typeface="Times New Roman" panose="02020603050405020304" pitchFamily="18" charset="0"/>
                <a:cs typeface="Times New Roman" panose="02020603050405020304" pitchFamily="18" charset="0"/>
              </a:rPr>
              <a:t>3</a:t>
            </a:r>
            <a:r>
              <a:rPr lang="en-PK" sz="2000" b="1" dirty="0">
                <a:latin typeface="Times New Roman" panose="02020603050405020304" pitchFamily="18" charset="0"/>
                <a:cs typeface="Times New Roman" panose="02020603050405020304" pitchFamily="18" charset="0"/>
              </a:rPr>
              <a:t>. Problem Statement &amp; Research Gap</a:t>
            </a:r>
          </a:p>
          <a:p>
            <a:pPr>
              <a:spcAft>
                <a:spcPts val="1000"/>
              </a:spcAft>
              <a:buNone/>
              <a:defRPr sz="1500"/>
            </a:pPr>
            <a:r>
              <a:rPr lang="en-US" sz="2000" b="1" dirty="0">
                <a:latin typeface="Times New Roman" panose="02020603050405020304" pitchFamily="18" charset="0"/>
                <a:cs typeface="Times New Roman" panose="02020603050405020304" pitchFamily="18" charset="0"/>
              </a:rPr>
              <a:t>4</a:t>
            </a:r>
            <a:r>
              <a:rPr lang="en-PK" sz="2000" b="1" dirty="0">
                <a:latin typeface="Times New Roman" panose="02020603050405020304" pitchFamily="18" charset="0"/>
                <a:cs typeface="Times New Roman" panose="02020603050405020304" pitchFamily="18" charset="0"/>
              </a:rPr>
              <a:t>. Research Questions &amp; Objectives</a:t>
            </a:r>
          </a:p>
          <a:p>
            <a:pPr>
              <a:spcAft>
                <a:spcPts val="1000"/>
              </a:spcAft>
              <a:buNone/>
              <a:defRPr sz="1500"/>
            </a:pPr>
            <a:r>
              <a:rPr lang="en-US" sz="2000" b="1" dirty="0">
                <a:latin typeface="Times New Roman" panose="02020603050405020304" pitchFamily="18" charset="0"/>
                <a:cs typeface="Times New Roman" panose="02020603050405020304" pitchFamily="18" charset="0"/>
              </a:rPr>
              <a:t>6</a:t>
            </a:r>
            <a:r>
              <a:rPr lang="en-PK" sz="2000" b="1" dirty="0">
                <a:latin typeface="Times New Roman" panose="02020603050405020304" pitchFamily="18" charset="0"/>
                <a:cs typeface="Times New Roman" panose="02020603050405020304" pitchFamily="18" charset="0"/>
              </a:rPr>
              <a:t>. Methodology (5-Phase Framework)</a:t>
            </a:r>
          </a:p>
          <a:p>
            <a:pPr>
              <a:spcAft>
                <a:spcPts val="1000"/>
              </a:spcAft>
              <a:buNone/>
              <a:defRPr sz="1500"/>
            </a:pPr>
            <a:r>
              <a:rPr lang="en-US" sz="2000" b="1" dirty="0">
                <a:latin typeface="Times New Roman" panose="02020603050405020304" pitchFamily="18" charset="0"/>
                <a:cs typeface="Times New Roman" panose="02020603050405020304" pitchFamily="18" charset="0"/>
              </a:rPr>
              <a:t>7</a:t>
            </a:r>
            <a:r>
              <a:rPr lang="en-PK" sz="2000" b="1" dirty="0">
                <a:latin typeface="Times New Roman" panose="02020603050405020304" pitchFamily="18" charset="0"/>
                <a:cs typeface="Times New Roman" panose="02020603050405020304" pitchFamily="18" charset="0"/>
              </a:rPr>
              <a:t>. Results</a:t>
            </a:r>
          </a:p>
          <a:p>
            <a:pPr>
              <a:spcAft>
                <a:spcPts val="1000"/>
              </a:spcAft>
              <a:buNone/>
              <a:defRPr sz="1500"/>
            </a:pPr>
            <a:r>
              <a:rPr lang="en-PK" sz="2000" b="1" dirty="0">
                <a:latin typeface="Times New Roman" panose="02020603050405020304" pitchFamily="18" charset="0"/>
                <a:cs typeface="Times New Roman" panose="02020603050405020304" pitchFamily="18" charset="0"/>
              </a:rPr>
              <a:t>8. Conclusion &amp; Future Work</a:t>
            </a:r>
          </a:p>
          <a:p>
            <a:endParaRPr lang="en-PK" sz="2000" dirty="0"/>
          </a:p>
          <a:p>
            <a:pPr marL="0" indent="0">
              <a:buNone/>
            </a:pPr>
            <a:endParaRPr lang="en-PK" sz="2000"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80633"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1. Introduction</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66928" y="960120"/>
            <a:ext cx="6620681" cy="338554"/>
          </a:xfrm>
          <a:prstGeom prst="rect">
            <a:avLst/>
          </a:prstGeom>
          <a:noFill/>
        </p:spPr>
        <p:txBody>
          <a:bodyPr wrap="square">
            <a:spAutoFit/>
          </a:bodyPr>
          <a:lstStyle/>
          <a:p>
            <a:pPr>
              <a:defRPr sz="1600"/>
            </a:pPr>
            <a:r>
              <a:rPr lang="en-US" dirty="0">
                <a:latin typeface="Times New Roman" panose="02020603050405020304" pitchFamily="18" charset="0"/>
                <a:cs typeface="Times New Roman" panose="02020603050405020304" pitchFamily="18" charset="0"/>
              </a:rPr>
              <a:t>What are system logs, why they are generated, and what they record</a:t>
            </a:r>
          </a:p>
        </p:txBody>
      </p:sp>
      <p:sp>
        <p:nvSpPr>
          <p:cNvPr id="4" name="TextBox 3"/>
          <p:cNvSpPr txBox="1"/>
          <p:nvPr/>
        </p:nvSpPr>
        <p:spPr>
          <a:xfrm>
            <a:off x="594360" y="1554480"/>
            <a:ext cx="5394960" cy="4493538"/>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What are System Logs?</a:t>
            </a:r>
          </a:p>
          <a:p>
            <a:pPr>
              <a:spcAft>
                <a:spcPts val="1000"/>
              </a:spcAft>
              <a:defRPr sz="1500"/>
            </a:pPr>
            <a:r>
              <a:rPr sz="1600" dirty="0">
                <a:latin typeface="Times New Roman" panose="02020603050405020304" pitchFamily="18" charset="0"/>
                <a:cs typeface="Times New Roman" panose="02020603050405020304" pitchFamily="18" charset="0"/>
              </a:rPr>
              <a:t>Records of events and activities occurring in an operating system, server, network device, or application.</a:t>
            </a:r>
          </a:p>
          <a:p>
            <a:pPr>
              <a:spcAft>
                <a:spcPts val="1000"/>
              </a:spcAft>
              <a:defRPr sz="1500"/>
            </a:pPr>
            <a:r>
              <a:rPr sz="1600" dirty="0">
                <a:latin typeface="Times New Roman" panose="02020603050405020304" pitchFamily="18" charset="0"/>
                <a:cs typeface="Times New Roman" panose="02020603050405020304" pitchFamily="18" charset="0"/>
              </a:rPr>
              <a:t>They act like a “diary” of the computer, recording important events such as logins, errors, service starts, and device connections.</a:t>
            </a:r>
          </a:p>
          <a:p>
            <a:pPr>
              <a:spcAft>
                <a:spcPts val="1000"/>
              </a:spcAft>
              <a:defRPr sz="1500"/>
            </a:pPr>
            <a:r>
              <a:rPr sz="1600" dirty="0">
                <a:latin typeface="Times New Roman" panose="02020603050405020304" pitchFamily="18" charset="0"/>
                <a:cs typeface="Times New Roman" panose="02020603050405020304" pitchFamily="18" charset="0"/>
              </a:rPr>
              <a:t>Typical information includes timestamps, usernames, IP addresses, processes, event types, and success/failure status.</a:t>
            </a:r>
          </a:p>
          <a:p>
            <a:pPr>
              <a:spcBef>
                <a:spcPts val="1000"/>
              </a:spcBef>
              <a:defRPr sz="2200" b="1"/>
            </a:pPr>
            <a:r>
              <a:rPr dirty="0">
                <a:latin typeface="Times New Roman" panose="02020603050405020304" pitchFamily="18" charset="0"/>
                <a:cs typeface="Times New Roman" panose="02020603050405020304" pitchFamily="18" charset="0"/>
              </a:rPr>
              <a:t>Why are they generated?</a:t>
            </a:r>
          </a:p>
          <a:p>
            <a:pPr>
              <a:spcAft>
                <a:spcPts val="500"/>
              </a:spcAft>
              <a:defRPr sz="1400"/>
            </a:pPr>
            <a:r>
              <a:rPr sz="1600" dirty="0">
                <a:latin typeface="Times New Roman" panose="02020603050405020304" pitchFamily="18" charset="0"/>
                <a:cs typeface="Times New Roman" panose="02020603050405020304" pitchFamily="18" charset="0"/>
              </a:rPr>
              <a:t>Troubleshooting — identify errors and failures.</a:t>
            </a:r>
          </a:p>
          <a:p>
            <a:pPr>
              <a:spcAft>
                <a:spcPts val="500"/>
              </a:spcAft>
              <a:defRPr sz="1400"/>
            </a:pPr>
            <a:r>
              <a:rPr sz="1600" dirty="0">
                <a:latin typeface="Times New Roman" panose="02020603050405020304" pitchFamily="18" charset="0"/>
                <a:cs typeface="Times New Roman" panose="02020603050405020304" pitchFamily="18" charset="0"/>
              </a:rPr>
              <a:t>Security — detect suspicious or unauthorized activity.</a:t>
            </a:r>
          </a:p>
          <a:p>
            <a:pPr>
              <a:spcAft>
                <a:spcPts val="500"/>
              </a:spcAft>
              <a:defRPr sz="1400"/>
            </a:pPr>
            <a:r>
              <a:rPr sz="1600" dirty="0">
                <a:latin typeface="Times New Roman" panose="02020603050405020304" pitchFamily="18" charset="0"/>
                <a:cs typeface="Times New Roman" panose="02020603050405020304" pitchFamily="18" charset="0"/>
              </a:rPr>
              <a:t>Monitoring — observe system and service health.</a:t>
            </a:r>
          </a:p>
          <a:p>
            <a:pPr>
              <a:spcAft>
                <a:spcPts val="500"/>
              </a:spcAft>
              <a:defRPr sz="1400"/>
            </a:pPr>
            <a:r>
              <a:rPr sz="1600" dirty="0">
                <a:latin typeface="Times New Roman" panose="02020603050405020304" pitchFamily="18" charset="0"/>
                <a:cs typeface="Times New Roman" panose="02020603050405020304" pitchFamily="18" charset="0"/>
              </a:rPr>
              <a:t>Auditing — track important changes and actions.</a:t>
            </a:r>
          </a:p>
          <a:p>
            <a:pPr>
              <a:spcAft>
                <a:spcPts val="500"/>
              </a:spcAft>
              <a:defRPr sz="1400"/>
            </a:pPr>
            <a:r>
              <a:rPr sz="1600" dirty="0">
                <a:latin typeface="Times New Roman" panose="02020603050405020304" pitchFamily="18" charset="0"/>
                <a:cs typeface="Times New Roman" panose="02020603050405020304" pitchFamily="18" charset="0"/>
              </a:rPr>
              <a:t>Investigation — reconstruct events after an incident.</a:t>
            </a:r>
          </a:p>
        </p:txBody>
      </p:sp>
      <p:sp>
        <p:nvSpPr>
          <p:cNvPr id="5" name="TextBox 4"/>
          <p:cNvSpPr txBox="1"/>
          <p:nvPr/>
        </p:nvSpPr>
        <p:spPr>
          <a:xfrm>
            <a:off x="6217920" y="1554480"/>
            <a:ext cx="5349240" cy="4934684"/>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Common Types</a:t>
            </a:r>
          </a:p>
          <a:p>
            <a:pPr>
              <a:spcAft>
                <a:spcPts val="600"/>
              </a:spcAft>
              <a:defRPr sz="1400"/>
            </a:pPr>
            <a:r>
              <a:rPr sz="1600" dirty="0">
                <a:latin typeface="Times New Roman" panose="02020603050405020304" pitchFamily="18" charset="0"/>
                <a:cs typeface="Times New Roman" panose="02020603050405020304" pitchFamily="18" charset="0"/>
              </a:rPr>
              <a:t>Authentication logs — successful/failed logins and password changes.</a:t>
            </a:r>
          </a:p>
          <a:p>
            <a:pPr>
              <a:spcAft>
                <a:spcPts val="600"/>
              </a:spcAft>
              <a:defRPr sz="1400"/>
            </a:pPr>
            <a:r>
              <a:rPr sz="1600" dirty="0">
                <a:latin typeface="Times New Roman" panose="02020603050405020304" pitchFamily="18" charset="0"/>
                <a:cs typeface="Times New Roman" panose="02020603050405020304" pitchFamily="18" charset="0"/>
              </a:rPr>
              <a:t>Application logs — application starts, errors, exceptions, and </a:t>
            </a:r>
            <a:r>
              <a:rPr sz="1600" dirty="0" err="1">
                <a:latin typeface="Times New Roman" panose="02020603050405020304" pitchFamily="18" charset="0"/>
                <a:cs typeface="Times New Roman" panose="02020603050405020304" pitchFamily="18" charset="0"/>
              </a:rPr>
              <a:t>transac</a:t>
            </a:r>
            <a:r>
              <a:rPr lang="en-US" sz="1600" dirty="0" err="1">
                <a:latin typeface="Times New Roman" panose="02020603050405020304" pitchFamily="18" charset="0"/>
                <a:cs typeface="Times New Roman" panose="02020603050405020304" pitchFamily="18" charset="0"/>
              </a:rPr>
              <a:t>a</a:t>
            </a:r>
            <a:r>
              <a:rPr sz="1600" dirty="0" err="1">
                <a:latin typeface="Times New Roman" panose="02020603050405020304" pitchFamily="18" charset="0"/>
                <a:cs typeface="Times New Roman" panose="02020603050405020304" pitchFamily="18" charset="0"/>
              </a:rPr>
              <a:t>tions</a:t>
            </a:r>
            <a:r>
              <a:rPr sz="1600" dirty="0">
                <a:latin typeface="Times New Roman" panose="02020603050405020304" pitchFamily="18" charset="0"/>
                <a:cs typeface="Times New Roman" panose="02020603050405020304" pitchFamily="18" charset="0"/>
              </a:rPr>
              <a:t>.</a:t>
            </a:r>
          </a:p>
          <a:p>
            <a:pPr>
              <a:spcAft>
                <a:spcPts val="600"/>
              </a:spcAft>
              <a:defRPr sz="1400"/>
            </a:pPr>
            <a:r>
              <a:rPr sz="1600" dirty="0">
                <a:latin typeface="Times New Roman" panose="02020603050405020304" pitchFamily="18" charset="0"/>
                <a:cs typeface="Times New Roman" panose="02020603050405020304" pitchFamily="18" charset="0"/>
              </a:rPr>
              <a:t>Operating-system logs — boot, shutdown, service, and hardware events.</a:t>
            </a:r>
          </a:p>
          <a:p>
            <a:pPr>
              <a:spcAft>
                <a:spcPts val="600"/>
              </a:spcAft>
              <a:defRPr sz="1400"/>
            </a:pPr>
            <a:r>
              <a:rPr sz="1600" dirty="0">
                <a:latin typeface="Times New Roman" panose="02020603050405020304" pitchFamily="18" charset="0"/>
                <a:cs typeface="Times New Roman" panose="02020603050405020304" pitchFamily="18" charset="0"/>
              </a:rPr>
              <a:t>Security logs — suspicious activity, permission changes, malware, and firewall events.</a:t>
            </a:r>
          </a:p>
          <a:p>
            <a:pPr>
              <a:spcAft>
                <a:spcPts val="600"/>
              </a:spcAft>
              <a:defRPr sz="1400"/>
            </a:pPr>
            <a:r>
              <a:rPr sz="1600" dirty="0">
                <a:latin typeface="Times New Roman" panose="02020603050405020304" pitchFamily="18" charset="0"/>
                <a:cs typeface="Times New Roman" panose="02020603050405020304" pitchFamily="18" charset="0"/>
              </a:rPr>
              <a:t>Network logs — connections, blocked traffic, DNS, VPN, and firewall activity.</a:t>
            </a:r>
          </a:p>
          <a:p>
            <a:pPr>
              <a:spcBef>
                <a:spcPts val="1000"/>
              </a:spcBef>
              <a:defRPr sz="2200" b="1"/>
            </a:pPr>
            <a:r>
              <a:rPr dirty="0">
                <a:latin typeface="Times New Roman" panose="02020603050405020304" pitchFamily="18" charset="0"/>
                <a:cs typeface="Times New Roman" panose="02020603050405020304" pitchFamily="18" charset="0"/>
              </a:rPr>
              <a:t>Example</a:t>
            </a:r>
          </a:p>
          <a:p>
            <a:pPr>
              <a:spcBef>
                <a:spcPts val="400"/>
              </a:spcBef>
              <a:defRPr sz="1200">
                <a:latin typeface="Consolas"/>
              </a:defRPr>
            </a:pPr>
            <a:r>
              <a:rPr sz="1600" dirty="0">
                <a:latin typeface="Times New Roman" panose="02020603050405020304" pitchFamily="18" charset="0"/>
                <a:cs typeface="Times New Roman" panose="02020603050405020304" pitchFamily="18" charset="0"/>
              </a:rPr>
              <a:t>20:15:42  SSH  Failed password  user=</a:t>
            </a:r>
            <a:r>
              <a:rPr sz="1600" dirty="0" err="1">
                <a:latin typeface="Times New Roman" panose="02020603050405020304" pitchFamily="18" charset="0"/>
                <a:cs typeface="Times New Roman" panose="02020603050405020304" pitchFamily="18" charset="0"/>
              </a:rPr>
              <a:t>asad</a:t>
            </a:r>
            <a:r>
              <a:rPr sz="1600" dirty="0">
                <a:latin typeface="Times New Roman" panose="02020603050405020304" pitchFamily="18" charset="0"/>
                <a:cs typeface="Times New Roman" panose="02020603050405020304" pitchFamily="18" charset="0"/>
              </a:rPr>
              <a:t>  source=192.168.1.50</a:t>
            </a:r>
          </a:p>
          <a:p>
            <a:pPr>
              <a:spcBef>
                <a:spcPts val="1200"/>
              </a:spcBef>
              <a:defRPr sz="1400" b="1"/>
            </a:pPr>
            <a:r>
              <a:rPr sz="1600" dirty="0">
                <a:latin typeface="Times New Roman" panose="02020603050405020304" pitchFamily="18" charset="0"/>
                <a:cs typeface="Times New Roman" panose="02020603050405020304" pitchFamily="18" charset="0"/>
              </a:rPr>
              <a:t>Key idea: Logs help people and security tools understand what happened, when it happened, and often why.</a:t>
            </a:r>
          </a:p>
        </p:txBody>
      </p:sp>
      <p:sp>
        <p:nvSpPr>
          <p:cNvPr id="7" name="Google Shape;93;p14">
            <a:extLst>
              <a:ext uri="{FF2B5EF4-FFF2-40B4-BE49-F238E27FC236}">
                <a16:creationId xmlns:a16="http://schemas.microsoft.com/office/drawing/2014/main" id="{604A4C37-B1D0-30F4-FFA4-0687A1DE32D5}"/>
              </a:ext>
            </a:extLst>
          </p:cNvPr>
          <p:cNvSpPr/>
          <p:nvPr/>
        </p:nvSpPr>
        <p:spPr>
          <a:xfrm>
            <a:off x="594360" y="136167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54408"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Log Anomalies</a:t>
            </a:r>
          </a:p>
        </p:txBody>
      </p:sp>
      <p:sp>
        <p:nvSpPr>
          <p:cNvPr id="3" name="TextBox 2"/>
          <p:cNvSpPr txBox="1"/>
          <p:nvPr/>
        </p:nvSpPr>
        <p:spPr>
          <a:xfrm>
            <a:off x="566928" y="896112"/>
            <a:ext cx="6450805" cy="338554"/>
          </a:xfrm>
          <a:prstGeom prst="rect">
            <a:avLst/>
          </a:prstGeom>
          <a:noFill/>
        </p:spPr>
        <p:txBody>
          <a:bodyPr wrap="none">
            <a:spAutoFit/>
          </a:bodyPr>
          <a:lstStyle/>
          <a:p>
            <a:pPr>
              <a:defRPr sz="1500" b="0">
                <a:solidFill>
                  <a:srgbClr val="475569"/>
                </a:solidFill>
                <a:latin typeface="Aptos"/>
              </a:defRPr>
            </a:pPr>
            <a:r>
              <a:rPr sz="1600" dirty="0">
                <a:latin typeface="Times New Roman" panose="02020603050405020304" pitchFamily="18" charset="0"/>
                <a:cs typeface="Times New Roman" panose="02020603050405020304" pitchFamily="18" charset="0"/>
              </a:rPr>
              <a:t>Unusual, unexpected, or abnormal events and patterns found in system logs.</a:t>
            </a:r>
          </a:p>
        </p:txBody>
      </p:sp>
      <p:sp>
        <p:nvSpPr>
          <p:cNvPr id="4" name="Rounded Rectangle 3"/>
          <p:cNvSpPr/>
          <p:nvPr/>
        </p:nvSpPr>
        <p:spPr>
          <a:xfrm>
            <a:off x="54864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Common Types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Frequency anomaly — too many or too few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Time anomaly — activity at an unusual time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Pattern anomaly — unexpected sequence of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Volume anomaly — unusually large log/data volume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User behavior anomaly — activity differs from normal</a:t>
            </a:r>
          </a:p>
        </p:txBody>
      </p:sp>
      <p:sp>
        <p:nvSpPr>
          <p:cNvPr id="6" name="Rounded Rectangle 5"/>
          <p:cNvSpPr/>
          <p:nvPr/>
        </p:nvSpPr>
        <p:spPr>
          <a:xfrm>
            <a:off x="621792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Other Important Types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IP/Location anomaly — unusual source or location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Error anomaly — sudden increase in errors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Security anomaly — activity suggesting an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Resource anomaly — unusual CPU, memory, or disk use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Configuration anomaly — unexpected system changes</a:t>
            </a:r>
          </a:p>
        </p:txBody>
      </p:sp>
      <p:sp>
        <p:nvSpPr>
          <p:cNvPr id="8" name="Rounded Rectangle 7"/>
          <p:cNvSpPr/>
          <p:nvPr/>
        </p:nvSpPr>
        <p:spPr>
          <a:xfrm>
            <a:off x="548640" y="3977639"/>
            <a:ext cx="1106424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4105655"/>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Example: Possible Brute-Force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03:12 Failed login  →  03:13 Failed </a:t>
            </a:r>
            <a:r>
              <a:rPr sz="1600" dirty="0">
                <a:latin typeface="Times New Roman" panose="02020603050405020304" pitchFamily="18" charset="0"/>
                <a:cs typeface="Times New Roman" panose="02020603050405020304" pitchFamily="18" charset="0"/>
              </a:rPr>
              <a:t>login</a:t>
            </a:r>
            <a:r>
              <a:rPr sz="1600" dirty="0">
                <a:solidFill>
                  <a:srgbClr val="334155"/>
                </a:solidFill>
                <a:latin typeface="Times New Roman" panose="02020603050405020304" pitchFamily="18" charset="0"/>
                <a:cs typeface="Times New Roman" panose="02020603050405020304" pitchFamily="18" charset="0"/>
              </a:rPr>
              <a:t>  →  03:14 Failed login  →  03:15 Successful login</a:t>
            </a:r>
          </a:p>
        </p:txBody>
      </p:sp>
      <p:sp>
        <p:nvSpPr>
          <p:cNvPr id="11" name="TextBox 10"/>
          <p:cNvSpPr txBox="1"/>
          <p:nvPr/>
        </p:nvSpPr>
        <p:spPr>
          <a:xfrm>
            <a:off x="1503513" y="5559552"/>
            <a:ext cx="9154494"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Log anomalies help detect system failures, unusual behavior, and potential cybersecurity threats.</a:t>
            </a:r>
          </a:p>
        </p:txBody>
      </p:sp>
      <p:sp>
        <p:nvSpPr>
          <p:cNvPr id="12" name="Google Shape;93;p14">
            <a:extLst>
              <a:ext uri="{FF2B5EF4-FFF2-40B4-BE49-F238E27FC236}">
                <a16:creationId xmlns:a16="http://schemas.microsoft.com/office/drawing/2014/main" id="{7431300B-24E1-3EE7-2B05-4BC37854B267}"/>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7310014"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Why is log anomaly detection important?</a:t>
            </a:r>
          </a:p>
        </p:txBody>
      </p:sp>
      <p:sp>
        <p:nvSpPr>
          <p:cNvPr id="3" name="TextBox 2"/>
          <p:cNvSpPr txBox="1"/>
          <p:nvPr/>
        </p:nvSpPr>
        <p:spPr>
          <a:xfrm>
            <a:off x="566928" y="896112"/>
            <a:ext cx="8023928" cy="338554"/>
          </a:xfrm>
          <a:prstGeom prst="rect">
            <a:avLst/>
          </a:prstGeom>
          <a:noFill/>
        </p:spPr>
        <p:txBody>
          <a:bodyPr wrap="none">
            <a:spAutoFit/>
          </a:bodyPr>
          <a:lstStyle/>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Detecting abnormal log activity helps organizations identify threats and system problems early.</a:t>
            </a:r>
          </a:p>
        </p:txBody>
      </p:sp>
      <p:sp>
        <p:nvSpPr>
          <p:cNvPr id="4" name="Rounded Rectangle 3"/>
          <p:cNvSpPr/>
          <p:nvPr/>
        </p:nvSpPr>
        <p:spPr>
          <a:xfrm>
            <a:off x="54864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Security &amp; Early Warning</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Detects brute-force attacks and unauthorized access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Identifies malware and suspicious user behavior</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Provides early warning before damage increases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Enables faster security response</a:t>
            </a:r>
          </a:p>
        </p:txBody>
      </p:sp>
      <p:sp>
        <p:nvSpPr>
          <p:cNvPr id="6" name="Rounded Rectangle 5"/>
          <p:cNvSpPr/>
          <p:nvPr/>
        </p:nvSpPr>
        <p:spPr>
          <a:xfrm>
            <a:off x="621792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Operations &amp; Investigation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Finds errors, crashes, and service failures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Reduces manual monitoring of large log volumes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Shows what happened, when, and what was affected</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Supports incident investigation and auditing</a:t>
            </a:r>
          </a:p>
        </p:txBody>
      </p:sp>
      <p:sp>
        <p:nvSpPr>
          <p:cNvPr id="8" name="Rounded Rectangle 7"/>
          <p:cNvSpPr/>
          <p:nvPr/>
        </p:nvSpPr>
        <p:spPr>
          <a:xfrm>
            <a:off x="548640" y="3794760"/>
            <a:ext cx="1106424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3922776"/>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Simple Example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Normal: 10 failed logins/day  →  Anomaly: 500 failed logins in 5 minutes  →  Alert &amp; investigation</a:t>
            </a:r>
          </a:p>
        </p:txBody>
      </p:sp>
      <p:sp>
        <p:nvSpPr>
          <p:cNvPr id="11" name="TextBox 10"/>
          <p:cNvSpPr txBox="1"/>
          <p:nvPr/>
        </p:nvSpPr>
        <p:spPr>
          <a:xfrm>
            <a:off x="1278643" y="5404104"/>
            <a:ext cx="9604232"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Early anomaly detection helps organizations respond faster, reduce risk, and prevent serious damage.</a:t>
            </a:r>
          </a:p>
        </p:txBody>
      </p:sp>
      <p:sp>
        <p:nvSpPr>
          <p:cNvPr id="12" name="Google Shape;93;p14">
            <a:extLst>
              <a:ext uri="{FF2B5EF4-FFF2-40B4-BE49-F238E27FC236}">
                <a16:creationId xmlns:a16="http://schemas.microsoft.com/office/drawing/2014/main" id="{2CE51474-E764-41A2-9619-2096285F9949}"/>
              </a:ext>
            </a:extLst>
          </p:cNvPr>
          <p:cNvSpPr/>
          <p:nvPr/>
        </p:nvSpPr>
        <p:spPr>
          <a:xfrm>
            <a:off x="497840" y="12731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637F57-6E5A-CAA4-DAD4-56B11923E843}"/>
              </a:ext>
            </a:extLst>
          </p:cNvPr>
          <p:cNvSpPr txBox="1"/>
          <p:nvPr/>
        </p:nvSpPr>
        <p:spPr>
          <a:xfrm>
            <a:off x="414670" y="1898555"/>
            <a:ext cx="11621386" cy="3970318"/>
          </a:xfrm>
          <a:prstGeom prst="rect">
            <a:avLst/>
          </a:prstGeom>
          <a:noFill/>
        </p:spPr>
        <p:txBody>
          <a:bodyPr wrap="square">
            <a:spAutoFit/>
          </a:bodyPr>
          <a:lstStyle/>
          <a:p>
            <a:pPr>
              <a:buNone/>
            </a:pPr>
            <a:r>
              <a:rPr lang="en-PK" b="1" dirty="0"/>
              <a:t>Apache Hadoop</a:t>
            </a:r>
            <a:endParaRPr lang="en-PK" dirty="0"/>
          </a:p>
          <a:p>
            <a:pPr marL="342900" lvl="0" indent="-342900">
              <a:buFont typeface="Arial" panose="020B0604020202020204" pitchFamily="34" charset="0"/>
              <a:buChar char="•"/>
            </a:pPr>
            <a:r>
              <a:rPr lang="en-PK" dirty="0"/>
              <a:t>A comprehensive, open-source software framework designed to store and process massive datasets across distributed clusters of standard computers. It acts as the foundational ecosystem that makes large-scale distributed computing reliable and scalable.</a:t>
            </a:r>
          </a:p>
          <a:p>
            <a:pPr>
              <a:buNone/>
            </a:pPr>
            <a:r>
              <a:rPr lang="en-PK" b="1" dirty="0"/>
              <a:t>HDFS (Hadoop Distributed File System)</a:t>
            </a:r>
            <a:endParaRPr lang="en-PK" dirty="0"/>
          </a:p>
          <a:p>
            <a:pPr marL="342900" lvl="0" indent="-342900">
              <a:buFont typeface="Arial" panose="020B0604020202020204" pitchFamily="34" charset="0"/>
              <a:buChar char="•"/>
            </a:pPr>
            <a:r>
              <a:rPr lang="en-PK" dirty="0"/>
              <a:t>The dedicated storage layer of the Hadoop ecosystem. It splits massive files into smaller blocks and distributes them across multiple physical server nodes. This redundancy ensures that if one hardware node fails, the data is not lost. In the context of system monitoring, HDFS logs continuously record these block allocations, replication pipelines, and node heartbeats.</a:t>
            </a:r>
          </a:p>
          <a:p>
            <a:pPr>
              <a:buNone/>
            </a:pPr>
            <a:r>
              <a:rPr lang="en-PK" b="1" dirty="0"/>
              <a:t>Apache Spark</a:t>
            </a:r>
            <a:endParaRPr lang="en-PK" dirty="0"/>
          </a:p>
          <a:p>
            <a:pPr marL="342900" lvl="0" indent="-342900">
              <a:buFont typeface="Arial" panose="020B0604020202020204" pitchFamily="34" charset="0"/>
              <a:buChar char="•"/>
            </a:pPr>
            <a:r>
              <a:rPr lang="en-PK" dirty="0"/>
              <a:t>A high-speed, in-memory data processing engine that frequently runs on top of HDFS. Unlike older processing models that constantly read and write to physical disks, Spark processes data in RAM (memory), making it significantly faster for training machine learning models, streaming analytics, and complex data pipelines. Its system logs track execution memory states, data transformation stages, and resource allocation.</a:t>
            </a:r>
          </a:p>
        </p:txBody>
      </p:sp>
      <p:sp>
        <p:nvSpPr>
          <p:cNvPr id="4" name="TextBox 3">
            <a:extLst>
              <a:ext uri="{FF2B5EF4-FFF2-40B4-BE49-F238E27FC236}">
                <a16:creationId xmlns:a16="http://schemas.microsoft.com/office/drawing/2014/main" id="{E2C50973-097B-E55E-B262-A23BD6B1E4FE}"/>
              </a:ext>
            </a:extLst>
          </p:cNvPr>
          <p:cNvSpPr txBox="1"/>
          <p:nvPr/>
        </p:nvSpPr>
        <p:spPr>
          <a:xfrm>
            <a:off x="414670" y="818706"/>
            <a:ext cx="7392473" cy="577081"/>
          </a:xfrm>
          <a:prstGeom prst="rect">
            <a:avLst/>
          </a:prstGeom>
          <a:noFill/>
        </p:spPr>
        <p:txBody>
          <a:bodyPr wrap="none" rtlCol="0">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What are Hadoop, HDFS and Sparks logs</a:t>
            </a:r>
            <a:endParaRPr lang="en-PK" sz="3150" b="1" dirty="0">
              <a:solidFill>
                <a:srgbClr val="0033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9880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D75A6E-61B1-D3CF-6C75-20B830813C5D}"/>
              </a:ext>
            </a:extLst>
          </p:cNvPr>
          <p:cNvGraphicFramePr>
            <a:graphicFrameLocks noGrp="1"/>
          </p:cNvGraphicFramePr>
          <p:nvPr>
            <p:extLst>
              <p:ext uri="{D42A27DB-BD31-4B8C-83A1-F6EECF244321}">
                <p14:modId xmlns:p14="http://schemas.microsoft.com/office/powerpoint/2010/main" val="1097653726"/>
              </p:ext>
            </p:extLst>
          </p:nvPr>
        </p:nvGraphicFramePr>
        <p:xfrm>
          <a:off x="363793" y="852035"/>
          <a:ext cx="11267765" cy="5832932"/>
        </p:xfrm>
        <a:graphic>
          <a:graphicData uri="http://schemas.openxmlformats.org/drawingml/2006/table">
            <a:tbl>
              <a:tblPr>
                <a:tableStyleId>{5940675A-B579-460E-94D1-54222C63F5DA}</a:tableStyleId>
              </a:tblPr>
              <a:tblGrid>
                <a:gridCol w="2253553">
                  <a:extLst>
                    <a:ext uri="{9D8B030D-6E8A-4147-A177-3AD203B41FA5}">
                      <a16:colId xmlns:a16="http://schemas.microsoft.com/office/drawing/2014/main" val="2683218430"/>
                    </a:ext>
                  </a:extLst>
                </a:gridCol>
                <a:gridCol w="2253553">
                  <a:extLst>
                    <a:ext uri="{9D8B030D-6E8A-4147-A177-3AD203B41FA5}">
                      <a16:colId xmlns:a16="http://schemas.microsoft.com/office/drawing/2014/main" val="2622344372"/>
                    </a:ext>
                  </a:extLst>
                </a:gridCol>
                <a:gridCol w="2253553">
                  <a:extLst>
                    <a:ext uri="{9D8B030D-6E8A-4147-A177-3AD203B41FA5}">
                      <a16:colId xmlns:a16="http://schemas.microsoft.com/office/drawing/2014/main" val="3871276800"/>
                    </a:ext>
                  </a:extLst>
                </a:gridCol>
                <a:gridCol w="2253553">
                  <a:extLst>
                    <a:ext uri="{9D8B030D-6E8A-4147-A177-3AD203B41FA5}">
                      <a16:colId xmlns:a16="http://schemas.microsoft.com/office/drawing/2014/main" val="3824576464"/>
                    </a:ext>
                  </a:extLst>
                </a:gridCol>
                <a:gridCol w="2253553">
                  <a:extLst>
                    <a:ext uri="{9D8B030D-6E8A-4147-A177-3AD203B41FA5}">
                      <a16:colId xmlns:a16="http://schemas.microsoft.com/office/drawing/2014/main" val="1770592670"/>
                    </a:ext>
                  </a:extLst>
                </a:gridCol>
              </a:tblGrid>
              <a:tr h="413658">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Paper Name &amp; Citation</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Dataset</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Anomaly</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Mode (Model/Method)</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Result (Performance)</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578665515"/>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Detecting Large-Scale System Problems...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(Xu et al., 2009)</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Darkstar</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PCA (Principal Component Analysis)</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~0.93</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84589991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Mining Invariants from Console Logs...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(Lou et al., 2010)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Hadoop, HDFS</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Invariant Mining (Unsupervised)</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Recall: ~0.90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01840122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Experience Report: System Log Analysis...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(He et al., 2016)</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 Clustering, PCA, IM</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0.88 - 0.95</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410228138"/>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Isolation Forest (Applied to Logs)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(Liu et al., 2008)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BGL</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iForest</a:t>
                      </a:r>
                      <a:r>
                        <a:rPr lang="en-PK" sz="1400" dirty="0">
                          <a:effectLst/>
                          <a:latin typeface="Times New Roman" panose="02020603050405020304" pitchFamily="18" charset="0"/>
                          <a:cs typeface="Times New Roman" panose="02020603050405020304" pitchFamily="18" charset="0"/>
                        </a:rPr>
                        <a:t> (Tree-based Ensemble)</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~0.73</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425506911"/>
                  </a:ext>
                </a:extLst>
              </a:tr>
              <a:tr h="674348">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DeepLog</a:t>
                      </a:r>
                      <a:r>
                        <a:rPr lang="en-PK" sz="1400" dirty="0">
                          <a:effectLst/>
                          <a:latin typeface="Times New Roman" panose="02020603050405020304" pitchFamily="18" charset="0"/>
                          <a:cs typeface="Times New Roman" panose="02020603050405020304" pitchFamily="18" charset="0"/>
                        </a:rPr>
                        <a:t>: Anomaly Detection...</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(Du et al., 2017)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OpenStack</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LSTM (Next-Key Prediction)</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0.96</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extLst>
                  <a:ext uri="{0D108BD9-81ED-4DB2-BD59-A6C34878D82A}">
                    <a16:rowId xmlns:a16="http://schemas.microsoft.com/office/drawing/2014/main" val="2419556522"/>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LogAnomaly: Unsupervised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(Meng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LSTM + Template2Vec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442865498"/>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Robust Log-based Anomaly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(Zhang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Bi-LSTM +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982218636"/>
                  </a:ext>
                </a:extLst>
              </a:tr>
            </a:tbl>
          </a:graphicData>
        </a:graphic>
      </p:graphicFrame>
      <p:sp>
        <p:nvSpPr>
          <p:cNvPr id="6" name="TextBox 5">
            <a:extLst>
              <a:ext uri="{FF2B5EF4-FFF2-40B4-BE49-F238E27FC236}">
                <a16:creationId xmlns:a16="http://schemas.microsoft.com/office/drawing/2014/main" id="{7D158489-8C94-B522-AAB9-BB12346B5D64}"/>
              </a:ext>
            </a:extLst>
          </p:cNvPr>
          <p:cNvSpPr txBox="1"/>
          <p:nvPr/>
        </p:nvSpPr>
        <p:spPr>
          <a:xfrm>
            <a:off x="363793" y="274954"/>
            <a:ext cx="10815483" cy="577081"/>
          </a:xfrm>
          <a:prstGeom prst="rect">
            <a:avLst/>
          </a:prstGeom>
          <a:noFill/>
        </p:spPr>
        <p:txBody>
          <a:bodyPr wrap="square">
            <a:spAutoFit/>
          </a:bodyPr>
          <a:lstStyle/>
          <a:p>
            <a:pPr marR="0" indent="0">
              <a:spcAft>
                <a:spcPts val="2250"/>
              </a:spcAft>
              <a:buNone/>
              <a:defRPr sz="3000" b="1"/>
            </a:pPr>
            <a:r>
              <a:rPr lang="en-US" sz="3150" b="1" dirty="0">
                <a:solidFill>
                  <a:srgbClr val="003366"/>
                </a:solidFill>
                <a:latin typeface="Times New Roman" panose="02020603050405020304" pitchFamily="18" charset="0"/>
                <a:cs typeface="Times New Roman" panose="02020603050405020304" pitchFamily="18" charset="0"/>
              </a:rPr>
              <a:t>2. </a:t>
            </a:r>
            <a:r>
              <a:rPr lang="en-PK" sz="3150" b="1" dirty="0">
                <a:solidFill>
                  <a:srgbClr val="003366"/>
                </a:solidFill>
                <a:latin typeface="Times New Roman" panose="02020603050405020304" pitchFamily="18" charset="0"/>
                <a:cs typeface="Times New Roman" panose="02020603050405020304" pitchFamily="18" charset="0"/>
              </a:rPr>
              <a:t>Literature Review (Traditional ML &amp; Deep Learning)</a:t>
            </a:r>
          </a:p>
        </p:txBody>
      </p:sp>
    </p:spTree>
    <p:extLst>
      <p:ext uri="{BB962C8B-B14F-4D97-AF65-F5344CB8AC3E}">
        <p14:creationId xmlns:p14="http://schemas.microsoft.com/office/powerpoint/2010/main" val="3269163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4149055-E978-370F-FBC7-1AA0C5FDB2AD}"/>
              </a:ext>
            </a:extLst>
          </p:cNvPr>
          <p:cNvGraphicFramePr>
            <a:graphicFrameLocks noGrp="1"/>
          </p:cNvGraphicFramePr>
          <p:nvPr>
            <p:extLst>
              <p:ext uri="{D42A27DB-BD31-4B8C-83A1-F6EECF244321}">
                <p14:modId xmlns:p14="http://schemas.microsoft.com/office/powerpoint/2010/main" val="4052806496"/>
              </p:ext>
            </p:extLst>
          </p:nvPr>
        </p:nvGraphicFramePr>
        <p:xfrm>
          <a:off x="157315" y="1124172"/>
          <a:ext cx="11474245" cy="5353851"/>
        </p:xfrm>
        <a:graphic>
          <a:graphicData uri="http://schemas.openxmlformats.org/drawingml/2006/table">
            <a:tbl>
              <a:tblPr>
                <a:tableStyleId>{616DA210-FB5B-4158-B5E0-FEB733F419BA}</a:tableStyleId>
              </a:tblPr>
              <a:tblGrid>
                <a:gridCol w="2294849">
                  <a:extLst>
                    <a:ext uri="{9D8B030D-6E8A-4147-A177-3AD203B41FA5}">
                      <a16:colId xmlns:a16="http://schemas.microsoft.com/office/drawing/2014/main" val="102976979"/>
                    </a:ext>
                  </a:extLst>
                </a:gridCol>
                <a:gridCol w="2294849">
                  <a:extLst>
                    <a:ext uri="{9D8B030D-6E8A-4147-A177-3AD203B41FA5}">
                      <a16:colId xmlns:a16="http://schemas.microsoft.com/office/drawing/2014/main" val="905101821"/>
                    </a:ext>
                  </a:extLst>
                </a:gridCol>
                <a:gridCol w="2294849">
                  <a:extLst>
                    <a:ext uri="{9D8B030D-6E8A-4147-A177-3AD203B41FA5}">
                      <a16:colId xmlns:a16="http://schemas.microsoft.com/office/drawing/2014/main" val="1022585069"/>
                    </a:ext>
                  </a:extLst>
                </a:gridCol>
                <a:gridCol w="2294849">
                  <a:extLst>
                    <a:ext uri="{9D8B030D-6E8A-4147-A177-3AD203B41FA5}">
                      <a16:colId xmlns:a16="http://schemas.microsoft.com/office/drawing/2014/main" val="210956973"/>
                    </a:ext>
                  </a:extLst>
                </a:gridCol>
                <a:gridCol w="2294849">
                  <a:extLst>
                    <a:ext uri="{9D8B030D-6E8A-4147-A177-3AD203B41FA5}">
                      <a16:colId xmlns:a16="http://schemas.microsoft.com/office/drawing/2014/main" val="284940448"/>
                    </a:ext>
                  </a:extLst>
                </a:gridCol>
              </a:tblGrid>
              <a:tr h="628067">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Paper Name &amp; Citation</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Dataset</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Anomaly</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Mode (Model/Method)</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Result (Performance)</a:t>
                      </a:r>
                    </a:p>
                  </a:txBody>
                  <a:tcPr marL="99036" marR="99036" marT="79229" marB="79229" anchor="ctr"/>
                </a:tc>
                <a:extLst>
                  <a:ext uri="{0D108BD9-81ED-4DB2-BD59-A6C34878D82A}">
                    <a16:rowId xmlns:a16="http://schemas.microsoft.com/office/drawing/2014/main" val="1431025336"/>
                  </a:ext>
                </a:extLst>
              </a:tr>
              <a:tr h="976994">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LogBERT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Log Anomaly Detection via BERT</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(Guo et al., 2021)</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BERT (Masked Language Model)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0.993</a:t>
                      </a:r>
                    </a:p>
                  </a:txBody>
                  <a:tcPr marL="99036" marR="99036" marT="79229" marB="79229" anchor="ctr"/>
                </a:tc>
                <a:extLst>
                  <a:ext uri="{0D108BD9-81ED-4DB2-BD59-A6C34878D82A}">
                    <a16:rowId xmlns:a16="http://schemas.microsoft.com/office/drawing/2014/main" val="4247259047"/>
                  </a:ext>
                </a:extLst>
              </a:tr>
              <a:tr h="1174720">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LogGAN</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A Generative Adversarial Network...</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(Xia et al., 2020)</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LSTM-GAN (Generator-Discriminator)</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~0.95</a:t>
                      </a:r>
                    </a:p>
                  </a:txBody>
                  <a:tcPr marL="99036" marR="99036" marT="79229" marB="79229" anchor="ctr"/>
                </a:tc>
                <a:extLst>
                  <a:ext uri="{0D108BD9-81ED-4DB2-BD59-A6C34878D82A}">
                    <a16:rowId xmlns:a16="http://schemas.microsoft.com/office/drawing/2014/main" val="1028099004"/>
                  </a:ext>
                </a:extLst>
              </a:tr>
              <a:tr h="779269">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LogPrompt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Prompt Engineering...</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(Liu et al., 2023)</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LLM Prompting (ChatGPT/GPT-4)</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~0.98+</a:t>
                      </a:r>
                    </a:p>
                  </a:txBody>
                  <a:tcPr marL="99036" marR="99036" marT="79229" marB="79229" anchor="ctr"/>
                </a:tc>
                <a:extLst>
                  <a:ext uri="{0D108BD9-81ED-4DB2-BD59-A6C34878D82A}">
                    <a16:rowId xmlns:a16="http://schemas.microsoft.com/office/drawing/2014/main" val="3853393778"/>
                  </a:ext>
                </a:extLst>
              </a:tr>
              <a:tr h="779269">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LSTM-Based VAE-GAN for Time-Series...</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(Xu et al., 2020)</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(Time Series)</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VAE-GAN (Variational Autoencoder)</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~0.94</a:t>
                      </a:r>
                    </a:p>
                  </a:txBody>
                  <a:tcPr marL="99036" marR="99036" marT="79229" marB="79229" anchor="ctr">
                    <a:solidFill>
                      <a:srgbClr val="FFFF00"/>
                    </a:solidFill>
                  </a:tcPr>
                </a:tc>
                <a:extLst>
                  <a:ext uri="{0D108BD9-81ED-4DB2-BD59-A6C34878D82A}">
                    <a16:rowId xmlns:a16="http://schemas.microsoft.com/office/drawing/2014/main" val="208442387"/>
                  </a:ext>
                </a:extLst>
              </a:tr>
              <a:tr h="976994">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Mask-Guided Anomaly Detection (FastLogAD)</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(Lin et al., 2024)</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Thunderbird</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Masked Generator (GenAI-based)</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a:t>
                      </a:r>
                    </a:p>
                  </a:txBody>
                  <a:tcPr marL="99036" marR="99036" marT="79229" marB="79229" anchor="ctr"/>
                </a:tc>
                <a:extLst>
                  <a:ext uri="{0D108BD9-81ED-4DB2-BD59-A6C34878D82A}">
                    <a16:rowId xmlns:a16="http://schemas.microsoft.com/office/drawing/2014/main" val="306664066"/>
                  </a:ext>
                </a:extLst>
              </a:tr>
            </a:tbl>
          </a:graphicData>
        </a:graphic>
      </p:graphicFrame>
      <p:sp>
        <p:nvSpPr>
          <p:cNvPr id="6" name="TextBox 5">
            <a:extLst>
              <a:ext uri="{FF2B5EF4-FFF2-40B4-BE49-F238E27FC236}">
                <a16:creationId xmlns:a16="http://schemas.microsoft.com/office/drawing/2014/main" id="{03040608-B910-03EF-3663-7D2651AA62AF}"/>
              </a:ext>
            </a:extLst>
          </p:cNvPr>
          <p:cNvSpPr txBox="1"/>
          <p:nvPr/>
        </p:nvSpPr>
        <p:spPr>
          <a:xfrm>
            <a:off x="353961" y="418514"/>
            <a:ext cx="6096000" cy="577081"/>
          </a:xfrm>
          <a:prstGeom prst="rect">
            <a:avLst/>
          </a:prstGeom>
        </p:spPr>
        <p:txBody>
          <a:bodyPr wrap="square">
            <a:spAutoFit/>
          </a:bodyPr>
          <a:lstStyle/>
          <a:p>
            <a:pPr marR="0" indent="0">
              <a:spcAft>
                <a:spcPts val="2250"/>
              </a:spcAft>
              <a:buNone/>
              <a:defRPr sz="3000" b="1"/>
            </a:pPr>
            <a:r>
              <a:rPr lang="en-PK" sz="3150" b="1" dirty="0">
                <a:solidFill>
                  <a:srgbClr val="003366"/>
                </a:solidFill>
                <a:latin typeface="Times New Roman" panose="02020603050405020304" pitchFamily="18" charset="0"/>
                <a:cs typeface="Times New Roman" panose="02020603050405020304" pitchFamily="18" charset="0"/>
              </a:rPr>
              <a:t>Literature Review (Generative AI)</a:t>
            </a:r>
          </a:p>
        </p:txBody>
      </p:sp>
    </p:spTree>
    <p:extLst>
      <p:ext uri="{BB962C8B-B14F-4D97-AF65-F5344CB8AC3E}">
        <p14:creationId xmlns:p14="http://schemas.microsoft.com/office/powerpoint/2010/main" val="1623388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9430-9037-896D-08DA-242B5C9EB7DB}"/>
              </a:ext>
            </a:extLst>
          </p:cNvPr>
          <p:cNvSpPr>
            <a:spLocks noGrp="1"/>
          </p:cNvSpPr>
          <p:nvPr>
            <p:ph type="title"/>
          </p:nvPr>
        </p:nvSpPr>
        <p:spPr/>
        <p:txBody>
          <a:bodyPr>
            <a:normAutofit/>
          </a:bodyPr>
          <a:lstStyle/>
          <a:p>
            <a:pPr>
              <a:defRPr sz="3000" b="1"/>
            </a:pPr>
            <a:r>
              <a:rPr lang="en-US" sz="3150" b="1" dirty="0">
                <a:solidFill>
                  <a:srgbClr val="003366"/>
                </a:solidFill>
                <a:latin typeface="Times New Roman" panose="02020603050405020304" pitchFamily="18" charset="0"/>
                <a:ea typeface="+mn-ea"/>
                <a:cs typeface="Times New Roman" panose="02020603050405020304" pitchFamily="18" charset="0"/>
              </a:rPr>
              <a:t>3. </a:t>
            </a:r>
            <a:r>
              <a:rPr lang="en-PK" sz="3150" b="1" cap="none" dirty="0">
                <a:solidFill>
                  <a:srgbClr val="003366"/>
                </a:solidFill>
                <a:latin typeface="Times New Roman" panose="02020603050405020304" pitchFamily="18" charset="0"/>
                <a:ea typeface="+mn-ea"/>
                <a:cs typeface="Times New Roman" panose="02020603050405020304" pitchFamily="18" charset="0"/>
              </a:rPr>
              <a:t>Problem Statement &amp; Research Gap</a:t>
            </a:r>
            <a:endParaRPr lang="en-PK" sz="3150" b="1"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0AA3DCFC-5313-E39B-B0AE-DBDC7D30C4DF}"/>
              </a:ext>
            </a:extLst>
          </p:cNvPr>
          <p:cNvSpPr>
            <a:spLocks noGrp="1"/>
          </p:cNvSpPr>
          <p:nvPr>
            <p:ph idx="1"/>
          </p:nvPr>
        </p:nvSpPr>
        <p:spPr>
          <a:xfrm>
            <a:off x="457200" y="1417638"/>
            <a:ext cx="11277600" cy="4708525"/>
          </a:xfrm>
        </p:spPr>
        <p:txBody>
          <a:bodyPr>
            <a:normAutofit/>
          </a:bodyPr>
          <a:lstStyle/>
          <a:p>
            <a:pPr marL="0" indent="0">
              <a:spcAft>
                <a:spcPts val="1125"/>
              </a:spcAft>
              <a:buNone/>
            </a:pPr>
            <a:r>
              <a:rPr lang="en-PK" sz="2000" b="1" dirty="0">
                <a:latin typeface="Times New Roman" panose="02020603050405020304" pitchFamily="18" charset="0"/>
                <a:cs typeface="Times New Roman" panose="02020603050405020304" pitchFamily="18" charset="0"/>
              </a:rPr>
              <a:t>The Functional Dichotomy</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Brittleness of Supervised ML:</a:t>
            </a:r>
            <a:r>
              <a:rPr lang="en-PK" sz="1800" dirty="0">
                <a:latin typeface="Times New Roman" panose="02020603050405020304" pitchFamily="18" charset="0"/>
                <a:cs typeface="Times New Roman" panose="02020603050405020304" pitchFamily="18" charset="0"/>
              </a:rPr>
              <a:t> Traditional models (SVM, </a:t>
            </a:r>
            <a:r>
              <a:rPr lang="en-PK" sz="1800" dirty="0" err="1">
                <a:latin typeface="Times New Roman" panose="02020603050405020304" pitchFamily="18" charset="0"/>
                <a:cs typeface="Times New Roman" panose="02020603050405020304" pitchFamily="18" charset="0"/>
              </a:rPr>
              <a:t>XGBoost</a:t>
            </a:r>
            <a:r>
              <a:rPr lang="en-PK" sz="1800" dirty="0">
                <a:latin typeface="Times New Roman" panose="02020603050405020304" pitchFamily="18" charset="0"/>
                <a:cs typeface="Times New Roman" panose="02020603050405020304" pitchFamily="18" charset="0"/>
              </a:rPr>
              <a:t>) achieve F1 &gt; 0.99 but require rigid manual feature extraction. They fail entirely when log syntax or system architectures change.</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Inefficacy of Unsupervised Baselines:</a:t>
            </a:r>
            <a:r>
              <a:rPr lang="en-PK" sz="1800" dirty="0">
                <a:latin typeface="Times New Roman" panose="02020603050405020304" pitchFamily="18" charset="0"/>
                <a:cs typeface="Times New Roman" panose="02020603050405020304" pitchFamily="18" charset="0"/>
              </a:rPr>
              <a:t> Traditional unsupervised methods (e.g., Isolation Forest) struggle with sequential dependencies, yielding poor detection rates on unknown errors.</a:t>
            </a:r>
          </a:p>
          <a:p>
            <a:pPr marL="0" indent="0">
              <a:spcAft>
                <a:spcPts val="1125"/>
              </a:spcAft>
              <a:buNone/>
            </a:pPr>
            <a:r>
              <a:rPr lang="en-PK" sz="2000" b="1" dirty="0">
                <a:latin typeface="Times New Roman" panose="02020603050405020304" pitchFamily="18" charset="0"/>
                <a:cs typeface="Times New Roman" panose="02020603050405020304" pitchFamily="18" charset="0"/>
              </a:rPr>
              <a:t>The Critical Research Gap</a:t>
            </a:r>
          </a:p>
          <a:p>
            <a:pPr marL="0" indent="0">
              <a:spcAft>
                <a:spcPts val="1500"/>
              </a:spcAft>
              <a:buNone/>
            </a:pPr>
            <a:r>
              <a:rPr lang="en-PK" sz="1800" dirty="0">
                <a:latin typeface="Times New Roman" panose="02020603050405020304" pitchFamily="18" charset="0"/>
                <a:cs typeface="Times New Roman" panose="02020603050405020304" pitchFamily="18" charset="0"/>
              </a:rPr>
              <a:t>Most existing literature benchmarks models on a single dataset (usually HDFS) in isolation. There is no proven, unified framework combining supervised accuracy with generalized, unsupervised flexibility across diverse architectures.</a:t>
            </a:r>
          </a:p>
          <a:p>
            <a:endParaRPr lang="en-PK"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5659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D2B1-869F-44D6-DB07-EF494B860A3D}"/>
              </a:ext>
            </a:extLst>
          </p:cNvPr>
          <p:cNvSpPr>
            <a:spLocks noGrp="1"/>
          </p:cNvSpPr>
          <p:nvPr>
            <p:ph type="title"/>
          </p:nvPr>
        </p:nvSpPr>
        <p:spPr>
          <a:xfrm>
            <a:off x="457199" y="274638"/>
            <a:ext cx="10849897" cy="1143000"/>
          </a:xfrm>
        </p:spPr>
        <p:txBody>
          <a:bodyPr>
            <a:normAutofit/>
          </a:bodyPr>
          <a:lstStyle/>
          <a:p>
            <a:pPr>
              <a:defRPr sz="2700" b="1">
                <a:solidFill>
                  <a:srgbClr val="0F172A"/>
                </a:solidFill>
                <a:latin typeface="Aptos"/>
              </a:defRPr>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4. Research Questions &amp; Objectives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4BDB97CB-9A2A-9BF0-5D75-0ADC73CAF157}"/>
              </a:ext>
            </a:extLst>
          </p:cNvPr>
          <p:cNvSpPr>
            <a:spLocks noGrp="1"/>
          </p:cNvSpPr>
          <p:nvPr>
            <p:ph sz="half" idx="1"/>
          </p:nvPr>
        </p:nvSpPr>
        <p:spPr>
          <a:xfrm>
            <a:off x="457200" y="1600200"/>
            <a:ext cx="5029200"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Questions (RQs)</a:t>
            </a:r>
            <a:endPar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endParaRPr>
          </a:p>
          <a:p>
            <a:pPr lvl="0"/>
            <a:r>
              <a:rPr lang="en-US" sz="1800" dirty="0">
                <a:latin typeface="Times New Roman" panose="02020603050405020304" pitchFamily="18" charset="0"/>
                <a:cs typeface="Times New Roman" panose="02020603050405020304" pitchFamily="18" charset="0"/>
              </a:rPr>
              <a:t>How</a:t>
            </a:r>
            <a:r>
              <a:rPr lang="en-PK" sz="1800" dirty="0">
                <a:latin typeface="Times New Roman" panose="02020603050405020304" pitchFamily="18" charset="0"/>
                <a:cs typeface="Times New Roman" panose="02020603050405020304" pitchFamily="18" charset="0"/>
              </a:rPr>
              <a:t> Gen AI generalize better than Traditional ML across systems?</a:t>
            </a:r>
          </a:p>
          <a:p>
            <a:pPr lvl="0"/>
            <a:r>
              <a:rPr lang="en-US" sz="1800" dirty="0">
                <a:latin typeface="Times New Roman" panose="02020603050405020304" pitchFamily="18" charset="0"/>
                <a:cs typeface="Times New Roman" panose="02020603050405020304" pitchFamily="18" charset="0"/>
              </a:rPr>
              <a:t>Could</a:t>
            </a:r>
            <a:r>
              <a:rPr lang="en-PK" sz="1800" dirty="0">
                <a:latin typeface="Times New Roman" panose="02020603050405020304" pitchFamily="18" charset="0"/>
                <a:cs typeface="Times New Roman" panose="02020603050405020304" pitchFamily="18" charset="0"/>
              </a:rPr>
              <a:t> Gen AI outperform traditional unsupervised methods for unknown anomalies? </a:t>
            </a:r>
          </a:p>
          <a:p>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D96484C-0BC4-53A1-9088-67B725AE497B}"/>
              </a:ext>
            </a:extLst>
          </p:cNvPr>
          <p:cNvSpPr>
            <a:spLocks noGrp="1"/>
          </p:cNvSpPr>
          <p:nvPr>
            <p:ph sz="half" idx="2"/>
          </p:nvPr>
        </p:nvSpPr>
        <p:spPr>
          <a:xfrm>
            <a:off x="5611761" y="1600199"/>
            <a:ext cx="5970639" cy="4525963"/>
          </a:xfrm>
        </p:spPr>
        <p:txBody>
          <a:bodyPr>
            <a:normAutofit/>
          </a:bodyPr>
          <a:lstStyle/>
          <a:p>
            <a:r>
              <a:rPr lang="en-US" sz="20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Objectives</a:t>
            </a:r>
            <a:endParaRPr lang="en-US" sz="20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Benchmark Traditional ML:</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Evaluate limits of </a:t>
            </a:r>
            <a:r>
              <a:rPr lang="en-US" sz="1800"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/SVM and Isolation Forest on HDFS.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Evaluate Deep Learning:</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Implement discriminative models (LSTM, GRU) on temporal sequences.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Validate Generative AI:</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Develop normal-only models (LSTM-AE, VAE) to detect zero-day errors.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Tri-Fold Comparative Study:</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Produce a cross-platform matrix across HDFS, Spark, and Hadoop.</a:t>
            </a:r>
            <a:endParaRPr lang="en-US" sz="1800" dirty="0">
              <a:latin typeface="Times New Roman" panose="02020603050405020304" pitchFamily="18" charset="0"/>
              <a:cs typeface="Times New Roman" panose="02020603050405020304" pitchFamily="18" charset="0"/>
            </a:endParaRPr>
          </a:p>
          <a:p>
            <a:endParaRPr lang="en-PK"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9871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6E15-AFEA-8A94-2AE1-BF63F903DF3F}"/>
              </a:ext>
            </a:extLst>
          </p:cNvPr>
          <p:cNvSpPr>
            <a:spLocks noGrp="1"/>
          </p:cNvSpPr>
          <p:nvPr>
            <p:ph type="title"/>
          </p:nvPr>
        </p:nvSpPr>
        <p:spPr>
          <a:xfrm>
            <a:off x="457200" y="274638"/>
            <a:ext cx="10731910" cy="1143000"/>
          </a:xfrm>
        </p:spPr>
        <p:txBody>
          <a:bodyPr>
            <a:normAutofit/>
          </a:bodyPr>
          <a:lstStyle/>
          <a:p>
            <a:pPr>
              <a:defRPr sz="3000" b="1"/>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5. Methodology (5-Phase Framework)</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8B904BE5-DC8C-22FD-2819-0429BF539EE6}"/>
              </a:ext>
            </a:extLst>
          </p:cNvPr>
          <p:cNvSpPr>
            <a:spLocks noGrp="1"/>
          </p:cNvSpPr>
          <p:nvPr>
            <p:ph idx="1"/>
          </p:nvPr>
        </p:nvSpPr>
        <p:spPr>
          <a:xfrm>
            <a:off x="457200" y="1600200"/>
            <a:ext cx="10368116" cy="4525963"/>
          </a:xfrm>
        </p:spPr>
        <p:txBody>
          <a:bodyPr>
            <a:normAutofit/>
          </a:bodyPr>
          <a:lstStyle/>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Multi-Source Dataset Collection: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Aggregating logs from HDFS (block data), Spark (task execution), and Hadoop setups.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Log Preprocessing &amp; Parsing:</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 Utilizing Drain Parser for template extraction, event ID mapping, and timestamp normalization.</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Model Training: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Executing 3 distinct pipelines: Traditional ML, Deep Learning, and Generative Al.</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Cross-Platform Testing: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Applying an 80/20 train-test split; evaluating models independently on unseen architectures.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Analysis: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Evaluating quantitative metrics alongside functional automation and zero-day capabilities.</a:t>
            </a:r>
            <a:endParaRPr lang="en-P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0690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E68196-AEEC-ACC3-42B8-98A49971F5CB}"/>
              </a:ext>
            </a:extLst>
          </p:cNvPr>
          <p:cNvPicPr>
            <a:picLocks noChangeAspect="1"/>
          </p:cNvPicPr>
          <p:nvPr/>
        </p:nvPicPr>
        <p:blipFill>
          <a:blip r:embed="rId2"/>
          <a:stretch>
            <a:fillRect/>
          </a:stretch>
        </p:blipFill>
        <p:spPr>
          <a:xfrm>
            <a:off x="2310476" y="2241697"/>
            <a:ext cx="7400925" cy="3352800"/>
          </a:xfrm>
          <a:prstGeom prst="rect">
            <a:avLst/>
          </a:prstGeom>
        </p:spPr>
      </p:pic>
      <p:sp>
        <p:nvSpPr>
          <p:cNvPr id="3" name="TextBox 2">
            <a:extLst>
              <a:ext uri="{FF2B5EF4-FFF2-40B4-BE49-F238E27FC236}">
                <a16:creationId xmlns:a16="http://schemas.microsoft.com/office/drawing/2014/main" id="{8E70C6E6-22C8-88CB-6294-692241F7C588}"/>
              </a:ext>
            </a:extLst>
          </p:cNvPr>
          <p:cNvSpPr txBox="1"/>
          <p:nvPr/>
        </p:nvSpPr>
        <p:spPr>
          <a:xfrm>
            <a:off x="1145658" y="99946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54002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806ED-3A7B-C07F-3472-D67B273B71DC}"/>
              </a:ext>
            </a:extLst>
          </p:cNvPr>
          <p:cNvPicPr>
            <a:picLocks noChangeAspect="1"/>
          </p:cNvPicPr>
          <p:nvPr/>
        </p:nvPicPr>
        <p:blipFill>
          <a:blip r:embed="rId2"/>
          <a:stretch>
            <a:fillRect/>
          </a:stretch>
        </p:blipFill>
        <p:spPr>
          <a:xfrm>
            <a:off x="2647507" y="1405006"/>
            <a:ext cx="7539001" cy="5111859"/>
          </a:xfrm>
          <a:prstGeom prst="rect">
            <a:avLst/>
          </a:prstGeom>
        </p:spPr>
      </p:pic>
      <p:sp>
        <p:nvSpPr>
          <p:cNvPr id="4" name="TextBox 3">
            <a:extLst>
              <a:ext uri="{FF2B5EF4-FFF2-40B4-BE49-F238E27FC236}">
                <a16:creationId xmlns:a16="http://schemas.microsoft.com/office/drawing/2014/main" id="{59CE4637-AE36-9A95-FC58-7B2ACC080A0F}"/>
              </a:ext>
            </a:extLst>
          </p:cNvPr>
          <p:cNvSpPr txBox="1"/>
          <p:nvPr/>
        </p:nvSpPr>
        <p:spPr>
          <a:xfrm>
            <a:off x="996802" y="58479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647572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DF12D9-48FE-801F-CEC0-498F5498031F}"/>
              </a:ext>
            </a:extLst>
          </p:cNvPr>
          <p:cNvPicPr>
            <a:picLocks noChangeAspect="1"/>
          </p:cNvPicPr>
          <p:nvPr/>
        </p:nvPicPr>
        <p:blipFill>
          <a:blip r:embed="rId2"/>
          <a:stretch>
            <a:fillRect/>
          </a:stretch>
        </p:blipFill>
        <p:spPr>
          <a:xfrm>
            <a:off x="2824997" y="1288002"/>
            <a:ext cx="7818194" cy="5188062"/>
          </a:xfrm>
          <a:prstGeom prst="rect">
            <a:avLst/>
          </a:prstGeom>
        </p:spPr>
      </p:pic>
      <p:sp>
        <p:nvSpPr>
          <p:cNvPr id="4" name="TextBox 3">
            <a:extLst>
              <a:ext uri="{FF2B5EF4-FFF2-40B4-BE49-F238E27FC236}">
                <a16:creationId xmlns:a16="http://schemas.microsoft.com/office/drawing/2014/main" id="{107CDB5A-FF61-3C5C-EBDE-AA0A7750D650}"/>
              </a:ext>
            </a:extLst>
          </p:cNvPr>
          <p:cNvSpPr txBox="1"/>
          <p:nvPr/>
        </p:nvSpPr>
        <p:spPr>
          <a:xfrm>
            <a:off x="934034" y="381936"/>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24343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60574-FA3B-28D6-9A8D-788F82A57B34}"/>
              </a:ext>
            </a:extLst>
          </p:cNvPr>
          <p:cNvPicPr>
            <a:picLocks noChangeAspect="1"/>
          </p:cNvPicPr>
          <p:nvPr/>
        </p:nvPicPr>
        <p:blipFill>
          <a:blip r:embed="rId2"/>
          <a:stretch>
            <a:fillRect/>
          </a:stretch>
        </p:blipFill>
        <p:spPr>
          <a:xfrm>
            <a:off x="1955558" y="2023381"/>
            <a:ext cx="9259079" cy="4100097"/>
          </a:xfrm>
          <a:prstGeom prst="rect">
            <a:avLst/>
          </a:prstGeom>
        </p:spPr>
      </p:pic>
      <p:sp>
        <p:nvSpPr>
          <p:cNvPr id="4" name="TextBox 3">
            <a:extLst>
              <a:ext uri="{FF2B5EF4-FFF2-40B4-BE49-F238E27FC236}">
                <a16:creationId xmlns:a16="http://schemas.microsoft.com/office/drawing/2014/main" id="{CF03A0BB-3160-B66F-C7A3-253F652BA343}"/>
              </a:ext>
            </a:extLst>
          </p:cNvPr>
          <p:cNvSpPr txBox="1"/>
          <p:nvPr/>
        </p:nvSpPr>
        <p:spPr>
          <a:xfrm>
            <a:off x="1145658" y="935664"/>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14296201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98F808DA-E5B4-4156-57B4-D2D0E2F756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4206" y="122537"/>
            <a:ext cx="5447071" cy="62691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6366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5" name="Google Shape;295;p22" descr="image.png"/>
          <p:cNvPicPr preferRelativeResize="0"/>
          <p:nvPr/>
        </p:nvPicPr>
        <p:blipFill rotWithShape="1">
          <a:blip r:embed="rId3">
            <a:alphaModFix/>
          </a:blip>
          <a:srcRect/>
          <a:stretch/>
        </p:blipFill>
        <p:spPr>
          <a:xfrm>
            <a:off x="762000" y="1485900"/>
            <a:ext cx="3302049" cy="4800600"/>
          </a:xfrm>
          <a:prstGeom prst="rect">
            <a:avLst/>
          </a:prstGeom>
          <a:noFill/>
          <a:ln>
            <a:noFill/>
          </a:ln>
        </p:spPr>
      </p:pic>
      <p:pic>
        <p:nvPicPr>
          <p:cNvPr id="296" name="Google Shape;296;p22" descr="image.png"/>
          <p:cNvPicPr preferRelativeResize="0"/>
          <p:nvPr/>
        </p:nvPicPr>
        <p:blipFill rotWithShape="1">
          <a:blip r:embed="rId4">
            <a:alphaModFix/>
          </a:blip>
          <a:srcRect/>
          <a:stretch/>
        </p:blipFill>
        <p:spPr>
          <a:xfrm>
            <a:off x="4445049" y="1485900"/>
            <a:ext cx="3302049" cy="4800600"/>
          </a:xfrm>
          <a:prstGeom prst="rect">
            <a:avLst/>
          </a:prstGeom>
          <a:noFill/>
          <a:ln>
            <a:noFill/>
          </a:ln>
        </p:spPr>
      </p:pic>
      <p:pic>
        <p:nvPicPr>
          <p:cNvPr id="297" name="Google Shape;297;p22" descr="image.png"/>
          <p:cNvPicPr preferRelativeResize="0"/>
          <p:nvPr/>
        </p:nvPicPr>
        <p:blipFill rotWithShape="1">
          <a:blip r:embed="rId5">
            <a:alphaModFix/>
          </a:blip>
          <a:srcRect/>
          <a:stretch/>
        </p:blipFill>
        <p:spPr>
          <a:xfrm>
            <a:off x="8128099" y="1485900"/>
            <a:ext cx="3302049" cy="4800600"/>
          </a:xfrm>
          <a:prstGeom prst="rect">
            <a:avLst/>
          </a:prstGeom>
          <a:noFill/>
          <a:ln>
            <a:noFill/>
          </a:ln>
        </p:spPr>
      </p:pic>
      <p:sp>
        <p:nvSpPr>
          <p:cNvPr id="298" name="Google Shape;298;p22"/>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Dataset Strategy</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299" name="Google Shape;299;p22"/>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02" name="Google Shape;302;p22"/>
          <p:cNvSpPr txBox="1"/>
          <p:nvPr/>
        </p:nvSpPr>
        <p:spPr>
          <a:xfrm>
            <a:off x="1038065"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HDFS v1</a:t>
            </a:r>
            <a:endParaRPr>
              <a:latin typeface="Times New Roman" panose="02020603050405020304" pitchFamily="18" charset="0"/>
              <a:cs typeface="Times New Roman" panose="02020603050405020304" pitchFamily="18" charset="0"/>
            </a:endParaRPr>
          </a:p>
        </p:txBody>
      </p:sp>
      <p:sp>
        <p:nvSpPr>
          <p:cNvPr id="303" name="Google Shape;303;p22"/>
          <p:cNvSpPr txBox="1"/>
          <p:nvPr/>
        </p:nvSpPr>
        <p:spPr>
          <a:xfrm>
            <a:off x="1104900"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The "Gold Standard"</a:t>
            </a:r>
            <a:endParaRPr dirty="0">
              <a:latin typeface="Times New Roman" panose="02020603050405020304" pitchFamily="18" charset="0"/>
              <a:cs typeface="Times New Roman" panose="02020603050405020304" pitchFamily="18" charset="0"/>
            </a:endParaRPr>
          </a:p>
        </p:txBody>
      </p:sp>
      <p:sp>
        <p:nvSpPr>
          <p:cNvPr id="304" name="Google Shape;304;p22"/>
          <p:cNvSpPr txBox="1"/>
          <p:nvPr/>
        </p:nvSpPr>
        <p:spPr>
          <a:xfrm>
            <a:off x="1104900"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over 575,000 block logs with labeled "Normal" and "</a:t>
            </a:r>
            <a:r>
              <a:rPr lang="en-US" dirty="0" err="1">
                <a:solidFill>
                  <a:srgbClr val="333333"/>
                </a:solidFill>
                <a:latin typeface="Times New Roman" panose="02020603050405020304" pitchFamily="18" charset="0"/>
                <a:cs typeface="Times New Roman" panose="02020603050405020304" pitchFamily="18" charset="0"/>
                <a:sym typeface="Helvetica Neue"/>
              </a:rPr>
              <a:t>BlockCorrelation</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failures. Used to train and stringently benchmark all</a:t>
            </a:r>
          </a:p>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initial model types.</a:t>
            </a:r>
            <a:endParaRPr dirty="0">
              <a:latin typeface="Times New Roman" panose="02020603050405020304" pitchFamily="18" charset="0"/>
              <a:cs typeface="Times New Roman" panose="02020603050405020304" pitchFamily="18" charset="0"/>
            </a:endParaRPr>
          </a:p>
        </p:txBody>
      </p:sp>
      <p:sp>
        <p:nvSpPr>
          <p:cNvPr id="305" name="Google Shape;305;p22"/>
          <p:cNvSpPr txBox="1"/>
          <p:nvPr/>
        </p:nvSpPr>
        <p:spPr>
          <a:xfrm>
            <a:off x="472111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a:t>
            </a:r>
            <a:endParaRPr>
              <a:latin typeface="Times New Roman" panose="02020603050405020304" pitchFamily="18" charset="0"/>
              <a:cs typeface="Times New Roman" panose="02020603050405020304" pitchFamily="18" charset="0"/>
            </a:endParaRPr>
          </a:p>
        </p:txBody>
      </p:sp>
      <p:sp>
        <p:nvSpPr>
          <p:cNvPr id="306" name="Google Shape;306;p22"/>
          <p:cNvSpPr txBox="1"/>
          <p:nvPr/>
        </p:nvSpPr>
        <p:spPr>
          <a:xfrm>
            <a:off x="478794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The Generalization Test</a:t>
            </a:r>
            <a:endParaRPr>
              <a:latin typeface="Times New Roman" panose="02020603050405020304" pitchFamily="18" charset="0"/>
              <a:cs typeface="Times New Roman" panose="02020603050405020304" pitchFamily="18" charset="0"/>
            </a:endParaRPr>
          </a:p>
        </p:txBody>
      </p:sp>
      <p:sp>
        <p:nvSpPr>
          <p:cNvPr id="307" name="Google Shape;307;p22"/>
          <p:cNvSpPr txBox="1"/>
          <p:nvPr/>
        </p:nvSpPr>
        <p:spPr>
          <a:xfrm>
            <a:off x="4787949"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1.6million highly complex, overlapping task execution logs. Used exclusively to evaluate inter-system transfer learning and architectural robustness.</a:t>
            </a:r>
            <a:endParaRPr dirty="0">
              <a:latin typeface="Times New Roman" panose="02020603050405020304" pitchFamily="18" charset="0"/>
              <a:cs typeface="Times New Roman" panose="02020603050405020304" pitchFamily="18" charset="0"/>
            </a:endParaRPr>
          </a:p>
        </p:txBody>
      </p:sp>
      <p:sp>
        <p:nvSpPr>
          <p:cNvPr id="308" name="Google Shape;308;p22"/>
          <p:cNvSpPr txBox="1"/>
          <p:nvPr/>
        </p:nvSpPr>
        <p:spPr>
          <a:xfrm>
            <a:off x="840416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 OpenStack</a:t>
            </a:r>
            <a:endParaRPr>
              <a:latin typeface="Times New Roman" panose="02020603050405020304" pitchFamily="18" charset="0"/>
              <a:cs typeface="Times New Roman" panose="02020603050405020304" pitchFamily="18" charset="0"/>
            </a:endParaRPr>
          </a:p>
        </p:txBody>
      </p:sp>
      <p:sp>
        <p:nvSpPr>
          <p:cNvPr id="309" name="Google Shape;309;p22"/>
          <p:cNvSpPr txBox="1"/>
          <p:nvPr/>
        </p:nvSpPr>
        <p:spPr>
          <a:xfrm>
            <a:off x="847099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Broader Validation</a:t>
            </a:r>
            <a:endParaRPr>
              <a:latin typeface="Times New Roman" panose="02020603050405020304" pitchFamily="18" charset="0"/>
              <a:cs typeface="Times New Roman" panose="02020603050405020304" pitchFamily="18" charset="0"/>
            </a:endParaRPr>
          </a:p>
        </p:txBody>
      </p:sp>
      <p:sp>
        <p:nvSpPr>
          <p:cNvPr id="310" name="Google Shape;310;p22"/>
          <p:cNvSpPr txBox="1"/>
          <p:nvPr/>
        </p:nvSpPr>
        <p:spPr>
          <a:xfrm>
            <a:off x="8470999" y="2775495"/>
            <a:ext cx="2807069" cy="1661993"/>
          </a:xfrm>
          <a:prstGeom prst="rect">
            <a:avLst/>
          </a:prstGeom>
          <a:noFill/>
          <a:ln>
            <a:noFill/>
          </a:ln>
        </p:spPr>
        <p:txBody>
          <a:bodyPr spcFirstLastPara="1" wrap="square" lIns="0" tIns="0" rIns="0" bIns="0" anchor="t" anchorCtr="0">
            <a:spAutoFit/>
          </a:bodyPr>
          <a:lstStyle/>
          <a:p>
            <a:pPr lvl="0"/>
            <a:r>
              <a:rPr lang="en-PK" dirty="0"/>
              <a:t>393,433</a:t>
            </a:r>
            <a:r>
              <a:rPr lang="en-US" dirty="0"/>
              <a:t> </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Broader system-level logs utilized for final cross-platform validation to ensure selected models do not memorize application-specific syntaxes.</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60C6-D2CC-6CDE-39B1-6FB22D15FD52}"/>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Spark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99FD89AF-3600-4152-7D05-8DE424F81DC4}"/>
              </a:ext>
            </a:extLst>
          </p:cNvPr>
          <p:cNvSpPr>
            <a:spLocks noGrp="1"/>
          </p:cNvSpPr>
          <p:nvPr>
            <p:ph idx="1"/>
          </p:nvPr>
        </p:nvSpPr>
        <p:spPr>
          <a:xfrm>
            <a:off x="602986" y="1736176"/>
            <a:ext cx="10981137" cy="5550449"/>
          </a:xfrm>
        </p:spPr>
        <p:txBody>
          <a:bodyPr>
            <a:noAutofit/>
          </a:bodyPr>
          <a:lstStyle/>
          <a:p>
            <a:r>
              <a:rPr lang="en-US" sz="2000" b="1" dirty="0">
                <a:solidFill>
                  <a:srgbClr val="333333"/>
                </a:solidFill>
                <a:latin typeface="Times New Roman" panose="02020603050405020304" pitchFamily="18" charset="0"/>
                <a:cs typeface="Times New Roman" panose="02020603050405020304" pitchFamily="18" charset="0"/>
                <a:sym typeface="Poppins SemiBold"/>
              </a:rPr>
              <a:t>RAM Crash</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rPr>
              <a:t>Processing 33 Million rows (5GB CSV) crashed two distinct </a:t>
            </a:r>
            <a:r>
              <a:rPr lang="en-US" sz="1800" dirty="0" err="1">
                <a:solidFill>
                  <a:srgbClr val="333333"/>
                </a:solidFill>
                <a:latin typeface="Times New Roman" panose="02020603050405020304" pitchFamily="18" charset="0"/>
                <a:cs typeface="Times New Roman" panose="02020603050405020304" pitchFamily="18" charset="0"/>
              </a:rPr>
              <a:t>Colab</a:t>
            </a:r>
            <a:r>
              <a:rPr lang="en-US" sz="1800" dirty="0">
                <a:solidFill>
                  <a:srgbClr val="333333"/>
                </a:solidFill>
                <a:latin typeface="Times New Roman" panose="02020603050405020304" pitchFamily="18" charset="0"/>
                <a:cs typeface="Times New Roman" panose="02020603050405020304" pitchFamily="18" charset="0"/>
              </a:rPr>
              <a:t> sessions instantly.</a:t>
            </a:r>
            <a:br>
              <a:rPr lang="en-US" sz="1800" dirty="0">
                <a:solidFill>
                  <a:srgbClr val="333333"/>
                </a:solidFill>
                <a:latin typeface="Times New Roman" panose="02020603050405020304" pitchFamily="18" charset="0"/>
                <a:cs typeface="Times New Roman" panose="02020603050405020304" pitchFamily="18" charset="0"/>
              </a:rPr>
            </a:br>
            <a:r>
              <a:rPr lang="en-US" sz="1800" dirty="0">
                <a:solidFill>
                  <a:srgbClr val="333333"/>
                </a:solidFill>
                <a:latin typeface="Times New Roman" panose="02020603050405020304" pitchFamily="18" charset="0"/>
                <a:cs typeface="Times New Roman" panose="02020603050405020304" pitchFamily="18" charset="0"/>
              </a:rPr>
              <a:t>Solution: Implemented chunked processing, writing 200 files at once directly to CSV to bypass memory limits.</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Extreme Imbalance</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The dataset contained only 0.14% anomalies. Models defaulted to predicting "Normal" for 99.86% accuracy without learning.</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Applied SMOTE to increase anomalies from 1,820 to 1,327,644</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Compute Limits</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Training generative models quickly exhausted Google </a:t>
            </a:r>
            <a:r>
              <a:rPr lang="en-US" sz="1800" dirty="0" err="1">
                <a:solidFill>
                  <a:srgbClr val="333333"/>
                </a:solidFill>
                <a:latin typeface="Times New Roman" panose="02020603050405020304" pitchFamily="18" charset="0"/>
                <a:cs typeface="Times New Roman" panose="02020603050405020304" pitchFamily="18" charset="0"/>
                <a:sym typeface="Inter"/>
              </a:rPr>
              <a:t>Colab</a:t>
            </a:r>
            <a:r>
              <a:rPr lang="en-US" sz="1800" dirty="0">
                <a:solidFill>
                  <a:srgbClr val="333333"/>
                </a:solidFill>
                <a:latin typeface="Times New Roman" panose="02020603050405020304" pitchFamily="18" charset="0"/>
                <a:cs typeface="Times New Roman" panose="02020603050405020304" pitchFamily="18" charset="0"/>
                <a:sym typeface="Inter"/>
              </a:rPr>
              <a:t> GPU limits.</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Utilized multiple school accounts and meticulously organized pathways on Git for seamless environment swapping</a:t>
            </a:r>
            <a:r>
              <a:rPr lang="en-US" sz="1800" dirty="0">
                <a:solidFill>
                  <a:schemeClr val="tx1">
                    <a:lumMod val="90000"/>
                    <a:lumOff val="10000"/>
                  </a:schemeClr>
                </a:solidFill>
                <a:latin typeface="Inter"/>
                <a:ea typeface="Inter"/>
                <a:cs typeface="Inter"/>
                <a:sym typeface="Inter"/>
              </a:rPr>
              <a:t>.</a:t>
            </a:r>
            <a:endParaRPr lang="en-US" sz="1800" dirty="0">
              <a:solidFill>
                <a:schemeClr val="tx1">
                  <a:lumMod val="90000"/>
                  <a:lumOff val="10000"/>
                </a:schemeClr>
              </a:solidFill>
            </a:endParaRPr>
          </a:p>
          <a:p>
            <a:pPr marL="0" indent="0">
              <a:buNone/>
            </a:pPr>
            <a:endParaRPr lang="en-PK" sz="1800" dirty="0">
              <a:solidFill>
                <a:schemeClr val="tx1">
                  <a:lumMod val="90000"/>
                  <a:lumOff val="10000"/>
                </a:schemeClr>
              </a:solidFill>
            </a:endParaRPr>
          </a:p>
        </p:txBody>
      </p:sp>
      <p:sp>
        <p:nvSpPr>
          <p:cNvPr id="7" name="Google Shape;299;p22">
            <a:extLst>
              <a:ext uri="{FF2B5EF4-FFF2-40B4-BE49-F238E27FC236}">
                <a16:creationId xmlns:a16="http://schemas.microsoft.com/office/drawing/2014/main" id="{1EFD6051-2A25-F8AC-FA3B-A03F725B27AD}"/>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5805204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6E93-8812-C41B-E4E4-C607BC5B1144}"/>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Hadoop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C9E234A0-A7C9-F0FB-C74E-8F3A5BEDE494}"/>
              </a:ext>
            </a:extLst>
          </p:cNvPr>
          <p:cNvSpPr>
            <a:spLocks noGrp="1"/>
          </p:cNvSpPr>
          <p:nvPr>
            <p:ph idx="1"/>
          </p:nvPr>
        </p:nvSpPr>
        <p:spPr/>
        <p:txBody>
          <a:bodyPr>
            <a:normAutofit/>
          </a:bodyPr>
          <a:lstStyle/>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Ulta (Reverse) Class Imbalance</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Unlike Spark, 93.57% of the Hadoop dataset consisted of anomalies. If left untreated, the models would simply learn to output "anomaly" continuously to achieve high accuracy.</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utilized SMOTE combined with targeted data pollution, fixing the ratio artificially at 0.5 to force the models to learn true distinguishing features.</a:t>
            </a:r>
            <a:endParaRPr lang="en-US" sz="1800"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Model Timeout Issues</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Traditional algorithms struggled with the dimensionality and scale of the Hadoop logs. The standard One-Class SVM ran for over 29 minutes per iteration and would consistently fail to complete.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swapped the traditional implementation for SGDOneClassSVM. This Stochastic Gradient Descent variant completed the exact same task 100x faster.</a:t>
            </a:r>
            <a:endParaRPr lang="en-US" sz="1800" dirty="0">
              <a:solidFill>
                <a:srgbClr val="333333"/>
              </a:solidFill>
              <a:latin typeface="Times New Roman" panose="02020603050405020304" pitchFamily="18" charset="0"/>
              <a:cs typeface="Times New Roman" panose="02020603050405020304" pitchFamily="18" charset="0"/>
            </a:endParaRPr>
          </a:p>
        </p:txBody>
      </p:sp>
      <p:sp>
        <p:nvSpPr>
          <p:cNvPr id="5" name="Google Shape;299;p22">
            <a:extLst>
              <a:ext uri="{FF2B5EF4-FFF2-40B4-BE49-F238E27FC236}">
                <a16:creationId xmlns:a16="http://schemas.microsoft.com/office/drawing/2014/main" id="{C3E351DB-EA38-686A-66B2-F44AE7231A2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4485260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23"/>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Experimental Setting (Comparative Pipelines)</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17" name="Google Shape;317;p23"/>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20" name="Google Shape;320;p23"/>
          <p:cNvSpPr txBox="1"/>
          <p:nvPr/>
        </p:nvSpPr>
        <p:spPr>
          <a:xfrm>
            <a:off x="762000" y="1485900"/>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Pipeline 1: Traditional ML</a:t>
            </a:r>
            <a:endParaRPr sz="2800" dirty="0">
              <a:latin typeface="Times New Roman" panose="02020603050405020304" pitchFamily="18" charset="0"/>
              <a:cs typeface="Times New Roman" panose="02020603050405020304" pitchFamily="18" charset="0"/>
            </a:endParaRPr>
          </a:p>
        </p:txBody>
      </p:sp>
      <p:sp>
        <p:nvSpPr>
          <p:cNvPr id="321" name="Google Shape;321;p23"/>
          <p:cNvSpPr txBox="1"/>
          <p:nvPr/>
        </p:nvSpPr>
        <p:spPr>
          <a:xfrm>
            <a:off x="4445049" y="1485900"/>
            <a:ext cx="3467152" cy="307777"/>
          </a:xfrm>
          <a:prstGeom prst="rect">
            <a:avLst/>
          </a:prstGeom>
          <a:noFill/>
          <a:ln>
            <a:noFill/>
          </a:ln>
        </p:spPr>
        <p:txBody>
          <a:bodyPr spcFirstLastPara="1" wrap="square" lIns="0" tIns="0" rIns="0" bIns="0" anchor="t" anchorCtr="0">
            <a:spAutoFit/>
          </a:bodyPr>
          <a:lstStyle/>
          <a:p>
            <a:r>
              <a:rPr lang="en-US" sz="2000" b="1" dirty="0">
                <a:solidFill>
                  <a:srgbClr val="003366"/>
                </a:solidFill>
                <a:latin typeface="Times New Roman" panose="02020603050405020304" pitchFamily="18" charset="0"/>
                <a:cs typeface="Times New Roman" panose="02020603050405020304" pitchFamily="18" charset="0"/>
                <a:sym typeface="Helvetica Neue"/>
              </a:rPr>
              <a:t>Pipeline 2: Deep Learning</a:t>
            </a:r>
            <a:endParaRPr sz="2000" b="1" dirty="0">
              <a:solidFill>
                <a:srgbClr val="003366"/>
              </a:solidFill>
              <a:latin typeface="Times New Roman" panose="02020603050405020304" pitchFamily="18" charset="0"/>
              <a:cs typeface="Times New Roman" panose="02020603050405020304" pitchFamily="18" charset="0"/>
            </a:endParaRPr>
          </a:p>
        </p:txBody>
      </p:sp>
      <p:sp>
        <p:nvSpPr>
          <p:cNvPr id="322" name="Google Shape;322;p23"/>
          <p:cNvSpPr txBox="1"/>
          <p:nvPr/>
        </p:nvSpPr>
        <p:spPr>
          <a:xfrm>
            <a:off x="8128098" y="1411015"/>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dirty="0">
                <a:solidFill>
                  <a:srgbClr val="003366"/>
                </a:solidFill>
                <a:latin typeface="Times New Roman" panose="02020603050405020304" pitchFamily="18" charset="0"/>
                <a:cs typeface="Times New Roman" panose="02020603050405020304" pitchFamily="18" charset="0"/>
                <a:sym typeface="Helvetica Neue"/>
              </a:rPr>
              <a:t>Pipeline</a:t>
            </a: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3: Generative AI</a:t>
            </a:r>
            <a:endParaRPr sz="2000" dirty="0">
              <a:latin typeface="Times New Roman" panose="02020603050405020304" pitchFamily="18" charset="0"/>
              <a:cs typeface="Times New Roman" panose="02020603050405020304" pitchFamily="18" charset="0"/>
            </a:endParaRPr>
          </a:p>
        </p:txBody>
      </p:sp>
      <p:sp>
        <p:nvSpPr>
          <p:cNvPr id="324" name="Google Shape;324;p23"/>
          <p:cNvSpPr txBox="1"/>
          <p:nvPr/>
        </p:nvSpPr>
        <p:spPr>
          <a:xfrm>
            <a:off x="682601" y="1863937"/>
            <a:ext cx="2968674" cy="4321183"/>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Parsed Log Templates.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Feature Eng:</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Manual TF-IDF &amp; Event Count Matrices.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a:t>
            </a:r>
            <a:r>
              <a:rPr lang="en-US"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SVM, Random Forest, Isolation Forest.</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Hyperparameters:</a:t>
            </a:r>
            <a:r>
              <a:rPr lang="en-PK" dirty="0">
                <a:latin typeface="Times New Roman" panose="02020603050405020304" pitchFamily="18" charset="0"/>
                <a:cs typeface="Times New Roman" panose="02020603050405020304" pitchFamily="18" charset="0"/>
              </a:rPr>
              <a:t> Base Estimators (Trees): 100, Max Depth: 6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Learning Rate: 0.1, Subsample: 0.8 Iterations (Boosting Rounds): 100</a:t>
            </a:r>
            <a:endParaRPr dirty="0">
              <a:latin typeface="Times New Roman" panose="02020603050405020304" pitchFamily="18" charset="0"/>
              <a:cs typeface="Times New Roman" panose="02020603050405020304" pitchFamily="18" charset="0"/>
            </a:endParaRPr>
          </a:p>
        </p:txBody>
      </p:sp>
      <p:sp>
        <p:nvSpPr>
          <p:cNvPr id="330" name="Google Shape;330;p23"/>
          <p:cNvSpPr txBox="1"/>
          <p:nvPr/>
        </p:nvSpPr>
        <p:spPr>
          <a:xfrm>
            <a:off x="4445048" y="1955588"/>
            <a:ext cx="3683049" cy="576157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Tokenized Log Sequences.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Supervised learning on temporal execution paths.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 GRU, CNN, Bi-LSTM.</a:t>
            </a:r>
            <a:endParaRPr lang="en-US" dirty="0">
              <a:latin typeface="Times New Roman" panose="02020603050405020304" pitchFamily="18" charset="0"/>
              <a:cs typeface="Times New Roman" panose="02020603050405020304" pitchFamily="18" charset="0"/>
            </a:endParaRPr>
          </a:p>
          <a:p>
            <a:pPr>
              <a:lnSpc>
                <a:spcPct val="159944"/>
              </a:lnSpc>
            </a:pPr>
            <a:r>
              <a:rPr lang="en-US" b="1" dirty="0">
                <a:latin typeface="Times New Roman" panose="02020603050405020304" pitchFamily="18" charset="0"/>
                <a:cs typeface="Times New Roman" panose="02020603050405020304" pitchFamily="18" charset="0"/>
              </a:rPr>
              <a:t>Network Architecture:</a:t>
            </a:r>
          </a:p>
          <a:p>
            <a:pPr>
              <a:lnSpc>
                <a:spcPct val="159944"/>
              </a:lnSpc>
            </a:pPr>
            <a:r>
              <a:rPr lang="en-US" dirty="0">
                <a:latin typeface="Times New Roman" panose="02020603050405020304" pitchFamily="18" charset="0"/>
                <a:cs typeface="Times New Roman" panose="02020603050405020304" pitchFamily="18" charset="0"/>
              </a:rPr>
              <a:t>Input Layers: 1, Hidden Layers: 3, Output Layers: 1</a:t>
            </a:r>
          </a:p>
          <a:p>
            <a:pPr>
              <a:lnSpc>
                <a:spcPct val="159944"/>
              </a:lnSpc>
            </a:pPr>
            <a:r>
              <a:rPr lang="en-US" b="1" dirty="0">
                <a:latin typeface="Times New Roman" panose="02020603050405020304" pitchFamily="18" charset="0"/>
                <a:cs typeface="Times New Roman" panose="02020603050405020304" pitchFamily="18" charset="0"/>
              </a:rPr>
              <a:t>Training Parameters:</a:t>
            </a:r>
          </a:p>
          <a:p>
            <a:pPr>
              <a:lnSpc>
                <a:spcPct val="159944"/>
              </a:lnSpc>
            </a:pPr>
            <a:r>
              <a:rPr lang="en-US" dirty="0">
                <a:latin typeface="Times New Roman" panose="02020603050405020304" pitchFamily="18" charset="0"/>
                <a:cs typeface="Times New Roman" panose="02020603050405020304" pitchFamily="18" charset="0"/>
              </a:rPr>
              <a:t>Epochs: 100, Batch Size: 128</a:t>
            </a:r>
          </a:p>
          <a:p>
            <a:pPr>
              <a:lnSpc>
                <a:spcPct val="159944"/>
              </a:lnSpc>
            </a:pPr>
            <a:r>
              <a:rPr lang="en-US" dirty="0">
                <a:latin typeface="Times New Roman" panose="02020603050405020304" pitchFamily="18" charset="0"/>
                <a:cs typeface="Times New Roman" panose="02020603050405020304" pitchFamily="18" charset="0"/>
              </a:rPr>
              <a:t>Iterations: 10,372</a:t>
            </a: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36" name="Google Shape;336;p23"/>
          <p:cNvSpPr txBox="1"/>
          <p:nvPr/>
        </p:nvSpPr>
        <p:spPr>
          <a:xfrm>
            <a:off x="8128099" y="1762899"/>
            <a:ext cx="2968674" cy="4764381"/>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Raw Log Embeddings.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Unsupervised. Learns "normal" distribution only; flags deviations.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LSTM-Autoencoder, VAE, GAN.</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Network Architecture:</a:t>
            </a:r>
            <a:r>
              <a:rPr lang="en-PK" dirty="0">
                <a:latin typeface="Times New Roman" panose="02020603050405020304" pitchFamily="18" charset="0"/>
                <a:cs typeface="Times New Roman" panose="02020603050405020304" pitchFamily="18" charset="0"/>
              </a:rPr>
              <a:t> Encoder Layers: 3, Latent Space: 1, Decoder Layers: 3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Epochs: 100, Batch Size: 128 Iterations: 10,372</a:t>
            </a: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9ECC-E1A7-9671-5C59-F6A5AAE86BCC}"/>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76281680-3BE3-537B-E44C-98B1D00B3AC7}"/>
              </a:ext>
            </a:extLst>
          </p:cNvPr>
          <p:cNvSpPr>
            <a:spLocks noGrp="1"/>
          </p:cNvSpPr>
          <p:nvPr>
            <p:ph idx="1"/>
          </p:nvPr>
        </p:nvSpPr>
        <p:spPr>
          <a:xfrm>
            <a:off x="176981" y="1069873"/>
            <a:ext cx="11484077" cy="6075205"/>
          </a:xfrm>
        </p:spPr>
        <p:txBody>
          <a:bodyPr>
            <a:noAutofit/>
          </a:bodyPr>
          <a:lstStyle/>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Precision</a:t>
            </a:r>
            <a:endParaRPr lang="en-US" sz="2000" b="1" dirty="0">
              <a:solidFill>
                <a:srgbClr val="003366"/>
              </a:solidFill>
              <a:latin typeface="Times New Roman" panose="02020603050405020304" pitchFamily="18" charset="0"/>
              <a:cs typeface="Times New Roman" panose="02020603050405020304" pitchFamily="18" charset="0"/>
            </a:endParaRP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Precision measures how many of the model's positive predictions were actually correct.</a:t>
            </a:r>
          </a:p>
          <a:p>
            <a:pPr marL="0" lvl="0" indent="0">
              <a:buNone/>
            </a:pPr>
            <a:r>
              <a:rPr lang="en-PK" sz="2000" dirty="0">
                <a:solidFill>
                  <a:srgbClr val="333333"/>
                </a:solidFill>
                <a:latin typeface="Times New Roman" panose="02020603050405020304" pitchFamily="18" charset="0"/>
                <a:cs typeface="Times New Roman" panose="02020603050405020304" pitchFamily="18" charset="0"/>
              </a:rPr>
              <a:t>Formula</a:t>
            </a:r>
            <a:r>
              <a:rPr lang="en-US" sz="2000" dirty="0">
                <a:solidFill>
                  <a:srgbClr val="333333"/>
                </a:solidFill>
                <a:latin typeface="Times New Roman" panose="02020603050405020304" pitchFamily="18" charset="0"/>
                <a:cs typeface="Times New Roman" panose="02020603050405020304" pitchFamily="18" charset="0"/>
              </a:rPr>
              <a:t> </a:t>
            </a:r>
            <a:endParaRPr lang="en-PK" sz="20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false positives are costly, such as in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email spam detection</a:t>
            </a:r>
            <a:r>
              <a:rPr lang="en-PK" sz="1800" dirty="0">
                <a:solidFill>
                  <a:srgbClr val="333333"/>
                </a:solidFill>
                <a:latin typeface="Times New Roman" panose="02020603050405020304" pitchFamily="18" charset="0"/>
                <a:cs typeface="Times New Roman" panose="02020603050405020304" pitchFamily="18" charset="0"/>
              </a:rPr>
              <a:t>. </a:t>
            </a:r>
            <a:endParaRPr lang="en-US" sz="1800" dirty="0">
              <a:solidFill>
                <a:srgbClr val="333333"/>
              </a:solidFill>
              <a:latin typeface="Times New Roman" panose="02020603050405020304" pitchFamily="18" charset="0"/>
              <a:cs typeface="Times New Roman" panose="02020603050405020304" pitchFamily="18" charset="0"/>
            </a:endParaRPr>
          </a:p>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Recall</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Recall measures how many of the actual positive cases the model managed to find. </a:t>
            </a:r>
          </a:p>
          <a:p>
            <a:pPr marL="0" lvl="0" indent="0">
              <a:lnSpc>
                <a:spcPct val="130000"/>
              </a:lnSpc>
              <a:buNone/>
            </a:pPr>
            <a:r>
              <a:rPr lang="en-PK" sz="2000" dirty="0">
                <a:solidFill>
                  <a:srgbClr val="333333"/>
                </a:solidFill>
                <a:latin typeface="Times New Roman" panose="02020603050405020304" pitchFamily="18" charset="0"/>
                <a:cs typeface="Times New Roman" panose="02020603050405020304" pitchFamily="18" charset="0"/>
              </a:rPr>
              <a:t>Formula: </a:t>
            </a:r>
            <a:r>
              <a:rPr lang="en-US" sz="2000" dirty="0">
                <a:solidFill>
                  <a:srgbClr val="333333"/>
                </a:solidFill>
                <a:latin typeface="Times New Roman" panose="02020603050405020304" pitchFamily="18" charset="0"/>
                <a:cs typeface="Times New Roman" panose="02020603050405020304" pitchFamily="18" charset="0"/>
              </a:rPr>
              <a:t>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missing a positive case is dangerous, such as in </a:t>
            </a:r>
            <a:r>
              <a:rPr lang="en-PK" sz="1800" dirty="0">
                <a:solidFill>
                  <a:srgbClr val="33333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medical testing</a:t>
            </a:r>
            <a:r>
              <a:rPr lang="en-PK" sz="1800" dirty="0">
                <a:solidFill>
                  <a:srgbClr val="333333"/>
                </a:solidFill>
                <a:latin typeface="Times New Roman" panose="02020603050405020304" pitchFamily="18" charset="0"/>
                <a:cs typeface="Times New Roman" panose="02020603050405020304" pitchFamily="18" charset="0"/>
              </a:rPr>
              <a:t>.</a:t>
            </a:r>
          </a:p>
          <a:p>
            <a:pPr marL="0" indent="0">
              <a:buNone/>
            </a:pPr>
            <a:endParaRPr lang="en-PK" sz="1800" dirty="0"/>
          </a:p>
        </p:txBody>
      </p:sp>
      <p:sp>
        <p:nvSpPr>
          <p:cNvPr id="11" name="Google Shape;299;p22">
            <a:extLst>
              <a:ext uri="{FF2B5EF4-FFF2-40B4-BE49-F238E27FC236}">
                <a16:creationId xmlns:a16="http://schemas.microsoft.com/office/drawing/2014/main" id="{1CD3271E-DFE7-18F8-4F21-6AECB7BAC245}"/>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3" name="Picture 12">
            <a:extLst>
              <a:ext uri="{FF2B5EF4-FFF2-40B4-BE49-F238E27FC236}">
                <a16:creationId xmlns:a16="http://schemas.microsoft.com/office/drawing/2014/main" id="{4ED1ACC3-37DF-38CA-6311-EBDE7F6B2E89}"/>
              </a:ext>
            </a:extLst>
          </p:cNvPr>
          <p:cNvPicPr>
            <a:picLocks noChangeAspect="1"/>
          </p:cNvPicPr>
          <p:nvPr/>
        </p:nvPicPr>
        <p:blipFill>
          <a:blip r:embed="rId4"/>
          <a:stretch>
            <a:fillRect/>
          </a:stretch>
        </p:blipFill>
        <p:spPr>
          <a:xfrm>
            <a:off x="1686949" y="2022216"/>
            <a:ext cx="3448576" cy="503441"/>
          </a:xfrm>
          <a:prstGeom prst="rect">
            <a:avLst/>
          </a:prstGeom>
        </p:spPr>
      </p:pic>
      <p:pic>
        <p:nvPicPr>
          <p:cNvPr id="15" name="Picture 14">
            <a:extLst>
              <a:ext uri="{FF2B5EF4-FFF2-40B4-BE49-F238E27FC236}">
                <a16:creationId xmlns:a16="http://schemas.microsoft.com/office/drawing/2014/main" id="{1E5720FE-7876-5869-D6D3-FBBEDC0B758F}"/>
              </a:ext>
            </a:extLst>
          </p:cNvPr>
          <p:cNvPicPr>
            <a:picLocks noChangeAspect="1"/>
          </p:cNvPicPr>
          <p:nvPr/>
        </p:nvPicPr>
        <p:blipFill>
          <a:blip r:embed="rId5"/>
          <a:stretch>
            <a:fillRect/>
          </a:stretch>
        </p:blipFill>
        <p:spPr>
          <a:xfrm>
            <a:off x="1803907" y="3981441"/>
            <a:ext cx="3544269" cy="548083"/>
          </a:xfrm>
          <a:prstGeom prst="rect">
            <a:avLst/>
          </a:prstGeom>
        </p:spPr>
      </p:pic>
    </p:spTree>
    <p:extLst>
      <p:ext uri="{BB962C8B-B14F-4D97-AF65-F5344CB8AC3E}">
        <p14:creationId xmlns:p14="http://schemas.microsoft.com/office/powerpoint/2010/main" val="1246334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4D6-80D0-3C0D-FAB4-C78FCBEDB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C1A74-448C-67C6-5B98-AD0D5E17A094}"/>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B8FDEC2C-31DE-B754-AB9E-74D426CE3773}"/>
              </a:ext>
            </a:extLst>
          </p:cNvPr>
          <p:cNvSpPr>
            <a:spLocks noGrp="1"/>
          </p:cNvSpPr>
          <p:nvPr>
            <p:ph idx="1"/>
          </p:nvPr>
        </p:nvSpPr>
        <p:spPr>
          <a:xfrm>
            <a:off x="351515" y="1356952"/>
            <a:ext cx="11484077" cy="6075205"/>
          </a:xfrm>
        </p:spPr>
        <p:txBody>
          <a:bodyPr>
            <a:noAutofit/>
          </a:bodyPr>
          <a:lstStyle/>
          <a:p>
            <a:pPr marL="0" indent="0">
              <a:lnSpc>
                <a:spcPct val="140000"/>
              </a:lnSpc>
              <a:buNone/>
            </a:pPr>
            <a:r>
              <a:rPr lang="en-PK" sz="1800" b="1" dirty="0">
                <a:solidFill>
                  <a:srgbClr val="003366"/>
                </a:solidFill>
                <a:latin typeface="Times New Roman" panose="02020603050405020304" pitchFamily="18" charset="0"/>
                <a:cs typeface="Times New Roman" panose="02020603050405020304" pitchFamily="18" charset="0"/>
              </a:rPr>
              <a:t>F1 Score</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The F1 score is the harmonic mean of precision and recall, combining both into a single score.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Formula</a:t>
            </a:r>
            <a:r>
              <a:rPr lang="en-US" sz="1800" dirty="0">
                <a:solidFill>
                  <a:srgbClr val="333333"/>
                </a:solidFill>
                <a:latin typeface="Times New Roman" panose="02020603050405020304" pitchFamily="18" charset="0"/>
                <a:cs typeface="Times New Roman" panose="02020603050405020304" pitchFamily="18" charset="0"/>
              </a:rPr>
              <a:t>: </a:t>
            </a:r>
            <a:endParaRPr lang="en-PK" sz="18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Useful when you need a balance between precision and recall, especially with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imbalanced datasets</a:t>
            </a:r>
            <a:r>
              <a:rPr lang="en-PK" sz="1800" dirty="0">
                <a:solidFill>
                  <a:srgbClr val="333333"/>
                </a:solidFill>
                <a:latin typeface="Times New Roman" panose="02020603050405020304" pitchFamily="18" charset="0"/>
                <a:cs typeface="Times New Roman" panose="02020603050405020304" pitchFamily="18" charset="0"/>
              </a:rPr>
              <a:t>.</a:t>
            </a:r>
          </a:p>
          <a:p>
            <a:pPr marL="0" lvl="0" indent="0">
              <a:buNone/>
            </a:pPr>
            <a:endParaRPr lang="en-PK" sz="1800" dirty="0">
              <a:solidFill>
                <a:srgbClr val="333333"/>
              </a:solidFill>
              <a:latin typeface="Times New Roman" panose="02020603050405020304" pitchFamily="18" charset="0"/>
              <a:cs typeface="Times New Roman" panose="02020603050405020304" pitchFamily="18" charset="0"/>
            </a:endParaRPr>
          </a:p>
          <a:p>
            <a:pPr marL="0" indent="0">
              <a:buNone/>
            </a:pPr>
            <a:endParaRPr lang="en-PK" sz="1800" dirty="0"/>
          </a:p>
        </p:txBody>
      </p:sp>
      <p:sp>
        <p:nvSpPr>
          <p:cNvPr id="11" name="Google Shape;299;p22">
            <a:extLst>
              <a:ext uri="{FF2B5EF4-FFF2-40B4-BE49-F238E27FC236}">
                <a16:creationId xmlns:a16="http://schemas.microsoft.com/office/drawing/2014/main" id="{599A9DEB-4363-D357-CDB5-1AAE453650A7}"/>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7" name="Picture 16">
            <a:extLst>
              <a:ext uri="{FF2B5EF4-FFF2-40B4-BE49-F238E27FC236}">
                <a16:creationId xmlns:a16="http://schemas.microsoft.com/office/drawing/2014/main" id="{CAD14D82-085B-0C1F-A220-D804BABBFE4F}"/>
              </a:ext>
            </a:extLst>
          </p:cNvPr>
          <p:cNvPicPr>
            <a:picLocks noChangeAspect="1"/>
          </p:cNvPicPr>
          <p:nvPr/>
        </p:nvPicPr>
        <p:blipFill>
          <a:blip r:embed="rId3"/>
          <a:stretch>
            <a:fillRect/>
          </a:stretch>
        </p:blipFill>
        <p:spPr>
          <a:xfrm>
            <a:off x="2941672" y="3308024"/>
            <a:ext cx="2555361" cy="686683"/>
          </a:xfrm>
          <a:prstGeom prst="rect">
            <a:avLst/>
          </a:prstGeom>
        </p:spPr>
      </p:pic>
    </p:spTree>
    <p:extLst>
      <p:ext uri="{BB962C8B-B14F-4D97-AF65-F5344CB8AC3E}">
        <p14:creationId xmlns:p14="http://schemas.microsoft.com/office/powerpoint/2010/main" val="31339146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Results: HDFS Baseline Evaluation</a:t>
            </a:r>
            <a:endParaRPr dirty="0">
              <a:latin typeface="Times New Roman" panose="02020603050405020304" pitchFamily="18" charset="0"/>
              <a:cs typeface="Times New Roman" panose="02020603050405020304" pitchFamily="18" charset="0"/>
            </a:endParaRPr>
          </a:p>
        </p:txBody>
      </p:sp>
      <p:sp>
        <p:nvSpPr>
          <p:cNvPr id="347" name="Google Shape;347;p2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48" name="Google Shape;348;p24"/>
          <p:cNvSpPr txBox="1"/>
          <p:nvPr/>
        </p:nvSpPr>
        <p:spPr>
          <a:xfrm>
            <a:off x="762000" y="148590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Testing completed on 115,013 holdout instances (111,645 normal / 3,368 anomalies).</a:t>
            </a:r>
            <a:endParaRPr>
              <a:latin typeface="Times New Roman" panose="02020603050405020304" pitchFamily="18" charset="0"/>
              <a:cs typeface="Times New Roman" panose="02020603050405020304" pitchFamily="18" charset="0"/>
            </a:endParaRPr>
          </a:p>
        </p:txBody>
      </p:sp>
      <p:graphicFrame>
        <p:nvGraphicFramePr>
          <p:cNvPr id="349" name="Google Shape;349;p24"/>
          <p:cNvGraphicFramePr/>
          <p:nvPr>
            <p:extLst>
              <p:ext uri="{D42A27DB-BD31-4B8C-83A1-F6EECF244321}">
                <p14:modId xmlns:p14="http://schemas.microsoft.com/office/powerpoint/2010/main" val="2145724040"/>
              </p:ext>
            </p:extLst>
          </p:nvPr>
        </p:nvGraphicFramePr>
        <p:xfrm>
          <a:off x="762000" y="2137320"/>
          <a:ext cx="10667950" cy="3934975"/>
        </p:xfrm>
        <a:graphic>
          <a:graphicData uri="http://schemas.openxmlformats.org/drawingml/2006/table">
            <a:tbl>
              <a:tblPr firstRow="1" bandRow="1">
                <a:noFill/>
              </a:tblPr>
              <a:tblGrid>
                <a:gridCol w="1584425">
                  <a:extLst>
                    <a:ext uri="{9D8B030D-6E8A-4147-A177-3AD203B41FA5}">
                      <a16:colId xmlns:a16="http://schemas.microsoft.com/office/drawing/2014/main" val="20000"/>
                    </a:ext>
                  </a:extLst>
                </a:gridCol>
                <a:gridCol w="2859125">
                  <a:extLst>
                    <a:ext uri="{9D8B030D-6E8A-4147-A177-3AD203B41FA5}">
                      <a16:colId xmlns:a16="http://schemas.microsoft.com/office/drawing/2014/main" val="20001"/>
                    </a:ext>
                  </a:extLst>
                </a:gridCol>
                <a:gridCol w="1627575">
                  <a:extLst>
                    <a:ext uri="{9D8B030D-6E8A-4147-A177-3AD203B41FA5}">
                      <a16:colId xmlns:a16="http://schemas.microsoft.com/office/drawing/2014/main" val="20002"/>
                    </a:ext>
                  </a:extLst>
                </a:gridCol>
                <a:gridCol w="1341675">
                  <a:extLst>
                    <a:ext uri="{9D8B030D-6E8A-4147-A177-3AD203B41FA5}">
                      <a16:colId xmlns:a16="http://schemas.microsoft.com/office/drawing/2014/main" val="20003"/>
                    </a:ext>
                  </a:extLst>
                </a:gridCol>
                <a:gridCol w="1570275">
                  <a:extLst>
                    <a:ext uri="{9D8B030D-6E8A-4147-A177-3AD203B41FA5}">
                      <a16:colId xmlns:a16="http://schemas.microsoft.com/office/drawing/2014/main" val="20004"/>
                    </a:ext>
                  </a:extLst>
                </a:gridCol>
                <a:gridCol w="1684875">
                  <a:extLst>
                    <a:ext uri="{9D8B030D-6E8A-4147-A177-3AD203B41FA5}">
                      <a16:colId xmlns:a16="http://schemas.microsoft.com/office/drawing/2014/main" val="20005"/>
                    </a:ext>
                  </a:extLst>
                </a:gridCol>
              </a:tblGrid>
              <a:tr h="655825">
                <a:tc>
                  <a:txBody>
                    <a:bodyPr/>
                    <a:lstStyle/>
                    <a:p>
                      <a:pPr marL="0" marR="0" lvl="0" indent="0" algn="l" rtl="0">
                        <a:spcBef>
                          <a:spcPts val="0"/>
                        </a:spcBef>
                        <a:spcAft>
                          <a:spcPts val="0"/>
                        </a:spcAft>
                        <a:buNone/>
                      </a:pPr>
                      <a:r>
                        <a:rPr lang="en-US" sz="1800" b="1" i="0" u="none" strike="noStrike" cap="none" dirty="0">
                          <a:solidFill>
                            <a:srgbClr val="003366"/>
                          </a:solidFill>
                          <a:latin typeface="Helvetica Neue"/>
                          <a:ea typeface="Helvetica Neue"/>
                          <a:cs typeface="Helvetica Neue"/>
                          <a:sym typeface="Helvetica Neue"/>
                        </a:rPr>
                        <a:t>Model</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Category</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Precision</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Recall</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F1-Score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ROC-AUC</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55825">
                <a:tc>
                  <a:txBody>
                    <a:bodyPr/>
                    <a:lstStyle/>
                    <a:p>
                      <a:pPr marL="0" marR="0" lvl="0" indent="0" algn="l" rtl="0">
                        <a:spcBef>
                          <a:spcPts val="0"/>
                        </a:spcBef>
                        <a:spcAft>
                          <a:spcPts val="0"/>
                        </a:spcAft>
                        <a:buNone/>
                      </a:pPr>
                      <a:r>
                        <a:rPr lang="en-US" sz="1800" b="0" i="0" u="none" strike="noStrike" cap="none" dirty="0" err="1">
                          <a:solidFill>
                            <a:srgbClr val="333333"/>
                          </a:solidFill>
                          <a:latin typeface="Helvetica Neue"/>
                          <a:ea typeface="Helvetica Neue"/>
                          <a:cs typeface="Helvetica Neue"/>
                          <a:sym typeface="Helvetica Neue"/>
                        </a:rPr>
                        <a:t>XGBoost</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99.85%</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99.97%</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99.91%</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5825">
                <a:tc>
                  <a:txBody>
                    <a:bodyPr/>
                    <a:lstStyle/>
                    <a:p>
                      <a:pPr marL="0" marR="0" lvl="0" indent="0" algn="l" rtl="0">
                        <a:spcBef>
                          <a:spcPts val="0"/>
                        </a:spcBef>
                        <a:spcAft>
                          <a:spcPts val="0"/>
                        </a:spcAft>
                        <a:buNone/>
                      </a:pPr>
                      <a:r>
                        <a:rPr lang="en-US" sz="2000" b="0" i="0" u="none" strike="noStrike" cap="none" dirty="0">
                          <a:solidFill>
                            <a:srgbClr val="333333"/>
                          </a:solidFill>
                          <a:latin typeface="Helvetica Neue"/>
                          <a:ea typeface="Helvetica Neue"/>
                          <a:cs typeface="Helvetica Neue"/>
                          <a:sym typeface="Helvetica Neue"/>
                        </a:rPr>
                        <a:t>SVM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96.34%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99.94%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98.11%</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5825">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LSTM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Deep Learning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98.08%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99.88%</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98.97%</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100%</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5825">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LSTM-AE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72.32%</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88.18%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79.46%</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99.64%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55850">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VAE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69.44%</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74.29%</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71.78%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98.76%</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52" name="Google Shape;352;p24"/>
          <p:cNvSpPr/>
          <p:nvPr/>
        </p:nvSpPr>
        <p:spPr>
          <a:xfrm>
            <a:off x="762000" y="2786806"/>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3" name="Google Shape;353;p24"/>
          <p:cNvSpPr/>
          <p:nvPr/>
        </p:nvSpPr>
        <p:spPr>
          <a:xfrm>
            <a:off x="762000" y="2146845"/>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4" name="Google Shape;354;p24"/>
          <p:cNvSpPr/>
          <p:nvPr/>
        </p:nvSpPr>
        <p:spPr>
          <a:xfrm>
            <a:off x="2346424" y="2786806"/>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5" name="Google Shape;355;p24"/>
          <p:cNvSpPr/>
          <p:nvPr/>
        </p:nvSpPr>
        <p:spPr>
          <a:xfrm>
            <a:off x="2346424" y="2146845"/>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6" name="Google Shape;356;p24"/>
          <p:cNvSpPr/>
          <p:nvPr/>
        </p:nvSpPr>
        <p:spPr>
          <a:xfrm>
            <a:off x="5205561" y="2786806"/>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7" name="Google Shape;357;p24"/>
          <p:cNvSpPr/>
          <p:nvPr/>
        </p:nvSpPr>
        <p:spPr>
          <a:xfrm>
            <a:off x="5205561" y="2146845"/>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8" name="Google Shape;358;p24"/>
          <p:cNvSpPr/>
          <p:nvPr/>
        </p:nvSpPr>
        <p:spPr>
          <a:xfrm>
            <a:off x="6833145" y="2786806"/>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9" name="Google Shape;359;p24"/>
          <p:cNvSpPr/>
          <p:nvPr/>
        </p:nvSpPr>
        <p:spPr>
          <a:xfrm>
            <a:off x="6833145" y="2146845"/>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0" name="Google Shape;360;p24"/>
          <p:cNvSpPr/>
          <p:nvPr/>
        </p:nvSpPr>
        <p:spPr>
          <a:xfrm>
            <a:off x="8174831" y="2786806"/>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1" name="Google Shape;361;p24"/>
          <p:cNvSpPr/>
          <p:nvPr/>
        </p:nvSpPr>
        <p:spPr>
          <a:xfrm>
            <a:off x="8174831" y="2146845"/>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2" name="Google Shape;362;p24"/>
          <p:cNvSpPr/>
          <p:nvPr/>
        </p:nvSpPr>
        <p:spPr>
          <a:xfrm>
            <a:off x="9745116" y="2786806"/>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3" name="Google Shape;363;p24"/>
          <p:cNvSpPr/>
          <p:nvPr/>
        </p:nvSpPr>
        <p:spPr>
          <a:xfrm>
            <a:off x="9745116" y="2146845"/>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4" name="Google Shape;364;p24"/>
          <p:cNvSpPr/>
          <p:nvPr/>
        </p:nvSpPr>
        <p:spPr>
          <a:xfrm>
            <a:off x="762000" y="3450580"/>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5" name="Google Shape;365;p24"/>
          <p:cNvSpPr/>
          <p:nvPr/>
        </p:nvSpPr>
        <p:spPr>
          <a:xfrm>
            <a:off x="2346424" y="3450580"/>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6" name="Google Shape;366;p24"/>
          <p:cNvSpPr/>
          <p:nvPr/>
        </p:nvSpPr>
        <p:spPr>
          <a:xfrm>
            <a:off x="5205561" y="3450580"/>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7" name="Google Shape;367;p24"/>
          <p:cNvSpPr/>
          <p:nvPr/>
        </p:nvSpPr>
        <p:spPr>
          <a:xfrm>
            <a:off x="6833145" y="3450580"/>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8" name="Google Shape;368;p24"/>
          <p:cNvSpPr/>
          <p:nvPr/>
        </p:nvSpPr>
        <p:spPr>
          <a:xfrm>
            <a:off x="8174831" y="3450580"/>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9" name="Google Shape;369;p24"/>
          <p:cNvSpPr/>
          <p:nvPr/>
        </p:nvSpPr>
        <p:spPr>
          <a:xfrm>
            <a:off x="9745116" y="3450580"/>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0" name="Google Shape;370;p24"/>
          <p:cNvSpPr/>
          <p:nvPr/>
        </p:nvSpPr>
        <p:spPr>
          <a:xfrm>
            <a:off x="762000" y="4100066"/>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1" name="Google Shape;371;p24"/>
          <p:cNvSpPr/>
          <p:nvPr/>
        </p:nvSpPr>
        <p:spPr>
          <a:xfrm>
            <a:off x="2346424" y="4100066"/>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2" name="Google Shape;372;p24"/>
          <p:cNvSpPr/>
          <p:nvPr/>
        </p:nvSpPr>
        <p:spPr>
          <a:xfrm>
            <a:off x="5205561" y="4100066"/>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3" name="Google Shape;373;p24"/>
          <p:cNvSpPr/>
          <p:nvPr/>
        </p:nvSpPr>
        <p:spPr>
          <a:xfrm>
            <a:off x="6833145" y="4100066"/>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4" name="Google Shape;374;p24"/>
          <p:cNvSpPr/>
          <p:nvPr/>
        </p:nvSpPr>
        <p:spPr>
          <a:xfrm>
            <a:off x="8174831" y="4100066"/>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5" name="Google Shape;375;p24"/>
          <p:cNvSpPr/>
          <p:nvPr/>
        </p:nvSpPr>
        <p:spPr>
          <a:xfrm>
            <a:off x="9745116" y="4100066"/>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6" name="Google Shape;376;p24"/>
          <p:cNvSpPr/>
          <p:nvPr/>
        </p:nvSpPr>
        <p:spPr>
          <a:xfrm>
            <a:off x="762000" y="4749551"/>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7" name="Google Shape;377;p24"/>
          <p:cNvSpPr/>
          <p:nvPr/>
        </p:nvSpPr>
        <p:spPr>
          <a:xfrm>
            <a:off x="2346424" y="4749551"/>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8" name="Google Shape;378;p24"/>
          <p:cNvSpPr/>
          <p:nvPr/>
        </p:nvSpPr>
        <p:spPr>
          <a:xfrm>
            <a:off x="5205561" y="4749551"/>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9" name="Google Shape;379;p24"/>
          <p:cNvSpPr/>
          <p:nvPr/>
        </p:nvSpPr>
        <p:spPr>
          <a:xfrm>
            <a:off x="6833145" y="4749551"/>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0" name="Google Shape;380;p24"/>
          <p:cNvSpPr/>
          <p:nvPr/>
        </p:nvSpPr>
        <p:spPr>
          <a:xfrm>
            <a:off x="8174831" y="4749551"/>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1" name="Google Shape;381;p24"/>
          <p:cNvSpPr/>
          <p:nvPr/>
        </p:nvSpPr>
        <p:spPr>
          <a:xfrm>
            <a:off x="9745116" y="4749551"/>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2" name="Google Shape;382;p24"/>
          <p:cNvSpPr/>
          <p:nvPr/>
        </p:nvSpPr>
        <p:spPr>
          <a:xfrm>
            <a:off x="762000" y="5399037"/>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3" name="Google Shape;383;p24"/>
          <p:cNvSpPr/>
          <p:nvPr/>
        </p:nvSpPr>
        <p:spPr>
          <a:xfrm>
            <a:off x="2346424" y="5399037"/>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4" name="Google Shape;384;p24"/>
          <p:cNvSpPr/>
          <p:nvPr/>
        </p:nvSpPr>
        <p:spPr>
          <a:xfrm>
            <a:off x="5205561" y="5399037"/>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5" name="Google Shape;385;p24"/>
          <p:cNvSpPr/>
          <p:nvPr/>
        </p:nvSpPr>
        <p:spPr>
          <a:xfrm>
            <a:off x="6833145" y="5399037"/>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6" name="Google Shape;386;p24"/>
          <p:cNvSpPr/>
          <p:nvPr/>
        </p:nvSpPr>
        <p:spPr>
          <a:xfrm>
            <a:off x="8174831" y="5399037"/>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7" name="Google Shape;387;p24"/>
          <p:cNvSpPr/>
          <p:nvPr/>
        </p:nvSpPr>
        <p:spPr>
          <a:xfrm>
            <a:off x="9745116" y="5399037"/>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8" name="Google Shape;388;p24"/>
          <p:cNvSpPr/>
          <p:nvPr/>
        </p:nvSpPr>
        <p:spPr>
          <a:xfrm>
            <a:off x="762000" y="6043761"/>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9" name="Google Shape;389;p24"/>
          <p:cNvSpPr/>
          <p:nvPr/>
        </p:nvSpPr>
        <p:spPr>
          <a:xfrm>
            <a:off x="2346424" y="6043761"/>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0" name="Google Shape;390;p24"/>
          <p:cNvSpPr/>
          <p:nvPr/>
        </p:nvSpPr>
        <p:spPr>
          <a:xfrm>
            <a:off x="5205561" y="6043761"/>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1" name="Google Shape;391;p24"/>
          <p:cNvSpPr/>
          <p:nvPr/>
        </p:nvSpPr>
        <p:spPr>
          <a:xfrm>
            <a:off x="6833145" y="6043761"/>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2" name="Google Shape;392;p24"/>
          <p:cNvSpPr/>
          <p:nvPr/>
        </p:nvSpPr>
        <p:spPr>
          <a:xfrm>
            <a:off x="8174831" y="6043761"/>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3" name="Google Shape;393;p24"/>
          <p:cNvSpPr/>
          <p:nvPr/>
        </p:nvSpPr>
        <p:spPr>
          <a:xfrm>
            <a:off x="9745116" y="6043761"/>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9" name="Google Shape;399;p25" descr="image.png"/>
          <p:cNvPicPr preferRelativeResize="0"/>
          <p:nvPr/>
        </p:nvPicPr>
        <p:blipFill rotWithShape="1">
          <a:blip r:embed="rId3">
            <a:alphaModFix/>
          </a:blip>
          <a:srcRect/>
          <a:stretch/>
        </p:blipFill>
        <p:spPr>
          <a:xfrm>
            <a:off x="762000" y="1485900"/>
            <a:ext cx="5048250" cy="4363640"/>
          </a:xfrm>
          <a:prstGeom prst="rect">
            <a:avLst/>
          </a:prstGeom>
          <a:noFill/>
          <a:ln>
            <a:noFill/>
          </a:ln>
        </p:spPr>
      </p:pic>
      <p:pic>
        <p:nvPicPr>
          <p:cNvPr id="400" name="Google Shape;400;p25" descr="image.png"/>
          <p:cNvPicPr preferRelativeResize="0"/>
          <p:nvPr/>
        </p:nvPicPr>
        <p:blipFill rotWithShape="1">
          <a:blip r:embed="rId4">
            <a:alphaModFix/>
          </a:blip>
          <a:srcRect/>
          <a:stretch/>
        </p:blipFill>
        <p:spPr>
          <a:xfrm>
            <a:off x="6381750" y="1485900"/>
            <a:ext cx="5048250" cy="3632299"/>
          </a:xfrm>
          <a:prstGeom prst="rect">
            <a:avLst/>
          </a:prstGeom>
          <a:noFill/>
          <a:ln>
            <a:noFill/>
          </a:ln>
        </p:spPr>
      </p:pic>
      <p:sp>
        <p:nvSpPr>
          <p:cNvPr id="401" name="Google Shape;401;p25"/>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Results: Spark &amp; Hadoop Evaluation</a:t>
            </a:r>
            <a:endParaRPr dirty="0">
              <a:latin typeface="Times New Roman" panose="02020603050405020304" pitchFamily="18" charset="0"/>
              <a:cs typeface="Times New Roman" panose="02020603050405020304" pitchFamily="18" charset="0"/>
            </a:endParaRPr>
          </a:p>
        </p:txBody>
      </p:sp>
      <p:sp>
        <p:nvSpPr>
          <p:cNvPr id="402" name="Google Shape;402;p25"/>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05" name="Google Shape;405;p25"/>
          <p:cNvSpPr txBox="1"/>
          <p:nvPr/>
        </p:nvSpPr>
        <p:spPr>
          <a:xfrm>
            <a:off x="110490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 Logs</a:t>
            </a:r>
            <a:endParaRPr>
              <a:latin typeface="Times New Roman" panose="02020603050405020304" pitchFamily="18" charset="0"/>
              <a:cs typeface="Times New Roman" panose="02020603050405020304" pitchFamily="18" charset="0"/>
            </a:endParaRPr>
          </a:p>
        </p:txBody>
      </p:sp>
      <p:sp>
        <p:nvSpPr>
          <p:cNvPr id="406" name="Google Shape;406;p25"/>
          <p:cNvSpPr txBox="1"/>
          <p:nvPr/>
        </p:nvSpPr>
        <p:spPr>
          <a:xfrm>
            <a:off x="672465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Logs</a:t>
            </a:r>
            <a:endParaRPr>
              <a:latin typeface="Times New Roman" panose="02020603050405020304" pitchFamily="18" charset="0"/>
              <a:cs typeface="Times New Roman" panose="02020603050405020304" pitchFamily="18" charset="0"/>
            </a:endParaRPr>
          </a:p>
        </p:txBody>
      </p:sp>
      <p:sp>
        <p:nvSpPr>
          <p:cNvPr id="407" name="Google Shape;407;p25"/>
          <p:cNvSpPr txBox="1"/>
          <p:nvPr/>
        </p:nvSpPr>
        <p:spPr>
          <a:xfrm>
            <a:off x="136207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08" name="Google Shape;408;p25"/>
          <p:cNvSpPr txBox="1"/>
          <p:nvPr/>
        </p:nvSpPr>
        <p:spPr>
          <a:xfrm>
            <a:off x="1438275" y="2171700"/>
            <a:ext cx="4086225" cy="1329595"/>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Isolation forest achieved ROC-AUC 0.95, but F1 was only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0.04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Random Forest peaked at F1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0.44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dirty="0">
              <a:latin typeface="Times New Roman" panose="02020603050405020304" pitchFamily="18" charset="0"/>
              <a:cs typeface="Times New Roman" panose="02020603050405020304" pitchFamily="18" charset="0"/>
            </a:endParaRPr>
          </a:p>
        </p:txBody>
      </p:sp>
      <p:sp>
        <p:nvSpPr>
          <p:cNvPr id="409" name="Google Shape;409;p25"/>
          <p:cNvSpPr txBox="1"/>
          <p:nvPr/>
        </p:nvSpPr>
        <p:spPr>
          <a:xfrm>
            <a:off x="1362075" y="380773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0" name="Google Shape;410;p25"/>
          <p:cNvSpPr txBox="1"/>
          <p:nvPr/>
        </p:nvSpPr>
        <p:spPr>
          <a:xfrm>
            <a:off x="1438275" y="380583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achieved Recall 1.00 but Precision 0.09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0.16</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1" name="Google Shape;411;p25"/>
          <p:cNvSpPr txBox="1"/>
          <p:nvPr/>
        </p:nvSpPr>
        <p:spPr>
          <a:xfrm>
            <a:off x="1362075" y="4710529"/>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2" name="Google Shape;412;p25"/>
          <p:cNvSpPr txBox="1"/>
          <p:nvPr/>
        </p:nvSpPr>
        <p:spPr>
          <a:xfrm>
            <a:off x="1438275" y="4708624"/>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generated 16,562 False Positives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0.05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3" name="Google Shape;413;p25"/>
          <p:cNvSpPr txBox="1"/>
          <p:nvPr/>
        </p:nvSpPr>
        <p:spPr>
          <a:xfrm>
            <a:off x="698182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4" name="Google Shape;414;p25"/>
          <p:cNvSpPr txBox="1"/>
          <p:nvPr/>
        </p:nvSpPr>
        <p:spPr>
          <a:xfrm>
            <a:off x="7058025" y="2171700"/>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Random Forest achieved perfect metrics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1.00</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5" name="Google Shape;415;p25"/>
          <p:cNvSpPr txBox="1"/>
          <p:nvPr/>
        </p:nvSpPr>
        <p:spPr>
          <a:xfrm>
            <a:off x="6981825" y="3076396"/>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6" name="Google Shape;416;p25"/>
          <p:cNvSpPr txBox="1"/>
          <p:nvPr/>
        </p:nvSpPr>
        <p:spPr>
          <a:xfrm>
            <a:off x="7058025" y="3074491"/>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recovered performance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0.91</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7" name="Google Shape;417;p25"/>
          <p:cNvSpPr txBox="1"/>
          <p:nvPr/>
        </p:nvSpPr>
        <p:spPr>
          <a:xfrm>
            <a:off x="6981825" y="397918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8" name="Google Shape;418;p25"/>
          <p:cNvSpPr txBox="1"/>
          <p:nvPr/>
        </p:nvSpPr>
        <p:spPr>
          <a:xfrm>
            <a:off x="7058025" y="397728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dropped relative to HDFS, achieving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0.45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4" name="Google Shape;424;p26"/>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Overall Synthesis Matrix</a:t>
            </a:r>
            <a:endParaRPr dirty="0">
              <a:latin typeface="Times New Roman" panose="02020603050405020304" pitchFamily="18" charset="0"/>
              <a:cs typeface="Times New Roman" panose="02020603050405020304" pitchFamily="18" charset="0"/>
            </a:endParaRPr>
          </a:p>
        </p:txBody>
      </p:sp>
      <p:sp>
        <p:nvSpPr>
          <p:cNvPr id="425" name="Google Shape;425;p26"/>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6" name="Content Placeholder 45">
            <a:extLst>
              <a:ext uri="{FF2B5EF4-FFF2-40B4-BE49-F238E27FC236}">
                <a16:creationId xmlns:a16="http://schemas.microsoft.com/office/drawing/2014/main" id="{4B6EA312-CEB6-612B-40DD-328991C081AA}"/>
              </a:ext>
            </a:extLst>
          </p:cNvPr>
          <p:cNvGraphicFramePr>
            <a:graphicFrameLocks/>
          </p:cNvGraphicFramePr>
          <p:nvPr>
            <p:extLst>
              <p:ext uri="{D42A27DB-BD31-4B8C-83A1-F6EECF244321}">
                <p14:modId xmlns:p14="http://schemas.microsoft.com/office/powerpoint/2010/main" val="2440635284"/>
              </p:ext>
            </p:extLst>
          </p:nvPr>
        </p:nvGraphicFramePr>
        <p:xfrm>
          <a:off x="762000" y="1343025"/>
          <a:ext cx="10668000" cy="5378829"/>
        </p:xfrm>
        <a:graphic>
          <a:graphicData uri="http://schemas.openxmlformats.org/drawingml/2006/table">
            <a:tbl>
              <a:tblPr firstRow="1" firstCol="1" bandRow="1">
                <a:tableStyleId>{5C22544A-7EE6-4342-B048-85BDC9FD1C3A}</a:tableStyleId>
              </a:tblPr>
              <a:tblGrid>
                <a:gridCol w="2632865">
                  <a:extLst>
                    <a:ext uri="{9D8B030D-6E8A-4147-A177-3AD203B41FA5}">
                      <a16:colId xmlns:a16="http://schemas.microsoft.com/office/drawing/2014/main" val="3656217168"/>
                    </a:ext>
                  </a:extLst>
                </a:gridCol>
                <a:gridCol w="4001467">
                  <a:extLst>
                    <a:ext uri="{9D8B030D-6E8A-4147-A177-3AD203B41FA5}">
                      <a16:colId xmlns:a16="http://schemas.microsoft.com/office/drawing/2014/main" val="1982595559"/>
                    </a:ext>
                  </a:extLst>
                </a:gridCol>
                <a:gridCol w="1214102">
                  <a:extLst>
                    <a:ext uri="{9D8B030D-6E8A-4147-A177-3AD203B41FA5}">
                      <a16:colId xmlns:a16="http://schemas.microsoft.com/office/drawing/2014/main" val="4030277859"/>
                    </a:ext>
                  </a:extLst>
                </a:gridCol>
                <a:gridCol w="1263333">
                  <a:extLst>
                    <a:ext uri="{9D8B030D-6E8A-4147-A177-3AD203B41FA5}">
                      <a16:colId xmlns:a16="http://schemas.microsoft.com/office/drawing/2014/main" val="3044342611"/>
                    </a:ext>
                  </a:extLst>
                </a:gridCol>
                <a:gridCol w="1556233">
                  <a:extLst>
                    <a:ext uri="{9D8B030D-6E8A-4147-A177-3AD203B41FA5}">
                      <a16:colId xmlns:a16="http://schemas.microsoft.com/office/drawing/2014/main" val="2518966805"/>
                    </a:ext>
                  </a:extLst>
                </a:gridCol>
              </a:tblGrid>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Model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Category</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HDFS F1</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Spark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Hadoop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690936239"/>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XGBoost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0.9991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66682691"/>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SVM</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0.9811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58474586"/>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Random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650653007"/>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LSTM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0.9897</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09206213"/>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GRU</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0.9899</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936193700"/>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CNN Classifier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48551051"/>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Isolation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659661482"/>
                  </a:ext>
                </a:extLst>
              </a:tr>
              <a:tr h="625145">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One-Class SVM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0.32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900473419"/>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LSTM Autoencoder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 / Unsupervised DL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0.7946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044692012"/>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VAE / LSTM-VAE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0.7178</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43653977"/>
                  </a:ext>
                </a:extLst>
              </a:tr>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GAN</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0.03</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105742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5781-89D1-6FF3-77B5-ABC40BD088D0}"/>
              </a:ext>
            </a:extLst>
          </p:cNvPr>
          <p:cNvSpPr>
            <a:spLocks noGrp="1"/>
          </p:cNvSpPr>
          <p:nvPr>
            <p:ph type="title"/>
          </p:nvPr>
        </p:nvSpPr>
        <p:spPr>
          <a:xfrm>
            <a:off x="723013" y="731837"/>
            <a:ext cx="11046542" cy="703557"/>
          </a:xfrm>
        </p:spPr>
        <p:txBody>
          <a:bodyPr>
            <a:normAutofit/>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Discussion On Results (Key Takeaways)</a:t>
            </a:r>
            <a:endParaRPr lang="en-PK" cap="none" dirty="0">
              <a:latin typeface="Times New Roman" panose="02020603050405020304" pitchFamily="18" charset="0"/>
              <a:cs typeface="Times New Roman" panose="02020603050405020304" pitchFamily="18" charset="0"/>
            </a:endParaRPr>
          </a:p>
        </p:txBody>
      </p:sp>
      <p:sp>
        <p:nvSpPr>
          <p:cNvPr id="48" name="Content Placeholder 47">
            <a:extLst>
              <a:ext uri="{FF2B5EF4-FFF2-40B4-BE49-F238E27FC236}">
                <a16:creationId xmlns:a16="http://schemas.microsoft.com/office/drawing/2014/main" id="{5EC9CAFC-EEC2-98E5-E823-E6797D03300A}"/>
              </a:ext>
            </a:extLst>
          </p:cNvPr>
          <p:cNvSpPr>
            <a:spLocks noGrp="1"/>
          </p:cNvSpPr>
          <p:nvPr>
            <p:ph idx="1"/>
          </p:nvPr>
        </p:nvSpPr>
        <p:spPr>
          <a:xfrm>
            <a:off x="457200" y="1600200"/>
            <a:ext cx="11184194"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1. The "HDFS Illusion”</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Nearly all evaluated models work exceptionally well on structured HDFS datasets (F1 &gt; 90%). This creates a false sense of security in the literature, making anomaly detection appear artificially solved.</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2. The "Spark Reality Check"</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Complex, asynchronously overlapping Spark logs break almost every evaluated model (F1 &lt; 0.50). This proves a severe lack of true functional transferability in current supervised paradigms.</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3. The "Generative Struggle”</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Generative models successfully eliminate manual feature engineering and identify zero-day anomalies via strong ROC-AUC. However, they are highly noise-sensitive, leading to massive false positive rates on dynamic systems.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7188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038A-D0E2-4B3A-18BD-6C965846FFE5}"/>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Generative Model Failures</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F27784-B0E7-FDEA-6E5F-962F3F29A941}"/>
              </a:ext>
            </a:extLst>
          </p:cNvPr>
          <p:cNvSpPr>
            <a:spLocks noGrp="1"/>
          </p:cNvSpPr>
          <p:nvPr>
            <p:ph idx="1"/>
          </p:nvPr>
        </p:nvSpPr>
        <p:spPr/>
        <p:txBody>
          <a:bodyPr>
            <a:normAutofit/>
          </a:bodyPr>
          <a:lstStyle/>
          <a:p>
            <a:r>
              <a:rPr lang="en-US" sz="1800" b="1" dirty="0">
                <a:solidFill>
                  <a:srgbClr val="003366"/>
                </a:solidFill>
                <a:latin typeface="Times New Roman" panose="02020603050405020304" pitchFamily="18" charset="0"/>
                <a:cs typeface="Times New Roman" panose="02020603050405020304" pitchFamily="18" charset="0"/>
                <a:sym typeface="Poppins SemiBold"/>
              </a:rPr>
              <a:t>GANs: Structural Mismatch</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GANs require highly diverse, dynamic data to function. Log data, however, is rigidly structured and repetitive. This leads directly to Mode Collapse—the GAN simply generates one specific type of fake data over and over.</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GAN is like a creative artist tasked with spotting accounting fraud. It fundamentally isn't designed for the job.</a:t>
            </a:r>
          </a:p>
          <a:p>
            <a:endParaRPr lang="en-US" sz="1800" dirty="0">
              <a:solidFill>
                <a:srgbClr val="333333"/>
              </a:solidFill>
              <a:latin typeface="Times New Roman" panose="02020603050405020304" pitchFamily="18" charset="0"/>
              <a:cs typeface="Times New Roman" panose="02020603050405020304" pitchFamily="18" charset="0"/>
            </a:endParaRPr>
          </a:p>
          <a:p>
            <a:r>
              <a:rPr lang="en-US" sz="1800" b="1" dirty="0">
                <a:solidFill>
                  <a:srgbClr val="003366"/>
                </a:solidFill>
                <a:latin typeface="Times New Roman" panose="02020603050405020304" pitchFamily="18" charset="0"/>
                <a:cs typeface="Times New Roman" panose="02020603050405020304" pitchFamily="18" charset="0"/>
                <a:sym typeface="Poppins SemiBold"/>
              </a:rPr>
              <a:t>VAEs: Blurry Reconstruction</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Variational Autoencoders produce "blurry" reconstructions by design. Because they generalize, the fine, crucial details in anomalous log lines are completely lost, making the reconstruction error between normal and anomalous logs indistinguishable.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VAE is like a cheap photocopier that blurs both a perfectly normal page and a torn page alike.</a:t>
            </a:r>
            <a:endParaRPr lang="en-US" sz="1800" dirty="0">
              <a:solidFill>
                <a:srgbClr val="333333"/>
              </a:solidFill>
              <a:latin typeface="Times New Roman" panose="02020603050405020304" pitchFamily="18" charset="0"/>
              <a:cs typeface="Times New Roman" panose="02020603050405020304" pitchFamily="18" charset="0"/>
            </a:endParaRPr>
          </a:p>
          <a:p>
            <a:endParaRPr lang="en-US" sz="1800" dirty="0"/>
          </a:p>
        </p:txBody>
      </p:sp>
      <p:sp>
        <p:nvSpPr>
          <p:cNvPr id="5" name="Google Shape;299;p22">
            <a:extLst>
              <a:ext uri="{FF2B5EF4-FFF2-40B4-BE49-F238E27FC236}">
                <a16:creationId xmlns:a16="http://schemas.microsoft.com/office/drawing/2014/main" id="{D1220017-F925-F54F-845C-68CE5C46A158}"/>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6630581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0369-3A8B-4DD0-1528-9A2577EB4D0F}"/>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Thesis Core Finding and My Contribution</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AE484-9237-DF21-1810-6D7EE503F318}"/>
              </a:ext>
            </a:extLst>
          </p:cNvPr>
          <p:cNvSpPr>
            <a:spLocks noGrp="1"/>
          </p:cNvSpPr>
          <p:nvPr>
            <p:ph idx="1"/>
          </p:nvPr>
        </p:nvSpPr>
        <p:spPr/>
        <p:txBody>
          <a:bodyPr>
            <a:normAutofit fontScale="92500" lnSpcReduction="20000"/>
          </a:bodyPr>
          <a:lstStyle/>
          <a:p>
            <a:pPr algn="ctr"/>
            <a:r>
              <a:rPr lang="en-US" sz="3600" b="1" dirty="0">
                <a:solidFill>
                  <a:srgbClr val="38BDF8"/>
                </a:solidFill>
                <a:latin typeface="Times New Roman" panose="02020603050405020304" pitchFamily="18" charset="0"/>
                <a:ea typeface="Poppins"/>
                <a:cs typeface="Times New Roman" panose="02020603050405020304" pitchFamily="18" charset="0"/>
                <a:sym typeface="Poppins"/>
              </a:rPr>
              <a:t>Supervised &gt; Unsupervised &gt; Generative</a:t>
            </a:r>
            <a:endParaRPr lang="en-US" sz="3600" dirty="0">
              <a:latin typeface="Times New Roman" panose="02020603050405020304" pitchFamily="18" charset="0"/>
              <a:cs typeface="Times New Roman" panose="02020603050405020304" pitchFamily="18" charset="0"/>
            </a:endParaRPr>
          </a:p>
          <a:p>
            <a:r>
              <a:rPr lang="en-US" sz="2000" b="1" dirty="0">
                <a:solidFill>
                  <a:schemeClr val="tx1">
                    <a:lumMod val="90000"/>
                    <a:lumOff val="10000"/>
                  </a:schemeClr>
                </a:solidFill>
                <a:latin typeface="Times New Roman" panose="02020603050405020304" pitchFamily="18" charset="0"/>
                <a:cs typeface="Times New Roman" panose="02020603050405020304" pitchFamily="18" charset="0"/>
                <a:sym typeface="Inter"/>
              </a:rPr>
              <a:t>Consistent Hierarchy Across All Datasets</a:t>
            </a:r>
            <a:endParaRPr lang="en-US" sz="2000" b="1" dirty="0">
              <a:solidFill>
                <a:schemeClr val="tx1">
                  <a:lumMod val="90000"/>
                  <a:lumOff val="10000"/>
                </a:schemeClr>
              </a:solidFill>
              <a:latin typeface="Times New Roman" panose="02020603050405020304" pitchFamily="18" charset="0"/>
              <a:cs typeface="Times New Roman" panose="02020603050405020304" pitchFamily="18" charset="0"/>
            </a:endParaRPr>
          </a:p>
          <a:p>
            <a:r>
              <a:rPr lang="en-US" sz="1900" dirty="0">
                <a:solidFill>
                  <a:srgbClr val="333333"/>
                </a:solidFill>
                <a:latin typeface="Times New Roman" panose="02020603050405020304" pitchFamily="18" charset="0"/>
                <a:cs typeface="Times New Roman" panose="02020603050405020304" pitchFamily="18" charset="0"/>
                <a:sym typeface="Inter"/>
              </a:rPr>
              <a:t>Despite removing the need for manual feature engineering, Generative models are significantly inferior to traditional supervised models for detecting anomalies in large-scale system logs due to structural mismatches and noise sensitivity.</a:t>
            </a:r>
          </a:p>
          <a:p>
            <a:endParaRPr lang="en-US" sz="1800" dirty="0">
              <a:solidFill>
                <a:srgbClr val="333333"/>
              </a:solidFill>
              <a:latin typeface="Times New Roman" panose="02020603050405020304" pitchFamily="18" charset="0"/>
              <a:cs typeface="Times New Roman" panose="02020603050405020304" pitchFamily="18" charset="0"/>
              <a:sym typeface="Inter"/>
            </a:endParaRPr>
          </a:p>
          <a:p>
            <a:r>
              <a:rPr lang="en-PK" sz="2000" b="1" dirty="0">
                <a:solidFill>
                  <a:schemeClr val="tx1">
                    <a:lumMod val="90000"/>
                    <a:lumOff val="10000"/>
                  </a:schemeClr>
                </a:solidFill>
                <a:latin typeface="Times New Roman" panose="02020603050405020304" pitchFamily="18" charset="0"/>
                <a:cs typeface="Times New Roman" panose="02020603050405020304" pitchFamily="18" charset="0"/>
              </a:rPr>
              <a:t>My Contributions</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Developed a comprehensive 5-phase comparative framework benchmarking across diverse architectures (HDFS, Spark, Hadoop).</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Successfully solved extreme class imbalance (93.57% vs 0.14%) via SMOTE and targeted data pollution.</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Proved the functional limitations of Generative AI vs Traditional ML, bridging a critical gap in current cybersecurity literature.</a:t>
            </a:r>
          </a:p>
          <a:p>
            <a:endParaRPr lang="en-US" sz="1800" dirty="0">
              <a:solidFill>
                <a:srgbClr val="333333"/>
              </a:solidFill>
              <a:latin typeface="Times New Roman" panose="02020603050405020304" pitchFamily="18" charset="0"/>
              <a:cs typeface="Times New Roman" panose="02020603050405020304" pitchFamily="18" charset="0"/>
            </a:endParaRPr>
          </a:p>
          <a:p>
            <a:endParaRPr lang="en-PK" sz="1800" dirty="0"/>
          </a:p>
        </p:txBody>
      </p:sp>
      <p:sp>
        <p:nvSpPr>
          <p:cNvPr id="5" name="Google Shape;299;p22">
            <a:extLst>
              <a:ext uri="{FF2B5EF4-FFF2-40B4-BE49-F238E27FC236}">
                <a16:creationId xmlns:a16="http://schemas.microsoft.com/office/drawing/2014/main" id="{93E5888D-174A-FA67-9866-9892C07F94E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6938360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02FA-770B-E2BA-E183-3C5B45D86DD3}"/>
              </a:ext>
            </a:extLst>
          </p:cNvPr>
          <p:cNvSpPr>
            <a:spLocks noGrp="1"/>
          </p:cNvSpPr>
          <p:nvPr>
            <p:ph type="title"/>
          </p:nvPr>
        </p:nvSpPr>
        <p:spPr/>
        <p:txBody>
          <a:bodyPr/>
          <a:lstStyle/>
          <a:p>
            <a:r>
              <a:rPr lang="en-US" cap="none" dirty="0">
                <a:solidFill>
                  <a:srgbClr val="003366"/>
                </a:solidFill>
                <a:latin typeface="Times New Roman" panose="02020603050405020304" pitchFamily="18" charset="0"/>
                <a:cs typeface="Times New Roman" panose="02020603050405020304" pitchFamily="18" charset="0"/>
              </a:rPr>
              <a:t>Research Questions Answers</a:t>
            </a:r>
            <a:endParaRPr lang="en-PK"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9FD8A7-2492-7883-4283-EE27FEBBD6F7}"/>
              </a:ext>
            </a:extLst>
          </p:cNvPr>
          <p:cNvSpPr>
            <a:spLocks noGrp="1"/>
          </p:cNvSpPr>
          <p:nvPr>
            <p:ph idx="1"/>
          </p:nvPr>
        </p:nvSpPr>
        <p:spPr/>
        <p:txBody>
          <a:bodyPr>
            <a:normAutofit fontScale="92500" lnSpcReduction="20000"/>
          </a:bodyPr>
          <a:lstStyle/>
          <a:p>
            <a:pPr lvl="0">
              <a:lnSpc>
                <a:spcPct val="120000"/>
              </a:lnSpc>
            </a:pPr>
            <a:r>
              <a:rPr lang="en-PK" sz="2000" b="1" dirty="0">
                <a:solidFill>
                  <a:srgbClr val="333333"/>
                </a:solidFill>
                <a:latin typeface="Times New Roman" panose="02020603050405020304" pitchFamily="18" charset="0"/>
                <a:cs typeface="Times New Roman" panose="02020603050405020304" pitchFamily="18" charset="0"/>
              </a:rPr>
              <a:t>How Gen AI generalize better than Traditional ML across systems? </a:t>
            </a:r>
            <a:endParaRPr lang="en-US" sz="2000" b="1" dirty="0">
              <a:solidFill>
                <a:srgbClr val="333333"/>
              </a:solidFill>
              <a:latin typeface="Times New Roman" panose="02020603050405020304" pitchFamily="18" charset="0"/>
              <a:cs typeface="Times New Roman" panose="02020603050405020304" pitchFamily="18" charset="0"/>
            </a:endParaRPr>
          </a:p>
          <a:p>
            <a:pPr lvl="0"/>
            <a:r>
              <a:rPr lang="en-PK" dirty="0"/>
              <a:t>Generative AI theoretically adapts better to new systems because it skips manual feature engineering—a rigid process that breaks when system formats change. Instead, it learns what "normal" activity looks like to automatically catch unknown, zero-day errors. However, real-world testing proves that Generative AI is too sensitive to background noise. On complex systems like Apache Spark, it gets confused and generates too many false alarms, making traditional supervised models much more reliable in practice.</a:t>
            </a:r>
            <a:r>
              <a:rPr lang="en-PK" sz="1800" dirty="0"/>
              <a:t> </a:t>
            </a:r>
            <a:endParaRPr lang="en-US" sz="1800" dirty="0"/>
          </a:p>
          <a:p>
            <a:pPr lvl="0"/>
            <a:r>
              <a:rPr lang="en-PK" sz="2000" b="1" dirty="0">
                <a:solidFill>
                  <a:srgbClr val="333333"/>
                </a:solidFill>
                <a:latin typeface="Times New Roman" panose="02020603050405020304" pitchFamily="18" charset="0"/>
                <a:cs typeface="Times New Roman" panose="02020603050405020304" pitchFamily="18" charset="0"/>
              </a:rPr>
              <a:t>Could Gen AI outperform traditional unsupervised methods for unknown anomalies?</a:t>
            </a:r>
            <a:endParaRPr lang="en-US" sz="2000" b="1" dirty="0">
              <a:solidFill>
                <a:srgbClr val="333333"/>
              </a:solidFill>
              <a:latin typeface="Times New Roman" panose="02020603050405020304" pitchFamily="18" charset="0"/>
              <a:cs typeface="Times New Roman" panose="02020603050405020304" pitchFamily="18" charset="0"/>
            </a:endParaRPr>
          </a:p>
          <a:p>
            <a:pPr lvl="0">
              <a:lnSpc>
                <a:spcPct val="120000"/>
              </a:lnSpc>
            </a:pPr>
            <a:r>
              <a:rPr lang="en-PK" sz="1800" dirty="0">
                <a:solidFill>
                  <a:srgbClr val="333333"/>
                </a:solidFill>
                <a:latin typeface="Times New Roman" panose="02020603050405020304" pitchFamily="18" charset="0"/>
                <a:cs typeface="Times New Roman" panose="02020603050405020304" pitchFamily="18" charset="0"/>
              </a:rPr>
              <a:t> Generative AI can successfully identify zero-day (unknown) anomalies, achieving strong ROC-AUC scores and providing a valuable baseline through normal-only training. However, it produces massive false positive rates, meaning its overall F1-score is lower, limiting its standalone production readiness. </a:t>
            </a:r>
          </a:p>
          <a:p>
            <a:pPr>
              <a:lnSpc>
                <a:spcPct val="120000"/>
              </a:lnSpc>
            </a:pPr>
            <a:endParaRPr lang="en-PK" sz="18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1716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8C9C-5063-907A-C2DF-6EF13FE98691}"/>
              </a:ext>
            </a:extLst>
          </p:cNvPr>
          <p:cNvSpPr>
            <a:spLocks noGrp="1"/>
          </p:cNvSpPr>
          <p:nvPr>
            <p:ph type="title"/>
          </p:nvPr>
        </p:nvSpPr>
        <p:spPr>
          <a:xfrm>
            <a:off x="1007806" y="651299"/>
            <a:ext cx="9890066" cy="1204593"/>
          </a:xfrm>
        </p:spPr>
        <p:txBody>
          <a:bodyPr>
            <a:normAutofit fontScale="90000"/>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7. Conclusion &amp; Future Work</a:t>
            </a:r>
            <a:br>
              <a:rPr lang="en-US" cap="none" dirty="0">
                <a:latin typeface="Times New Roman" panose="02020603050405020304" pitchFamily="18" charset="0"/>
                <a:cs typeface="Times New Roman" panose="02020603050405020304" pitchFamily="18" charset="0"/>
              </a:rPr>
            </a:br>
            <a:endParaRPr lang="en-PK"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32A02-259D-67B4-F88D-F1D9FD51B78F}"/>
              </a:ext>
            </a:extLst>
          </p:cNvPr>
          <p:cNvSpPr>
            <a:spLocks noGrp="1"/>
          </p:cNvSpPr>
          <p:nvPr>
            <p:ph sz="half" idx="1"/>
          </p:nvPr>
        </p:nvSpPr>
        <p:spPr>
          <a:xfrm>
            <a:off x="1007806" y="1578077"/>
            <a:ext cx="486205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Conclusion (The Trade-Off)</a:t>
            </a:r>
          </a:p>
          <a:p>
            <a:r>
              <a:rPr lang="en-US" sz="1800" b="1" dirty="0">
                <a:latin typeface="Times New Roman" panose="02020603050405020304" pitchFamily="18" charset="0"/>
                <a:cs typeface="Times New Roman" panose="02020603050405020304" pitchFamily="18" charset="0"/>
              </a:rPr>
              <a:t>Traditional ML:</a:t>
            </a:r>
          </a:p>
          <a:p>
            <a:pPr marL="0" indent="0">
              <a:buNone/>
            </a:pPr>
            <a:r>
              <a:rPr lang="en-US" sz="1800" dirty="0">
                <a:latin typeface="Times New Roman" panose="02020603050405020304" pitchFamily="18" charset="0"/>
                <a:cs typeface="Times New Roman" panose="02020603050405020304" pitchFamily="18" charset="0"/>
              </a:rPr>
              <a:t> Near-perfect on structured data, but entirely brittle and requires manual engineering.</a:t>
            </a:r>
          </a:p>
          <a:p>
            <a:r>
              <a:rPr lang="en-US" sz="1800" b="1" dirty="0">
                <a:latin typeface="Times New Roman" panose="02020603050405020304" pitchFamily="18" charset="0"/>
                <a:cs typeface="Times New Roman" panose="02020603050405020304" pitchFamily="18" charset="0"/>
              </a:rPr>
              <a:t>Supervised DL: </a:t>
            </a:r>
          </a:p>
          <a:p>
            <a:pPr marL="0" indent="0">
              <a:buNone/>
            </a:pPr>
            <a:r>
              <a:rPr lang="en-US" sz="1800" dirty="0">
                <a:latin typeface="Times New Roman" panose="02020603050405020304" pitchFamily="18" charset="0"/>
                <a:cs typeface="Times New Roman" panose="02020603050405020304" pitchFamily="18" charset="0"/>
              </a:rPr>
              <a:t>Removes manual extraction but remains highly volatile on noisy logs (e.g., Spark).</a:t>
            </a:r>
          </a:p>
          <a:p>
            <a:r>
              <a:rPr lang="en-US" sz="1800" b="1" dirty="0">
                <a:latin typeface="Times New Roman" panose="02020603050405020304" pitchFamily="18" charset="0"/>
                <a:cs typeface="Times New Roman" panose="02020603050405020304" pitchFamily="18" charset="0"/>
              </a:rPr>
              <a:t>Generative Al: </a:t>
            </a:r>
          </a:p>
          <a:p>
            <a:pPr marL="0" indent="0">
              <a:buNone/>
            </a:pPr>
            <a:r>
              <a:rPr lang="en-US" sz="1800" dirty="0">
                <a:latin typeface="Times New Roman" panose="02020603050405020304" pitchFamily="18" charset="0"/>
                <a:cs typeface="Times New Roman" panose="02020603050405020304" pitchFamily="18" charset="0"/>
              </a:rPr>
              <a:t>Provides a valuable zero-day baseline due to normal-only training, but low raw F1 limits standalone production readiness.</a:t>
            </a:r>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DD13EFB-0B34-F784-D49A-1DE364B87843}"/>
              </a:ext>
            </a:extLst>
          </p:cNvPr>
          <p:cNvSpPr>
            <a:spLocks noGrp="1"/>
          </p:cNvSpPr>
          <p:nvPr>
            <p:ph sz="half" idx="2"/>
          </p:nvPr>
        </p:nvSpPr>
        <p:spPr>
          <a:xfrm>
            <a:off x="6322143" y="1417638"/>
            <a:ext cx="510294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Future Work</a:t>
            </a:r>
          </a:p>
          <a:p>
            <a:r>
              <a:rPr lang="en-US" sz="1800" b="1" dirty="0">
                <a:latin typeface="Times New Roman" panose="02020603050405020304" pitchFamily="18" charset="0"/>
                <a:cs typeface="Times New Roman" panose="02020603050405020304" pitchFamily="18" charset="0"/>
              </a:rPr>
              <a:t>Dynamic Thresholding: </a:t>
            </a:r>
          </a:p>
          <a:p>
            <a:pPr marL="0" indent="0">
              <a:buNone/>
            </a:pPr>
            <a:r>
              <a:rPr lang="en-US" sz="1800" dirty="0">
                <a:latin typeface="Times New Roman" panose="02020603050405020304" pitchFamily="18" charset="0"/>
                <a:cs typeface="Times New Roman" panose="02020603050405020304" pitchFamily="18" charset="0"/>
              </a:rPr>
              <a:t>Implementing Extreme Value Theory (EVT) to adjust reconstruction thresholds and reduce false positives. </a:t>
            </a:r>
          </a:p>
          <a:p>
            <a:r>
              <a:rPr lang="en-US" sz="1800" b="1" dirty="0">
                <a:latin typeface="Times New Roman" panose="02020603050405020304" pitchFamily="18" charset="0"/>
                <a:cs typeface="Times New Roman" panose="02020603050405020304" pitchFamily="18" charset="0"/>
              </a:rPr>
              <a:t>Concept Drift Mitigation: </a:t>
            </a:r>
          </a:p>
          <a:p>
            <a:pPr marL="0" indent="0">
              <a:buNone/>
            </a:pPr>
            <a:r>
              <a:rPr lang="en-US" sz="1800" dirty="0">
                <a:latin typeface="Times New Roman" panose="02020603050405020304" pitchFamily="18" charset="0"/>
                <a:cs typeface="Times New Roman" panose="02020603050405020304" pitchFamily="18" charset="0"/>
              </a:rPr>
              <a:t>Online learning to adapt to evolving log formats in real-time.</a:t>
            </a:r>
          </a:p>
          <a:p>
            <a:r>
              <a:rPr lang="en-US" sz="1800" b="1" dirty="0">
                <a:latin typeface="Times New Roman" panose="02020603050405020304" pitchFamily="18" charset="0"/>
                <a:cs typeface="Times New Roman" panose="02020603050405020304" pitchFamily="18" charset="0"/>
              </a:rPr>
              <a:t>Hybrid Frameworks: </a:t>
            </a:r>
          </a:p>
          <a:p>
            <a:pPr marL="0" indent="0">
              <a:buNone/>
            </a:pPr>
            <a:r>
              <a:rPr lang="en-US" sz="1800" dirty="0">
                <a:latin typeface="Times New Roman" panose="02020603050405020304" pitchFamily="18" charset="0"/>
                <a:cs typeface="Times New Roman" panose="02020603050405020304" pitchFamily="18" charset="0"/>
              </a:rPr>
              <a:t>Developing neuro-symbolic models combining ensemble precision with generative semantic </a:t>
            </a:r>
            <a:r>
              <a:rPr lang="en-US" sz="2000" dirty="0">
                <a:latin typeface="Times New Roman" panose="02020603050405020304" pitchFamily="18" charset="0"/>
                <a:cs typeface="Times New Roman" panose="02020603050405020304" pitchFamily="18" charset="0"/>
              </a:rPr>
              <a:t>understanding</a:t>
            </a:r>
            <a:r>
              <a:rPr lang="en-US" sz="1800" dirty="0">
                <a:latin typeface="Times New Roman" panose="02020603050405020304" pitchFamily="18" charset="0"/>
                <a:cs typeface="Times New Roman" panose="02020603050405020304" pitchFamily="18" charset="0"/>
              </a:rPr>
              <a:t>.</a:t>
            </a:r>
            <a:endParaRPr lang="en-PK"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23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6" name="Google Shape;516;p29"/>
          <p:cNvSpPr txBox="1"/>
          <p:nvPr/>
        </p:nvSpPr>
        <p:spPr>
          <a:xfrm>
            <a:off x="2069562" y="1735484"/>
            <a:ext cx="8052725" cy="80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250" b="1" i="0" u="none" strike="noStrike" cap="none">
                <a:solidFill>
                  <a:srgbClr val="003366"/>
                </a:solidFill>
                <a:latin typeface="Helvetica Neue"/>
                <a:ea typeface="Helvetica Neue"/>
                <a:cs typeface="Helvetica Neue"/>
                <a:sym typeface="Helvetica Neue"/>
              </a:rPr>
              <a:t>Questions &amp; Discussion</a:t>
            </a:r>
            <a:endParaRPr/>
          </a:p>
        </p:txBody>
      </p:sp>
      <p:sp>
        <p:nvSpPr>
          <p:cNvPr id="517" name="Google Shape;517;p29"/>
          <p:cNvSpPr txBox="1"/>
          <p:nvPr/>
        </p:nvSpPr>
        <p:spPr>
          <a:xfrm>
            <a:off x="4059026" y="2726084"/>
            <a:ext cx="4073946"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555555"/>
                </a:solidFill>
                <a:latin typeface="Helvetica Neue"/>
                <a:ea typeface="Helvetica Neue"/>
                <a:cs typeface="Helvetica Neue"/>
                <a:sym typeface="Helvetica Neue"/>
              </a:rPr>
              <a:t>Thank you for your attention.</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460</TotalTime>
  <Words>3132</Words>
  <Application>Microsoft Office PowerPoint</Application>
  <PresentationFormat>Widescreen</PresentationFormat>
  <Paragraphs>389</Paragraphs>
  <Slides>31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Aptos Display</vt:lpstr>
      <vt:lpstr>Arial</vt:lpstr>
      <vt:lpstr>Calibri</vt:lpstr>
      <vt:lpstr>Helvetica Neue</vt:lpstr>
      <vt:lpstr>Inter</vt:lpstr>
      <vt:lpstr>Poppins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Problem Statement &amp; Research Gap</vt:lpstr>
      <vt:lpstr>4. Research Questions &amp; Objectives</vt:lpstr>
      <vt:lpstr>5. Methodology (5-Phase Framework)</vt:lpstr>
      <vt:lpstr>PowerPoint Presentation</vt:lpstr>
      <vt:lpstr>PowerPoint Presentation</vt:lpstr>
      <vt:lpstr>PowerPoint Presentation</vt:lpstr>
      <vt:lpstr>PowerPoint Presentation</vt:lpstr>
      <vt:lpstr>PowerPoint Presentation</vt:lpstr>
      <vt:lpstr>PowerPoint Presentation</vt:lpstr>
      <vt:lpstr>Spark Dataset: Challenges</vt:lpstr>
      <vt:lpstr>Hadoop Dataset: Challenges</vt:lpstr>
      <vt:lpstr>PowerPoint Presentation</vt:lpstr>
      <vt:lpstr>Deconstructing Metrics</vt:lpstr>
      <vt:lpstr>Deconstructing Metrics</vt:lpstr>
      <vt:lpstr>PowerPoint Presentation</vt:lpstr>
      <vt:lpstr>PowerPoint Presentation</vt:lpstr>
      <vt:lpstr>PowerPoint Presentation</vt:lpstr>
      <vt:lpstr>Discussion On Results (Key Takeaways)</vt:lpstr>
      <vt:lpstr>Generative Model Failures</vt:lpstr>
      <vt:lpstr>Thesis Core Finding and My Contribution</vt:lpstr>
      <vt:lpstr>Research Questions Answers</vt:lpstr>
      <vt:lpstr>7. Conclusion &amp; Future Work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ASAD KHAN</dc:creator>
  <cp:keywords/>
  <dc:description>generated using python-pptx</dc:description>
  <cp:lastModifiedBy>ASAD KHAN</cp:lastModifiedBy>
  <cp:revision>4</cp:revision>
  <dcterms:created xsi:type="dcterms:W3CDTF">2013-01-27T09:14:16Z</dcterms:created>
  <dcterms:modified xsi:type="dcterms:W3CDTF">2026-09-12T07:44:44Z</dcterms:modified>
  <cp:category/>
</cp:coreProperties>
</file>