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2" r:id="rId1"/>
  </p:sldMasterIdLst>
  <p:notesMasterIdLst>
    <p:notesMasterId r:id="rId35"/>
  </p:notesMasterIdLst>
  <p:sldIdLst>
    <p:sldId id="280" r:id="rId2"/>
    <p:sldId id="257" r:id="rId3"/>
    <p:sldId id="256" r:id="rId4"/>
    <p:sldId id="258" r:id="rId5"/>
    <p:sldId id="260" r:id="rId6"/>
    <p:sldId id="300" r:id="rId7"/>
    <p:sldId id="259" r:id="rId8"/>
    <p:sldId id="261" r:id="rId9"/>
    <p:sldId id="265" r:id="rId10"/>
    <p:sldId id="267" r:id="rId11"/>
    <p:sldId id="268" r:id="rId12"/>
    <p:sldId id="294" r:id="rId13"/>
    <p:sldId id="295" r:id="rId14"/>
    <p:sldId id="296" r:id="rId15"/>
    <p:sldId id="297" r:id="rId16"/>
    <p:sldId id="269" r:id="rId17"/>
    <p:sldId id="272" r:id="rId18"/>
    <p:sldId id="283" r:id="rId19"/>
    <p:sldId id="284" r:id="rId20"/>
    <p:sldId id="266" r:id="rId21"/>
    <p:sldId id="287" r:id="rId22"/>
    <p:sldId id="298" r:id="rId23"/>
    <p:sldId id="273" r:id="rId24"/>
    <p:sldId id="301" r:id="rId25"/>
    <p:sldId id="302" r:id="rId26"/>
    <p:sldId id="274" r:id="rId27"/>
    <p:sldId id="275" r:id="rId28"/>
    <p:sldId id="271" r:id="rId29"/>
    <p:sldId id="285" r:id="rId30"/>
    <p:sldId id="288" r:id="rId31"/>
    <p:sldId id="299" r:id="rId32"/>
    <p:sldId id="277" r:id="rId33"/>
    <p:sldId id="279" r:id="rId34"/>
  </p:sldIdLst>
  <p:sldSz cx="12192000" cy="6858000"/>
  <p:notesSz cx="6858000" cy="9144000"/>
  <p:defaultTextStyle>
    <a:defPPr>
      <a:defRPr lang="en-P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9935" autoAdjust="0"/>
  </p:normalViewPr>
  <p:slideViewPr>
    <p:cSldViewPr snapToGrid="0" snapToObjects="1">
      <p:cViewPr varScale="1">
        <p:scale>
          <a:sx n="57" d="100"/>
          <a:sy n="57" d="100"/>
        </p:scale>
        <p:origin x="1651"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AD KHAN" userId="be12c95f7d6a9a38" providerId="LiveId" clId="{67E7CF59-C710-4E12-AED3-2F4D9779698B}"/>
    <pc:docChg chg="undo custSel addSld modSld">
      <pc:chgData name="ASAD KHAN" userId="be12c95f7d6a9a38" providerId="LiveId" clId="{67E7CF59-C710-4E12-AED3-2F4D9779698B}" dt="2026-10-22T17:23:19.658" v="162" actId="20577"/>
      <pc:docMkLst>
        <pc:docMk/>
      </pc:docMkLst>
      <pc:sldChg chg="modSp mod">
        <pc:chgData name="ASAD KHAN" userId="be12c95f7d6a9a38" providerId="LiveId" clId="{67E7CF59-C710-4E12-AED3-2F4D9779698B}" dt="2026-10-21T17:53:39.080" v="2" actId="2711"/>
        <pc:sldMkLst>
          <pc:docMk/>
          <pc:sldMk cId="0" sldId="257"/>
        </pc:sldMkLst>
        <pc:spChg chg="mod">
          <ac:chgData name="ASAD KHAN" userId="be12c95f7d6a9a38" providerId="LiveId" clId="{67E7CF59-C710-4E12-AED3-2F4D9779698B}" dt="2026-10-21T17:53:39.080" v="2" actId="2711"/>
          <ac:spMkLst>
            <pc:docMk/>
            <pc:sldMk cId="0" sldId="257"/>
            <ac:spMk id="6" creationId="{E4178636-F758-71A1-FF6E-3B3E8E9A8EEE}"/>
          </ac:spMkLst>
        </pc:spChg>
      </pc:sldChg>
      <pc:sldChg chg="modSp mod">
        <pc:chgData name="ASAD KHAN" userId="be12c95f7d6a9a38" providerId="LiveId" clId="{67E7CF59-C710-4E12-AED3-2F4D9779698B}" dt="2026-10-21T17:52:50.965" v="0" actId="108"/>
        <pc:sldMkLst>
          <pc:docMk/>
          <pc:sldMk cId="0" sldId="260"/>
        </pc:sldMkLst>
        <pc:spChg chg="mod">
          <ac:chgData name="ASAD KHAN" userId="be12c95f7d6a9a38" providerId="LiveId" clId="{67E7CF59-C710-4E12-AED3-2F4D9779698B}" dt="2026-10-21T17:52:50.965" v="0" actId="108"/>
          <ac:spMkLst>
            <pc:docMk/>
            <pc:sldMk cId="0" sldId="260"/>
            <ac:spMk id="5" creationId="{00000000-0000-0000-0000-000000000000}"/>
          </ac:spMkLst>
        </pc:spChg>
      </pc:sldChg>
      <pc:sldChg chg="addSp mod">
        <pc:chgData name="ASAD KHAN" userId="be12c95f7d6a9a38" providerId="LiveId" clId="{67E7CF59-C710-4E12-AED3-2F4D9779698B}" dt="2026-10-21T18:03:57.128" v="21" actId="22"/>
        <pc:sldMkLst>
          <pc:docMk/>
          <pc:sldMk cId="2642565958" sldId="265"/>
        </pc:sldMkLst>
        <pc:spChg chg="add">
          <ac:chgData name="ASAD KHAN" userId="be12c95f7d6a9a38" providerId="LiveId" clId="{67E7CF59-C710-4E12-AED3-2F4D9779698B}" dt="2026-10-21T18:03:57.128" v="21" actId="22"/>
          <ac:spMkLst>
            <pc:docMk/>
            <pc:sldMk cId="2642565958" sldId="265"/>
            <ac:spMk id="5" creationId="{628BCAF3-CA3C-C4CC-D6F7-9D1EA18F5D2A}"/>
          </ac:spMkLst>
        </pc:spChg>
      </pc:sldChg>
      <pc:sldChg chg="addSp mod">
        <pc:chgData name="ASAD KHAN" userId="be12c95f7d6a9a38" providerId="LiveId" clId="{67E7CF59-C710-4E12-AED3-2F4D9779698B}" dt="2026-10-21T18:04:26.557" v="22" actId="22"/>
        <pc:sldMkLst>
          <pc:docMk/>
          <pc:sldMk cId="2793987172" sldId="267"/>
        </pc:sldMkLst>
        <pc:spChg chg="add">
          <ac:chgData name="ASAD KHAN" userId="be12c95f7d6a9a38" providerId="LiveId" clId="{67E7CF59-C710-4E12-AED3-2F4D9779698B}" dt="2026-10-21T18:04:26.557" v="22" actId="22"/>
          <ac:spMkLst>
            <pc:docMk/>
            <pc:sldMk cId="2793987172" sldId="267"/>
            <ac:spMk id="6" creationId="{FB7E6709-51BC-8A04-C5D7-A408F2234D92}"/>
          </ac:spMkLst>
        </pc:spChg>
      </pc:sldChg>
      <pc:sldChg chg="addSp mod">
        <pc:chgData name="ASAD KHAN" userId="be12c95f7d6a9a38" providerId="LiveId" clId="{67E7CF59-C710-4E12-AED3-2F4D9779698B}" dt="2026-10-21T18:05:11.385" v="23" actId="22"/>
        <pc:sldMkLst>
          <pc:docMk/>
          <pc:sldMk cId="2337069013" sldId="268"/>
        </pc:sldMkLst>
        <pc:spChg chg="add">
          <ac:chgData name="ASAD KHAN" userId="be12c95f7d6a9a38" providerId="LiveId" clId="{67E7CF59-C710-4E12-AED3-2F4D9779698B}" dt="2026-10-21T18:05:11.385" v="23" actId="22"/>
          <ac:spMkLst>
            <pc:docMk/>
            <pc:sldMk cId="2337069013" sldId="268"/>
            <ac:spMk id="5" creationId="{07727468-FE66-A38C-7EC6-F98C695376FE}"/>
          </ac:spMkLst>
        </pc:spChg>
      </pc:sldChg>
      <pc:sldChg chg="modSp mod">
        <pc:chgData name="ASAD KHAN" userId="be12c95f7d6a9a38" providerId="LiveId" clId="{67E7CF59-C710-4E12-AED3-2F4D9779698B}" dt="2026-10-21T18:05:46.897" v="24" actId="20577"/>
        <pc:sldMkLst>
          <pc:docMk/>
          <pc:sldMk cId="0" sldId="272"/>
        </pc:sldMkLst>
        <pc:spChg chg="mod">
          <ac:chgData name="ASAD KHAN" userId="be12c95f7d6a9a38" providerId="LiveId" clId="{67E7CF59-C710-4E12-AED3-2F4D9779698B}" dt="2026-10-21T17:55:17.793" v="4" actId="2711"/>
          <ac:spMkLst>
            <pc:docMk/>
            <pc:sldMk cId="0" sldId="272"/>
            <ac:spMk id="298" creationId="{00000000-0000-0000-0000-000000000000}"/>
          </ac:spMkLst>
        </pc:spChg>
        <pc:spChg chg="mod">
          <ac:chgData name="ASAD KHAN" userId="be12c95f7d6a9a38" providerId="LiveId" clId="{67E7CF59-C710-4E12-AED3-2F4D9779698B}" dt="2026-10-21T17:55:17.793" v="4" actId="2711"/>
          <ac:spMkLst>
            <pc:docMk/>
            <pc:sldMk cId="0" sldId="272"/>
            <ac:spMk id="299" creationId="{00000000-0000-0000-0000-000000000000}"/>
          </ac:spMkLst>
        </pc:spChg>
        <pc:spChg chg="mod">
          <ac:chgData name="ASAD KHAN" userId="be12c95f7d6a9a38" providerId="LiveId" clId="{67E7CF59-C710-4E12-AED3-2F4D9779698B}" dt="2026-10-21T17:55:17.793" v="4" actId="2711"/>
          <ac:spMkLst>
            <pc:docMk/>
            <pc:sldMk cId="0" sldId="272"/>
            <ac:spMk id="302" creationId="{00000000-0000-0000-0000-000000000000}"/>
          </ac:spMkLst>
        </pc:spChg>
        <pc:spChg chg="mod">
          <ac:chgData name="ASAD KHAN" userId="be12c95f7d6a9a38" providerId="LiveId" clId="{67E7CF59-C710-4E12-AED3-2F4D9779698B}" dt="2026-10-21T17:55:17.793" v="4" actId="2711"/>
          <ac:spMkLst>
            <pc:docMk/>
            <pc:sldMk cId="0" sldId="272"/>
            <ac:spMk id="303" creationId="{00000000-0000-0000-0000-000000000000}"/>
          </ac:spMkLst>
        </pc:spChg>
        <pc:spChg chg="mod">
          <ac:chgData name="ASAD KHAN" userId="be12c95f7d6a9a38" providerId="LiveId" clId="{67E7CF59-C710-4E12-AED3-2F4D9779698B}" dt="2026-10-21T17:55:17.793" v="4" actId="2711"/>
          <ac:spMkLst>
            <pc:docMk/>
            <pc:sldMk cId="0" sldId="272"/>
            <ac:spMk id="304" creationId="{00000000-0000-0000-0000-000000000000}"/>
          </ac:spMkLst>
        </pc:spChg>
        <pc:spChg chg="mod">
          <ac:chgData name="ASAD KHAN" userId="be12c95f7d6a9a38" providerId="LiveId" clId="{67E7CF59-C710-4E12-AED3-2F4D9779698B}" dt="2026-10-21T17:55:17.793" v="4" actId="2711"/>
          <ac:spMkLst>
            <pc:docMk/>
            <pc:sldMk cId="0" sldId="272"/>
            <ac:spMk id="305" creationId="{00000000-0000-0000-0000-000000000000}"/>
          </ac:spMkLst>
        </pc:spChg>
        <pc:spChg chg="mod">
          <ac:chgData name="ASAD KHAN" userId="be12c95f7d6a9a38" providerId="LiveId" clId="{67E7CF59-C710-4E12-AED3-2F4D9779698B}" dt="2026-10-21T17:55:17.793" v="4" actId="2711"/>
          <ac:spMkLst>
            <pc:docMk/>
            <pc:sldMk cId="0" sldId="272"/>
            <ac:spMk id="306" creationId="{00000000-0000-0000-0000-000000000000}"/>
          </ac:spMkLst>
        </pc:spChg>
        <pc:spChg chg="mod">
          <ac:chgData name="ASAD KHAN" userId="be12c95f7d6a9a38" providerId="LiveId" clId="{67E7CF59-C710-4E12-AED3-2F4D9779698B}" dt="2026-10-21T18:05:46.897" v="24" actId="20577"/>
          <ac:spMkLst>
            <pc:docMk/>
            <pc:sldMk cId="0" sldId="272"/>
            <ac:spMk id="307" creationId="{00000000-0000-0000-0000-000000000000}"/>
          </ac:spMkLst>
        </pc:spChg>
        <pc:spChg chg="mod">
          <ac:chgData name="ASAD KHAN" userId="be12c95f7d6a9a38" providerId="LiveId" clId="{67E7CF59-C710-4E12-AED3-2F4D9779698B}" dt="2026-10-21T17:55:17.793" v="4" actId="2711"/>
          <ac:spMkLst>
            <pc:docMk/>
            <pc:sldMk cId="0" sldId="272"/>
            <ac:spMk id="308" creationId="{00000000-0000-0000-0000-000000000000}"/>
          </ac:spMkLst>
        </pc:spChg>
        <pc:spChg chg="mod">
          <ac:chgData name="ASAD KHAN" userId="be12c95f7d6a9a38" providerId="LiveId" clId="{67E7CF59-C710-4E12-AED3-2F4D9779698B}" dt="2026-10-21T17:55:17.793" v="4" actId="2711"/>
          <ac:spMkLst>
            <pc:docMk/>
            <pc:sldMk cId="0" sldId="272"/>
            <ac:spMk id="309" creationId="{00000000-0000-0000-0000-000000000000}"/>
          </ac:spMkLst>
        </pc:spChg>
        <pc:spChg chg="mod">
          <ac:chgData name="ASAD KHAN" userId="be12c95f7d6a9a38" providerId="LiveId" clId="{67E7CF59-C710-4E12-AED3-2F4D9779698B}" dt="2026-10-21T17:55:17.793" v="4" actId="2711"/>
          <ac:spMkLst>
            <pc:docMk/>
            <pc:sldMk cId="0" sldId="272"/>
            <ac:spMk id="310" creationId="{00000000-0000-0000-0000-000000000000}"/>
          </ac:spMkLst>
        </pc:spChg>
      </pc:sldChg>
      <pc:sldChg chg="delSp modSp mod">
        <pc:chgData name="ASAD KHAN" userId="be12c95f7d6a9a38" providerId="LiveId" clId="{67E7CF59-C710-4E12-AED3-2F4D9779698B}" dt="2026-10-22T17:12:42.419" v="156" actId="1076"/>
        <pc:sldMkLst>
          <pc:docMk/>
          <pc:sldMk cId="0" sldId="273"/>
        </pc:sldMkLst>
        <pc:spChg chg="del mod">
          <ac:chgData name="ASAD KHAN" userId="be12c95f7d6a9a38" providerId="LiveId" clId="{67E7CF59-C710-4E12-AED3-2F4D9779698B}" dt="2026-10-22T17:12:33.090" v="155"/>
          <ac:spMkLst>
            <pc:docMk/>
            <pc:sldMk cId="0" sldId="273"/>
            <ac:spMk id="348" creationId="{00000000-0000-0000-0000-000000000000}"/>
          </ac:spMkLst>
        </pc:spChg>
        <pc:graphicFrameChg chg="mod modGraphic">
          <ac:chgData name="ASAD KHAN" userId="be12c95f7d6a9a38" providerId="LiveId" clId="{67E7CF59-C710-4E12-AED3-2F4D9779698B}" dt="2026-10-22T17:12:42.419" v="156" actId="1076"/>
          <ac:graphicFrameMkLst>
            <pc:docMk/>
            <pc:sldMk cId="0" sldId="273"/>
            <ac:graphicFrameMk id="349" creationId="{00000000-0000-0000-0000-000000000000}"/>
          </ac:graphicFrameMkLst>
        </pc:graphicFrameChg>
      </pc:sldChg>
      <pc:sldChg chg="modSp mod">
        <pc:chgData name="ASAD KHAN" userId="be12c95f7d6a9a38" providerId="LiveId" clId="{67E7CF59-C710-4E12-AED3-2F4D9779698B}" dt="2026-10-21T17:57:14.205" v="12" actId="2711"/>
        <pc:sldMkLst>
          <pc:docMk/>
          <pc:sldMk cId="0" sldId="275"/>
        </pc:sldMkLst>
        <pc:spChg chg="mod">
          <ac:chgData name="ASAD KHAN" userId="be12c95f7d6a9a38" providerId="LiveId" clId="{67E7CF59-C710-4E12-AED3-2F4D9779698B}" dt="2026-10-21T17:57:14.205" v="12" actId="2711"/>
          <ac:spMkLst>
            <pc:docMk/>
            <pc:sldMk cId="0" sldId="275"/>
            <ac:spMk id="424" creationId="{00000000-0000-0000-0000-000000000000}"/>
          </ac:spMkLst>
        </pc:spChg>
        <pc:spChg chg="mod">
          <ac:chgData name="ASAD KHAN" userId="be12c95f7d6a9a38" providerId="LiveId" clId="{67E7CF59-C710-4E12-AED3-2F4D9779698B}" dt="2026-10-21T17:57:14.205" v="12" actId="2711"/>
          <ac:spMkLst>
            <pc:docMk/>
            <pc:sldMk cId="0" sldId="275"/>
            <ac:spMk id="425" creationId="{00000000-0000-0000-0000-000000000000}"/>
          </ac:spMkLst>
        </pc:spChg>
      </pc:sldChg>
      <pc:sldChg chg="modSp mod">
        <pc:chgData name="ASAD KHAN" userId="be12c95f7d6a9a38" providerId="LiveId" clId="{67E7CF59-C710-4E12-AED3-2F4D9779698B}" dt="2026-10-21T17:59:22.156" v="17" actId="2711"/>
        <pc:sldMkLst>
          <pc:docMk/>
          <pc:sldMk cId="0" sldId="279"/>
        </pc:sldMkLst>
        <pc:spChg chg="mod">
          <ac:chgData name="ASAD KHAN" userId="be12c95f7d6a9a38" providerId="LiveId" clId="{67E7CF59-C710-4E12-AED3-2F4D9779698B}" dt="2026-10-21T17:59:22.156" v="17" actId="2711"/>
          <ac:spMkLst>
            <pc:docMk/>
            <pc:sldMk cId="0" sldId="279"/>
            <ac:spMk id="516" creationId="{00000000-0000-0000-0000-000000000000}"/>
          </ac:spMkLst>
        </pc:spChg>
        <pc:spChg chg="mod">
          <ac:chgData name="ASAD KHAN" userId="be12c95f7d6a9a38" providerId="LiveId" clId="{67E7CF59-C710-4E12-AED3-2F4D9779698B}" dt="2026-10-21T17:59:22.156" v="17" actId="2711"/>
          <ac:spMkLst>
            <pc:docMk/>
            <pc:sldMk cId="0" sldId="279"/>
            <ac:spMk id="517" creationId="{00000000-0000-0000-0000-000000000000}"/>
          </ac:spMkLst>
        </pc:spChg>
      </pc:sldChg>
      <pc:sldChg chg="modSp mod">
        <pc:chgData name="ASAD KHAN" userId="be12c95f7d6a9a38" providerId="LiveId" clId="{67E7CF59-C710-4E12-AED3-2F4D9779698B}" dt="2026-10-21T17:53:29.965" v="1" actId="2711"/>
        <pc:sldMkLst>
          <pc:docMk/>
          <pc:sldMk cId="0" sldId="280"/>
        </pc:sldMkLst>
        <pc:spChg chg="mod">
          <ac:chgData name="ASAD KHAN" userId="be12c95f7d6a9a38" providerId="LiveId" clId="{67E7CF59-C710-4E12-AED3-2F4D9779698B}" dt="2026-10-21T17:53:29.965" v="1" actId="2711"/>
          <ac:spMkLst>
            <pc:docMk/>
            <pc:sldMk cId="0" sldId="280"/>
            <ac:spMk id="84" creationId="{00000000-0000-0000-0000-000000000000}"/>
          </ac:spMkLst>
        </pc:spChg>
        <pc:spChg chg="mod">
          <ac:chgData name="ASAD KHAN" userId="be12c95f7d6a9a38" providerId="LiveId" clId="{67E7CF59-C710-4E12-AED3-2F4D9779698B}" dt="2026-10-21T17:53:29.965" v="1" actId="2711"/>
          <ac:spMkLst>
            <pc:docMk/>
            <pc:sldMk cId="0" sldId="280"/>
            <ac:spMk id="85" creationId="{00000000-0000-0000-0000-000000000000}"/>
          </ac:spMkLst>
        </pc:spChg>
        <pc:spChg chg="mod">
          <ac:chgData name="ASAD KHAN" userId="be12c95f7d6a9a38" providerId="LiveId" clId="{67E7CF59-C710-4E12-AED3-2F4D9779698B}" dt="2026-10-21T17:53:29.965" v="1" actId="2711"/>
          <ac:spMkLst>
            <pc:docMk/>
            <pc:sldMk cId="0" sldId="280"/>
            <ac:spMk id="86" creationId="{00000000-0000-0000-0000-000000000000}"/>
          </ac:spMkLst>
        </pc:spChg>
      </pc:sldChg>
      <pc:sldChg chg="modSp mod">
        <pc:chgData name="ASAD KHAN" userId="be12c95f7d6a9a38" providerId="LiveId" clId="{67E7CF59-C710-4E12-AED3-2F4D9779698B}" dt="2026-10-21T17:55:26.137" v="5" actId="2711"/>
        <pc:sldMkLst>
          <pc:docMk/>
          <pc:sldMk cId="2580520430" sldId="283"/>
        </pc:sldMkLst>
        <pc:spChg chg="mod">
          <ac:chgData name="ASAD KHAN" userId="be12c95f7d6a9a38" providerId="LiveId" clId="{67E7CF59-C710-4E12-AED3-2F4D9779698B}" dt="2026-10-21T17:55:26.137" v="5" actId="2711"/>
          <ac:spMkLst>
            <pc:docMk/>
            <pc:sldMk cId="2580520430" sldId="283"/>
            <ac:spMk id="2" creationId="{0A2960C6-D2CC-6CDE-39B1-6FB22D15FD52}"/>
          </ac:spMkLst>
        </pc:spChg>
        <pc:spChg chg="mod">
          <ac:chgData name="ASAD KHAN" userId="be12c95f7d6a9a38" providerId="LiveId" clId="{67E7CF59-C710-4E12-AED3-2F4D9779698B}" dt="2026-10-21T17:55:26.137" v="5" actId="2711"/>
          <ac:spMkLst>
            <pc:docMk/>
            <pc:sldMk cId="2580520430" sldId="283"/>
            <ac:spMk id="3" creationId="{99FD89AF-3600-4152-7D05-8DE424F81DC4}"/>
          </ac:spMkLst>
        </pc:spChg>
        <pc:spChg chg="mod">
          <ac:chgData name="ASAD KHAN" userId="be12c95f7d6a9a38" providerId="LiveId" clId="{67E7CF59-C710-4E12-AED3-2F4D9779698B}" dt="2026-10-21T17:55:26.137" v="5" actId="2711"/>
          <ac:spMkLst>
            <pc:docMk/>
            <pc:sldMk cId="2580520430" sldId="283"/>
            <ac:spMk id="7" creationId="{1EFD6051-2A25-F8AC-FA3B-A03F725B27AD}"/>
          </ac:spMkLst>
        </pc:spChg>
      </pc:sldChg>
      <pc:sldChg chg="modNotesTx">
        <pc:chgData name="ASAD KHAN" userId="be12c95f7d6a9a38" providerId="LiveId" clId="{67E7CF59-C710-4E12-AED3-2F4D9779698B}" dt="2026-10-22T17:23:19.658" v="162" actId="20577"/>
        <pc:sldMkLst>
          <pc:docMk/>
          <pc:sldMk cId="2663058148" sldId="285"/>
        </pc:sldMkLst>
      </pc:sldChg>
      <pc:sldChg chg="addSp delSp modSp mod">
        <pc:chgData name="ASAD KHAN" userId="be12c95f7d6a9a38" providerId="LiveId" clId="{67E7CF59-C710-4E12-AED3-2F4D9779698B}" dt="2026-10-21T17:55:59.654" v="9"/>
        <pc:sldMkLst>
          <pc:docMk/>
          <pc:sldMk cId="1246334099" sldId="287"/>
        </pc:sldMkLst>
        <pc:spChg chg="add del mod">
          <ac:chgData name="ASAD KHAN" userId="be12c95f7d6a9a38" providerId="LiveId" clId="{67E7CF59-C710-4E12-AED3-2F4D9779698B}" dt="2026-10-21T17:55:59.654" v="9"/>
          <ac:spMkLst>
            <pc:docMk/>
            <pc:sldMk cId="1246334099" sldId="287"/>
            <ac:spMk id="4" creationId="{8FD6697D-3BF7-1E3C-442D-6C40D6DE1C04}"/>
          </ac:spMkLst>
        </pc:spChg>
      </pc:sldChg>
      <pc:sldChg chg="addSp delSp modSp mod">
        <pc:chgData name="ASAD KHAN" userId="be12c95f7d6a9a38" providerId="LiveId" clId="{67E7CF59-C710-4E12-AED3-2F4D9779698B}" dt="2026-10-21T18:34:18.094" v="88" actId="20577"/>
        <pc:sldMkLst>
          <pc:docMk/>
          <pc:sldMk cId="1693836063" sldId="288"/>
        </pc:sldMkLst>
        <pc:spChg chg="mod">
          <ac:chgData name="ASAD KHAN" userId="be12c95f7d6a9a38" providerId="LiveId" clId="{67E7CF59-C710-4E12-AED3-2F4D9779698B}" dt="2026-10-21T18:34:18.094" v="88" actId="20577"/>
          <ac:spMkLst>
            <pc:docMk/>
            <pc:sldMk cId="1693836063" sldId="288"/>
            <ac:spMk id="3" creationId="{2A8AE484-9237-DF21-1810-6D7EE503F318}"/>
          </ac:spMkLst>
        </pc:spChg>
        <pc:spChg chg="add del mod">
          <ac:chgData name="ASAD KHAN" userId="be12c95f7d6a9a38" providerId="LiveId" clId="{67E7CF59-C710-4E12-AED3-2F4D9779698B}" dt="2026-10-21T18:33:13.018" v="78" actId="478"/>
          <ac:spMkLst>
            <pc:docMk/>
            <pc:sldMk cId="1693836063" sldId="288"/>
            <ac:spMk id="4" creationId="{3A793BC5-451D-D466-E69C-5697A4020DA8}"/>
          </ac:spMkLst>
        </pc:spChg>
      </pc:sldChg>
      <pc:sldChg chg="modSp mod">
        <pc:chgData name="ASAD KHAN" userId="be12c95f7d6a9a38" providerId="LiveId" clId="{67E7CF59-C710-4E12-AED3-2F4D9779698B}" dt="2026-10-21T18:36:27.520" v="91" actId="20578"/>
        <pc:sldMkLst>
          <pc:docMk/>
          <pc:sldMk cId="1555171605" sldId="299"/>
        </pc:sldMkLst>
        <pc:spChg chg="mod">
          <ac:chgData name="ASAD KHAN" userId="be12c95f7d6a9a38" providerId="LiveId" clId="{67E7CF59-C710-4E12-AED3-2F4D9779698B}" dt="2026-10-21T18:35:36.055" v="89" actId="14100"/>
          <ac:spMkLst>
            <pc:docMk/>
            <pc:sldMk cId="1555171605" sldId="299"/>
            <ac:spMk id="2" creationId="{610102FA-770B-E2BA-E183-3C5B45D86DD3}"/>
          </ac:spMkLst>
        </pc:spChg>
        <pc:spChg chg="mod">
          <ac:chgData name="ASAD KHAN" userId="be12c95f7d6a9a38" providerId="LiveId" clId="{67E7CF59-C710-4E12-AED3-2F4D9779698B}" dt="2026-10-21T18:36:27.520" v="91" actId="20578"/>
          <ac:spMkLst>
            <pc:docMk/>
            <pc:sldMk cId="1555171605" sldId="299"/>
            <ac:spMk id="3" creationId="{329FD8A7-2492-7883-4283-EE27FEBBD6F7}"/>
          </ac:spMkLst>
        </pc:spChg>
      </pc:sldChg>
      <pc:sldChg chg="addSp modSp mod">
        <pc:chgData name="ASAD KHAN" userId="be12c95f7d6a9a38" providerId="LiveId" clId="{67E7CF59-C710-4E12-AED3-2F4D9779698B}" dt="2026-10-21T18:03:35.583" v="20" actId="1076"/>
        <pc:sldMkLst>
          <pc:docMk/>
          <pc:sldMk cId="2055988059" sldId="300"/>
        </pc:sldMkLst>
        <pc:spChg chg="mod">
          <ac:chgData name="ASAD KHAN" userId="be12c95f7d6a9a38" providerId="LiveId" clId="{67E7CF59-C710-4E12-AED3-2F4D9779698B}" dt="2026-10-21T18:03:35.583" v="20" actId="1076"/>
          <ac:spMkLst>
            <pc:docMk/>
            <pc:sldMk cId="2055988059" sldId="300"/>
            <ac:spMk id="3" creationId="{5F637F57-6E5A-CAA4-DAD4-56B11923E843}"/>
          </ac:spMkLst>
        </pc:spChg>
        <pc:spChg chg="add mod">
          <ac:chgData name="ASAD KHAN" userId="be12c95f7d6a9a38" providerId="LiveId" clId="{67E7CF59-C710-4E12-AED3-2F4D9779698B}" dt="2026-10-21T18:03:32.279" v="19" actId="1076"/>
          <ac:spMkLst>
            <pc:docMk/>
            <pc:sldMk cId="2055988059" sldId="300"/>
            <ac:spMk id="5" creationId="{AB247087-84A3-3228-B3BD-4E67ABF11A00}"/>
          </ac:spMkLst>
        </pc:spChg>
      </pc:sldChg>
      <pc:sldChg chg="addSp modSp new mod">
        <pc:chgData name="ASAD KHAN" userId="be12c95f7d6a9a38" providerId="LiveId" clId="{67E7CF59-C710-4E12-AED3-2F4D9779698B}" dt="2026-10-22T16:56:10.423" v="150" actId="14100"/>
        <pc:sldMkLst>
          <pc:docMk/>
          <pc:sldMk cId="3235812068" sldId="301"/>
        </pc:sldMkLst>
        <pc:spChg chg="add mod">
          <ac:chgData name="ASAD KHAN" userId="be12c95f7d6a9a38" providerId="LiveId" clId="{67E7CF59-C710-4E12-AED3-2F4D9779698B}" dt="2026-10-22T16:50:42.837" v="115" actId="1076"/>
          <ac:spMkLst>
            <pc:docMk/>
            <pc:sldMk cId="3235812068" sldId="301"/>
            <ac:spMk id="4" creationId="{F326E8B8-8AD8-A479-9D98-11447291E9D5}"/>
          </ac:spMkLst>
        </pc:spChg>
        <pc:spChg chg="add mod">
          <ac:chgData name="ASAD KHAN" userId="be12c95f7d6a9a38" providerId="LiveId" clId="{67E7CF59-C710-4E12-AED3-2F4D9779698B}" dt="2026-10-22T16:50:52.099" v="117" actId="1076"/>
          <ac:spMkLst>
            <pc:docMk/>
            <pc:sldMk cId="3235812068" sldId="301"/>
            <ac:spMk id="6" creationId="{599C8E1E-7888-E17A-F226-239028A9CEA5}"/>
          </ac:spMkLst>
        </pc:spChg>
        <pc:graphicFrameChg chg="add mod modGraphic">
          <ac:chgData name="ASAD KHAN" userId="be12c95f7d6a9a38" providerId="LiveId" clId="{67E7CF59-C710-4E12-AED3-2F4D9779698B}" dt="2026-10-22T16:56:10.423" v="150" actId="14100"/>
          <ac:graphicFrameMkLst>
            <pc:docMk/>
            <pc:sldMk cId="3235812068" sldId="301"/>
            <ac:graphicFrameMk id="2" creationId="{333ED372-C9EE-5F17-79B9-7E01C064D8CF}"/>
          </ac:graphicFrameMkLst>
        </pc:graphicFrameChg>
      </pc:sldChg>
      <pc:sldChg chg="addSp modSp new mod modNotesTx">
        <pc:chgData name="ASAD KHAN" userId="be12c95f7d6a9a38" providerId="LiveId" clId="{67E7CF59-C710-4E12-AED3-2F4D9779698B}" dt="2026-10-22T17:18:51.395" v="160" actId="20577"/>
        <pc:sldMkLst>
          <pc:docMk/>
          <pc:sldMk cId="507702667" sldId="302"/>
        </pc:sldMkLst>
        <pc:spChg chg="add mod">
          <ac:chgData name="ASAD KHAN" userId="be12c95f7d6a9a38" providerId="LiveId" clId="{67E7CF59-C710-4E12-AED3-2F4D9779698B}" dt="2026-10-22T16:55:55.405" v="148" actId="108"/>
          <ac:spMkLst>
            <pc:docMk/>
            <pc:sldMk cId="507702667" sldId="302"/>
            <ac:spMk id="4" creationId="{F7197D80-E5BF-0C81-D0A6-039EB213621C}"/>
          </ac:spMkLst>
        </pc:spChg>
        <pc:spChg chg="add">
          <ac:chgData name="ASAD KHAN" userId="be12c95f7d6a9a38" providerId="LiveId" clId="{67E7CF59-C710-4E12-AED3-2F4D9779698B}" dt="2026-10-22T16:55:26.440" v="143" actId="22"/>
          <ac:spMkLst>
            <pc:docMk/>
            <pc:sldMk cId="507702667" sldId="302"/>
            <ac:spMk id="6" creationId="{D1B1E8FB-9B09-43FE-F863-8D7E57E8D419}"/>
          </ac:spMkLst>
        </pc:spChg>
        <pc:graphicFrameChg chg="add mod modGraphic">
          <ac:chgData name="ASAD KHAN" userId="be12c95f7d6a9a38" providerId="LiveId" clId="{67E7CF59-C710-4E12-AED3-2F4D9779698B}" dt="2026-10-22T17:18:42.205" v="159" actId="20577"/>
          <ac:graphicFrameMkLst>
            <pc:docMk/>
            <pc:sldMk cId="507702667" sldId="302"/>
            <ac:graphicFrameMk id="2" creationId="{2C96BE19-12A2-7D02-44E2-36832A38C543}"/>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C3B383-6A14-46AB-A7DE-742B15C33F9E}" type="datetimeFigureOut">
              <a:rPr lang="en-PK" smtClean="0"/>
              <a:t>22/10/2026</a:t>
            </a:fld>
            <a:endParaRPr lang="en-P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35007E-B1A3-4106-B116-89CDED5B7D80}" type="slidenum">
              <a:rPr lang="en-PK" smtClean="0"/>
              <a:t>‹#›</a:t>
            </a:fld>
            <a:endParaRPr lang="en-PK"/>
          </a:p>
        </p:txBody>
      </p:sp>
    </p:spTree>
    <p:extLst>
      <p:ext uri="{BB962C8B-B14F-4D97-AF65-F5344CB8AC3E}">
        <p14:creationId xmlns:p14="http://schemas.microsoft.com/office/powerpoint/2010/main" val="753911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a:t>
            </a:r>
            <a:r>
              <a:rPr lang="en-US" dirty="0" err="1"/>
              <a:t>LogHub</a:t>
            </a:r>
            <a:r>
              <a:rPr lang="en-US" dirty="0"/>
              <a:t> Dataset (</a:t>
            </a:r>
            <a:r>
              <a:rPr lang="en-US" dirty="0" err="1"/>
              <a:t>LogHub</a:t>
            </a:r>
            <a:r>
              <a:rPr lang="en-US" dirty="0"/>
              <a:t>-AIOps)</a:t>
            </a:r>
          </a:p>
          <a:p>
            <a:endParaRPr lang="en-US" dirty="0"/>
          </a:p>
          <a:p>
            <a:r>
              <a:rPr lang="en-US" dirty="0"/>
              <a:t>URL: https://github.com/logpai/loghub</a:t>
            </a:r>
          </a:p>
          <a:p>
            <a:endParaRPr lang="en-US" dirty="0"/>
          </a:p>
          <a:p>
            <a:r>
              <a:rPr lang="en-US" dirty="0"/>
              <a:t>Description: 16 real-world system and application log datasets from large-scale systems (HDFS, Hadoop, BGL, OpenStack, Spark, etc.).</a:t>
            </a:r>
          </a:p>
          <a:p>
            <a:endParaRPr lang="en-US" dirty="0"/>
          </a:p>
          <a:p>
            <a:r>
              <a:rPr lang="en-US" dirty="0"/>
              <a:t>Usefulness:</a:t>
            </a:r>
          </a:p>
          <a:p>
            <a:endParaRPr lang="en-US" dirty="0"/>
          </a:p>
          <a:p>
            <a:r>
              <a:rPr lang="en-US" dirty="0"/>
              <a:t>Ideal for log parsing, event correlation, and root cause analysis.</a:t>
            </a:r>
          </a:p>
          <a:p>
            <a:endParaRPr lang="en-US" dirty="0"/>
          </a:p>
          <a:p>
            <a:r>
              <a:rPr lang="en-US" dirty="0"/>
              <a:t>Used extensively in AIOps research for anomaly detection.</a:t>
            </a:r>
          </a:p>
          <a:p>
            <a:endParaRPr lang="en-US" dirty="0"/>
          </a:p>
          <a:p>
            <a:r>
              <a:rPr lang="en-US" dirty="0"/>
              <a:t>Format: Raw logs (timestamped), annotated anomaly labels for some datasets.</a:t>
            </a:r>
          </a:p>
          <a:p>
            <a:endParaRPr lang="en-US" dirty="0"/>
          </a:p>
          <a:p>
            <a:r>
              <a:rPr lang="en-US" dirty="0"/>
              <a:t>Example Research: "Loghub: A Large Collection of System Log Datasets towards AI-driven Log Analytics" (IEEE TDSC, 2023)</a:t>
            </a:r>
            <a:endParaRPr lang="en-PK" dirty="0"/>
          </a:p>
        </p:txBody>
      </p:sp>
      <p:sp>
        <p:nvSpPr>
          <p:cNvPr id="4" name="Slide Number Placeholder 3"/>
          <p:cNvSpPr>
            <a:spLocks noGrp="1"/>
          </p:cNvSpPr>
          <p:nvPr>
            <p:ph type="sldNum" sz="quarter" idx="5"/>
          </p:nvPr>
        </p:nvSpPr>
        <p:spPr/>
        <p:txBody>
          <a:bodyPr/>
          <a:lstStyle/>
          <a:p>
            <a:fld id="{DB35007E-B1A3-4106-B116-89CDED5B7D80}" type="slidenum">
              <a:rPr lang="en-PK" smtClean="0"/>
              <a:t>12</a:t>
            </a:fld>
            <a:endParaRPr lang="en-PK"/>
          </a:p>
        </p:txBody>
      </p:sp>
    </p:spTree>
    <p:extLst>
      <p:ext uri="{BB962C8B-B14F-4D97-AF65-F5344CB8AC3E}">
        <p14:creationId xmlns:p14="http://schemas.microsoft.com/office/powerpoint/2010/main" val="34451760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2" name="Google Shape;292;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3" name="Google Shape;313;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43" name="Google Shape;343;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K" sz="1200" b="1" kern="1200" dirty="0">
                <a:solidFill>
                  <a:schemeClr val="tx1"/>
                </a:solidFill>
                <a:effectLst/>
                <a:latin typeface="+mn-lt"/>
                <a:ea typeface="+mn-ea"/>
                <a:cs typeface="+mn-cs"/>
              </a:rPr>
              <a:t>Root Cause — Data Leakage</a:t>
            </a:r>
          </a:p>
          <a:p>
            <a:r>
              <a:rPr lang="en-PK" sz="1200" b="1" kern="1200" dirty="0">
                <a:solidFill>
                  <a:schemeClr val="tx1"/>
                </a:solidFill>
                <a:effectLst/>
                <a:latin typeface="+mn-lt"/>
                <a:ea typeface="+mn-ea"/>
                <a:cs typeface="+mn-cs"/>
              </a:rPr>
              <a:t>Following features are used in Code :</a:t>
            </a:r>
            <a:endParaRPr lang="en-PK" sz="1200" kern="1200" dirty="0">
              <a:solidFill>
                <a:schemeClr val="tx1"/>
              </a:solidFill>
              <a:effectLst/>
              <a:latin typeface="+mn-lt"/>
              <a:ea typeface="+mn-ea"/>
              <a:cs typeface="+mn-cs"/>
            </a:endParaRPr>
          </a:p>
          <a:p>
            <a:r>
              <a:rPr lang="en-PK" sz="1200" kern="1200" dirty="0">
                <a:solidFill>
                  <a:schemeClr val="tx1"/>
                </a:solidFill>
                <a:effectLst/>
                <a:latin typeface="+mn-lt"/>
                <a:ea typeface="+mn-ea"/>
                <a:cs typeface="+mn-cs"/>
              </a:rPr>
              <a:t>features = ['</a:t>
            </a:r>
            <a:r>
              <a:rPr lang="en-PK" sz="1200" kern="1200" dirty="0" err="1">
                <a:solidFill>
                  <a:schemeClr val="tx1"/>
                </a:solidFill>
                <a:effectLst/>
                <a:latin typeface="+mn-lt"/>
                <a:ea typeface="+mn-ea"/>
                <a:cs typeface="+mn-cs"/>
              </a:rPr>
              <a:t>cluster_id</a:t>
            </a:r>
            <a:r>
              <a:rPr lang="en-PK" sz="1200" kern="1200" dirty="0">
                <a:solidFill>
                  <a:schemeClr val="tx1"/>
                </a:solidFill>
                <a:effectLst/>
                <a:latin typeface="+mn-lt"/>
                <a:ea typeface="+mn-ea"/>
                <a:cs typeface="+mn-cs"/>
              </a:rPr>
              <a:t>', '</a:t>
            </a:r>
            <a:r>
              <a:rPr lang="en-PK" sz="1200" kern="1200" dirty="0" err="1">
                <a:solidFill>
                  <a:schemeClr val="tx1"/>
                </a:solidFill>
                <a:effectLst/>
                <a:latin typeface="+mn-lt"/>
                <a:ea typeface="+mn-ea"/>
                <a:cs typeface="+mn-cs"/>
              </a:rPr>
              <a:t>app_id_enc</a:t>
            </a:r>
            <a:r>
              <a:rPr lang="en-PK" sz="1200" kern="1200" dirty="0">
                <a:solidFill>
                  <a:schemeClr val="tx1"/>
                </a:solidFill>
                <a:effectLst/>
                <a:latin typeface="+mn-lt"/>
                <a:ea typeface="+mn-ea"/>
                <a:cs typeface="+mn-cs"/>
              </a:rPr>
              <a:t>', '</a:t>
            </a:r>
            <a:r>
              <a:rPr lang="en-PK" sz="1200" kern="1200" dirty="0" err="1">
                <a:solidFill>
                  <a:schemeClr val="tx1"/>
                </a:solidFill>
                <a:effectLst/>
                <a:latin typeface="+mn-lt"/>
                <a:ea typeface="+mn-ea"/>
                <a:cs typeface="+mn-cs"/>
              </a:rPr>
              <a:t>container_id_enc</a:t>
            </a:r>
            <a:r>
              <a:rPr lang="en-PK" sz="1200" kern="1200" dirty="0">
                <a:solidFill>
                  <a:schemeClr val="tx1"/>
                </a:solidFill>
                <a:effectLst/>
                <a:latin typeface="+mn-lt"/>
                <a:ea typeface="+mn-ea"/>
                <a:cs typeface="+mn-cs"/>
              </a:rPr>
              <a:t>']</a:t>
            </a:r>
          </a:p>
          <a:p>
            <a:r>
              <a:rPr lang="en-PK" sz="1200" kern="1200" dirty="0">
                <a:solidFill>
                  <a:schemeClr val="tx1"/>
                </a:solidFill>
                <a:effectLst/>
                <a:latin typeface="+mn-lt"/>
                <a:ea typeface="+mn-ea"/>
                <a:cs typeface="+mn-cs"/>
              </a:rPr>
              <a:t> </a:t>
            </a:r>
          </a:p>
          <a:p>
            <a:pPr lvl="0"/>
            <a:r>
              <a:rPr lang="en-PK" sz="1200" kern="1200" dirty="0" err="1">
                <a:solidFill>
                  <a:schemeClr val="tx1"/>
                </a:solidFill>
                <a:effectLst/>
                <a:latin typeface="+mn-lt"/>
                <a:ea typeface="+mn-ea"/>
                <a:cs typeface="+mn-cs"/>
              </a:rPr>
              <a:t>app_id_enc</a:t>
            </a:r>
            <a:r>
              <a:rPr lang="en-PK" sz="1200" kern="1200" dirty="0">
                <a:solidFill>
                  <a:schemeClr val="tx1"/>
                </a:solidFill>
                <a:effectLst/>
                <a:latin typeface="+mn-lt"/>
                <a:ea typeface="+mn-ea"/>
                <a:cs typeface="+mn-cs"/>
              </a:rPr>
              <a:t> and </a:t>
            </a:r>
            <a:r>
              <a:rPr lang="en-PK" sz="1200" kern="1200" dirty="0" err="1">
                <a:solidFill>
                  <a:schemeClr val="tx1"/>
                </a:solidFill>
                <a:effectLst/>
                <a:latin typeface="+mn-lt"/>
                <a:ea typeface="+mn-ea"/>
                <a:cs typeface="+mn-cs"/>
              </a:rPr>
              <a:t>container_id_enc</a:t>
            </a:r>
            <a:r>
              <a:rPr lang="en-PK" sz="1200" kern="1200" dirty="0">
                <a:solidFill>
                  <a:schemeClr val="tx1"/>
                </a:solidFill>
                <a:effectLst/>
                <a:latin typeface="+mn-lt"/>
                <a:ea typeface="+mn-ea"/>
                <a:cs typeface="+mn-cs"/>
              </a:rPr>
              <a:t> are linked directly with labels</a:t>
            </a:r>
          </a:p>
          <a:p>
            <a:pPr lvl="0"/>
            <a:r>
              <a:rPr lang="en-PK" sz="1200" kern="1200" dirty="0" err="1">
                <a:solidFill>
                  <a:schemeClr val="tx1"/>
                </a:solidFill>
                <a:effectLst/>
                <a:latin typeface="+mn-lt"/>
                <a:ea typeface="+mn-ea"/>
                <a:cs typeface="+mn-cs"/>
              </a:rPr>
              <a:t>Labeling</a:t>
            </a:r>
            <a:r>
              <a:rPr lang="en-PK" sz="1200" kern="1200" dirty="0">
                <a:solidFill>
                  <a:schemeClr val="tx1"/>
                </a:solidFill>
                <a:effectLst/>
                <a:latin typeface="+mn-lt"/>
                <a:ea typeface="+mn-ea"/>
                <a:cs typeface="+mn-cs"/>
              </a:rPr>
              <a:t> in Hadoop is per application — app_0001 = always anomaly, app_0002 = always normal Model sees </a:t>
            </a:r>
            <a:r>
              <a:rPr lang="en-PK" sz="1200" kern="1200" dirty="0" err="1">
                <a:solidFill>
                  <a:schemeClr val="tx1"/>
                </a:solidFill>
                <a:effectLst/>
                <a:latin typeface="+mn-lt"/>
                <a:ea typeface="+mn-ea"/>
                <a:cs typeface="+mn-cs"/>
              </a:rPr>
              <a:t>app_id</a:t>
            </a:r>
            <a:r>
              <a:rPr lang="en-PK" sz="1200" kern="1200" dirty="0">
                <a:solidFill>
                  <a:schemeClr val="tx1"/>
                </a:solidFill>
                <a:effectLst/>
                <a:latin typeface="+mn-lt"/>
                <a:ea typeface="+mn-ea"/>
                <a:cs typeface="+mn-cs"/>
              </a:rPr>
              <a:t> and predict label — not learnt the actual log pattern</a:t>
            </a:r>
          </a:p>
          <a:p>
            <a:r>
              <a:rPr lang="en-PK" sz="1200" kern="1200" dirty="0">
                <a:solidFill>
                  <a:schemeClr val="tx1"/>
                </a:solidFill>
                <a:effectLst/>
                <a:latin typeface="+mn-lt"/>
                <a:ea typeface="+mn-ea"/>
                <a:cs typeface="+mn-cs"/>
              </a:rPr>
              <a:t>      •    This was a feature leakage — not intentional, a limitation of the data set</a:t>
            </a:r>
          </a:p>
          <a:p>
            <a:pPr marL="0" marR="0" lvl="0" indent="0" algn="l" defTabSz="914400" rtl="0" eaLnBrk="1" fontAlgn="auto" latinLnBrk="0" hangingPunct="1">
              <a:lnSpc>
                <a:spcPct val="100000"/>
              </a:lnSpc>
              <a:spcBef>
                <a:spcPts val="0"/>
              </a:spcBef>
              <a:spcAft>
                <a:spcPts val="0"/>
              </a:spcAft>
              <a:buClrTx/>
              <a:buSzTx/>
              <a:buFontTx/>
              <a:buNone/>
              <a:tabLst/>
              <a:defRPr/>
            </a:pPr>
            <a:r>
              <a:rPr lang="en-PK" sz="1200" i="1" kern="1200" dirty="0">
                <a:solidFill>
                  <a:schemeClr val="tx1"/>
                </a:solidFill>
                <a:effectLst/>
                <a:latin typeface="+mn-lt"/>
                <a:ea typeface="+mn-ea"/>
                <a:cs typeface="+mn-cs"/>
              </a:rPr>
              <a:t>IF the data was wrong then all models will for sure give 1.0— But Isolation Forest 0.20 and SVM 0.23 gave. Only Random Forest caught </a:t>
            </a:r>
            <a:r>
              <a:rPr lang="en-PK" sz="1200" i="1" kern="1200" dirty="0" err="1">
                <a:solidFill>
                  <a:schemeClr val="tx1"/>
                </a:solidFill>
                <a:effectLst/>
                <a:latin typeface="+mn-lt"/>
                <a:ea typeface="+mn-ea"/>
                <a:cs typeface="+mn-cs"/>
              </a:rPr>
              <a:t>app_id</a:t>
            </a:r>
            <a:r>
              <a:rPr lang="en-PK" sz="1200" i="1" kern="1200" dirty="0">
                <a:solidFill>
                  <a:schemeClr val="tx1"/>
                </a:solidFill>
                <a:effectLst/>
                <a:latin typeface="+mn-lt"/>
                <a:ea typeface="+mn-ea"/>
                <a:cs typeface="+mn-cs"/>
              </a:rPr>
              <a:t> pattern —</a:t>
            </a:r>
            <a:r>
              <a:rPr lang="en-PK" sz="1200" kern="1200" dirty="0">
                <a:solidFill>
                  <a:schemeClr val="tx1"/>
                </a:solidFill>
                <a:effectLst/>
                <a:latin typeface="+mn-lt"/>
                <a:ea typeface="+mn-ea"/>
                <a:cs typeface="+mn-cs"/>
              </a:rPr>
              <a:t> </a:t>
            </a:r>
            <a:r>
              <a:rPr lang="en-PK" sz="1200" i="1" kern="1200" dirty="0">
                <a:solidFill>
                  <a:schemeClr val="tx1"/>
                </a:solidFill>
                <a:effectLst/>
                <a:latin typeface="+mn-lt"/>
                <a:ea typeface="+mn-ea"/>
                <a:cs typeface="+mn-cs"/>
              </a:rPr>
              <a:t>it was model sensitivity leakage!</a:t>
            </a:r>
            <a:endParaRPr lang="en-PK" sz="1200" kern="1200" dirty="0">
              <a:solidFill>
                <a:schemeClr val="tx1"/>
              </a:solidFill>
              <a:effectLst/>
              <a:latin typeface="+mn-lt"/>
              <a:ea typeface="+mn-ea"/>
              <a:cs typeface="+mn-cs"/>
            </a:endParaRP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PK" sz="1200" i="1" kern="1200" dirty="0">
                <a:solidFill>
                  <a:schemeClr val="tx1"/>
                </a:solidFill>
                <a:effectLst/>
                <a:latin typeface="+mn-lt"/>
                <a:ea typeface="+mn-ea"/>
                <a:cs typeface="+mn-cs"/>
              </a:rPr>
              <a:t>"Sir we used </a:t>
            </a:r>
            <a:r>
              <a:rPr lang="en-PK" sz="1200" i="1" kern="1200" dirty="0" err="1">
                <a:solidFill>
                  <a:schemeClr val="tx1"/>
                </a:solidFill>
                <a:effectLst/>
                <a:latin typeface="+mn-lt"/>
                <a:ea typeface="+mn-ea"/>
                <a:cs typeface="+mn-cs"/>
              </a:rPr>
              <a:t>app_id</a:t>
            </a:r>
            <a:r>
              <a:rPr lang="en-PK" sz="1200" i="1" kern="1200" dirty="0">
                <a:solidFill>
                  <a:schemeClr val="tx1"/>
                </a:solidFill>
                <a:effectLst/>
                <a:latin typeface="+mn-lt"/>
                <a:ea typeface="+mn-ea"/>
                <a:cs typeface="+mn-cs"/>
              </a:rPr>
              <a:t> and </a:t>
            </a:r>
            <a:r>
              <a:rPr lang="en-PK" sz="1200" i="1" kern="1200" dirty="0" err="1">
                <a:solidFill>
                  <a:schemeClr val="tx1"/>
                </a:solidFill>
                <a:effectLst/>
                <a:latin typeface="+mn-lt"/>
                <a:ea typeface="+mn-ea"/>
                <a:cs typeface="+mn-cs"/>
              </a:rPr>
              <a:t>container_id</a:t>
            </a:r>
            <a:r>
              <a:rPr lang="en-PK" sz="1200" i="1" kern="1200" dirty="0">
                <a:solidFill>
                  <a:schemeClr val="tx1"/>
                </a:solidFill>
                <a:effectLst/>
                <a:latin typeface="+mn-lt"/>
                <a:ea typeface="+mn-ea"/>
                <a:cs typeface="+mn-cs"/>
              </a:rPr>
              <a:t> in features — but in Hadoop dataset there are applications in label. It means model has Label mapped directly to </a:t>
            </a:r>
            <a:r>
              <a:rPr lang="en-PK" sz="1200" i="1" kern="1200" dirty="0" err="1">
                <a:solidFill>
                  <a:schemeClr val="tx1"/>
                </a:solidFill>
                <a:effectLst/>
                <a:latin typeface="+mn-lt"/>
                <a:ea typeface="+mn-ea"/>
                <a:cs typeface="+mn-cs"/>
              </a:rPr>
              <a:t>app_id</a:t>
            </a:r>
            <a:r>
              <a:rPr lang="en-PK" sz="1200" i="1" kern="1200" dirty="0">
                <a:solidFill>
                  <a:schemeClr val="tx1"/>
                </a:solidFill>
                <a:effectLst/>
                <a:latin typeface="+mn-lt"/>
                <a:ea typeface="+mn-ea"/>
                <a:cs typeface="+mn-cs"/>
              </a:rPr>
              <a:t>. This was feature leakage - dataset limitation, not intentional. On Spark Random Forest has score 0.9902— its realistic because </a:t>
            </a:r>
            <a:r>
              <a:rPr lang="en-PK" sz="1200" i="1" kern="1200" dirty="0" err="1">
                <a:solidFill>
                  <a:schemeClr val="tx1"/>
                </a:solidFill>
                <a:effectLst/>
                <a:latin typeface="+mn-lt"/>
                <a:ea typeface="+mn-ea"/>
                <a:cs typeface="+mn-cs"/>
              </a:rPr>
              <a:t>App_id</a:t>
            </a:r>
            <a:r>
              <a:rPr lang="en-PK" sz="1200" i="1" kern="1200" dirty="0">
                <a:solidFill>
                  <a:schemeClr val="tx1"/>
                </a:solidFill>
                <a:effectLst/>
                <a:latin typeface="+mn-lt"/>
                <a:ea typeface="+mn-ea"/>
                <a:cs typeface="+mn-cs"/>
              </a:rPr>
              <a:t> and label are not directly related in spark logs."</a:t>
            </a:r>
            <a:endParaRPr lang="en-PK" sz="1200" kern="1200" dirty="0">
              <a:solidFill>
                <a:schemeClr val="tx1"/>
              </a:solidFill>
              <a:effectLst/>
              <a:latin typeface="+mn-lt"/>
              <a:ea typeface="+mn-ea"/>
              <a:cs typeface="+mn-cs"/>
            </a:endParaRPr>
          </a:p>
          <a:p>
            <a:endParaRPr lang="en-PK" dirty="0"/>
          </a:p>
        </p:txBody>
      </p:sp>
      <p:sp>
        <p:nvSpPr>
          <p:cNvPr id="4" name="Slide Number Placeholder 3"/>
          <p:cNvSpPr>
            <a:spLocks noGrp="1"/>
          </p:cNvSpPr>
          <p:nvPr>
            <p:ph type="sldNum" sz="quarter" idx="5"/>
          </p:nvPr>
        </p:nvSpPr>
        <p:spPr/>
        <p:txBody>
          <a:bodyPr/>
          <a:lstStyle/>
          <a:p>
            <a:fld id="{DB35007E-B1A3-4106-B116-89CDED5B7D80}" type="slidenum">
              <a:rPr lang="en-PK" smtClean="0"/>
              <a:t>25</a:t>
            </a:fld>
            <a:endParaRPr lang="en-PK"/>
          </a:p>
        </p:txBody>
      </p:sp>
    </p:spTree>
    <p:extLst>
      <p:ext uri="{BB962C8B-B14F-4D97-AF65-F5344CB8AC3E}">
        <p14:creationId xmlns:p14="http://schemas.microsoft.com/office/powerpoint/2010/main" val="19108397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4"/>
        <p:cNvGrpSpPr/>
        <p:nvPr/>
      </p:nvGrpSpPr>
      <p:grpSpPr>
        <a:xfrm>
          <a:off x="0" y="0"/>
          <a:ext cx="0" cy="0"/>
          <a:chOff x="0" y="0"/>
          <a:chExt cx="0" cy="0"/>
        </a:xfrm>
      </p:grpSpPr>
      <p:sp>
        <p:nvSpPr>
          <p:cNvPr id="395" name="Google Shape;395;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96" name="Google Shape;396;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38BDF8"/>
                </a:solidFill>
                <a:latin typeface="Poppins SemiBold"/>
                <a:ea typeface="Poppins SemiBold"/>
                <a:cs typeface="Poppins SemiBold"/>
                <a:sym typeface="Poppins SemiBold"/>
              </a:rPr>
              <a:t>Random Forest 1.0 Anomaly</a:t>
            </a:r>
            <a:endParaRPr 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CBD5E1"/>
                </a:solidFill>
                <a:latin typeface="Inter"/>
                <a:ea typeface="Inter"/>
                <a:cs typeface="Inter"/>
                <a:sym typeface="Inter"/>
              </a:rPr>
              <a:t>Hadoop labels were assigned per application, not per log line. The dataset features </a:t>
            </a:r>
            <a:r>
              <a:rPr lang="en-US" sz="1600" b="0" i="0" u="none" strike="noStrike" cap="none" dirty="0" err="1">
                <a:solidFill>
                  <a:srgbClr val="CBD5E1"/>
                </a:solidFill>
                <a:latin typeface="Inter"/>
                <a:ea typeface="Inter"/>
                <a:cs typeface="Inter"/>
                <a:sym typeface="Inter"/>
              </a:rPr>
              <a:t>app_id</a:t>
            </a:r>
            <a:r>
              <a:rPr lang="en-US" sz="1600" b="0" i="0" u="none" strike="noStrike" cap="none" dirty="0">
                <a:solidFill>
                  <a:srgbClr val="CBD5E1"/>
                </a:solidFill>
                <a:latin typeface="Inter"/>
                <a:ea typeface="Inter"/>
                <a:cs typeface="Inter"/>
                <a:sym typeface="Inter"/>
              </a:rPr>
              <a:t> and </a:t>
            </a:r>
            <a:r>
              <a:rPr lang="en-US" sz="1600" b="0" i="0" u="none" strike="noStrike" cap="none" dirty="0" err="1">
                <a:solidFill>
                  <a:srgbClr val="CBD5E1"/>
                </a:solidFill>
                <a:latin typeface="Inter"/>
                <a:ea typeface="Inter"/>
                <a:cs typeface="Inter"/>
                <a:sym typeface="Inter"/>
              </a:rPr>
              <a:t>container_id</a:t>
            </a:r>
            <a:r>
              <a:rPr lang="en-US" sz="1600" b="0" i="0" u="none" strike="noStrike" cap="none" dirty="0">
                <a:solidFill>
                  <a:srgbClr val="CBD5E1"/>
                </a:solidFill>
                <a:latin typeface="Inter"/>
                <a:ea typeface="Inter"/>
                <a:cs typeface="Inter"/>
                <a:sym typeface="Inter"/>
              </a:rPr>
              <a:t> were directly linked to these application labels.</a:t>
            </a:r>
            <a:endParaRPr 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i="0" u="none" strike="noStrike" cap="none" dirty="0">
                <a:solidFill>
                  <a:srgbClr val="CBD5E1"/>
                </a:solidFill>
                <a:latin typeface="Inter"/>
                <a:ea typeface="Inter"/>
                <a:cs typeface="Inter"/>
                <a:sym typeface="Inter"/>
              </a:rPr>
              <a:t>Random Forest achieved 1.0 F1 by memorizing the </a:t>
            </a:r>
            <a:r>
              <a:rPr lang="en-US" sz="1600" b="0" i="0" u="none" strike="noStrike" cap="none" dirty="0" err="1">
                <a:solidFill>
                  <a:srgbClr val="CBD5E1"/>
                </a:solidFill>
                <a:latin typeface="Inter"/>
                <a:ea typeface="Inter"/>
                <a:cs typeface="Inter"/>
                <a:sym typeface="Inter"/>
              </a:rPr>
              <a:t>app_id</a:t>
            </a:r>
            <a:r>
              <a:rPr lang="en-US" sz="1600" b="0" i="0" u="none" strike="noStrike" cap="none" dirty="0">
                <a:solidFill>
                  <a:srgbClr val="CBD5E1"/>
                </a:solidFill>
                <a:latin typeface="Inter"/>
                <a:ea typeface="Inter"/>
                <a:cs typeface="Inter"/>
                <a:sym typeface="Inter"/>
              </a:rPr>
              <a:t> mapping, bypassing actual log pattern analysis. This textbook Feature Leakage exposes a dataset limitation, not true model performance.</a:t>
            </a:r>
            <a:endParaRPr lang="en-US" sz="1600" dirty="0"/>
          </a:p>
          <a:p>
            <a:pPr marL="0" lvl="0" indent="0" algn="l" rtl="0">
              <a:spcBef>
                <a:spcPts val="0"/>
              </a:spcBef>
              <a:spcAft>
                <a:spcPts val="0"/>
              </a:spcAft>
              <a:buNone/>
            </a:pPr>
            <a:endParaRPr sz="1600" dirty="0"/>
          </a:p>
        </p:txBody>
      </p:sp>
      <p:sp>
        <p:nvSpPr>
          <p:cNvPr id="421" name="Google Shape;421;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K" dirty="0"/>
          </a:p>
        </p:txBody>
      </p:sp>
      <p:sp>
        <p:nvSpPr>
          <p:cNvPr id="4" name="Slide Number Placeholder 3"/>
          <p:cNvSpPr>
            <a:spLocks noGrp="1"/>
          </p:cNvSpPr>
          <p:nvPr>
            <p:ph type="sldNum" sz="quarter" idx="5"/>
          </p:nvPr>
        </p:nvSpPr>
        <p:spPr/>
        <p:txBody>
          <a:bodyPr/>
          <a:lstStyle/>
          <a:p>
            <a:fld id="{DB35007E-B1A3-4106-B116-89CDED5B7D80}" type="slidenum">
              <a:rPr lang="en-PK" smtClean="0"/>
              <a:t>28</a:t>
            </a:fld>
            <a:endParaRPr lang="en-PK"/>
          </a:p>
        </p:txBody>
      </p:sp>
    </p:spTree>
    <p:extLst>
      <p:ext uri="{BB962C8B-B14F-4D97-AF65-F5344CB8AC3E}">
        <p14:creationId xmlns:p14="http://schemas.microsoft.com/office/powerpoint/2010/main" val="32679958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K" sz="1200" b="1" kern="1200" dirty="0">
                <a:solidFill>
                  <a:schemeClr val="tx1"/>
                </a:solidFill>
                <a:effectLst/>
                <a:latin typeface="+mn-lt"/>
                <a:ea typeface="+mn-ea"/>
                <a:cs typeface="+mn-cs"/>
              </a:rPr>
              <a:t>GAN Issue</a:t>
            </a:r>
          </a:p>
          <a:p>
            <a:r>
              <a:rPr lang="en-PK" sz="1200" kern="1200" dirty="0">
                <a:solidFill>
                  <a:schemeClr val="tx1"/>
                </a:solidFill>
                <a:effectLst/>
                <a:latin typeface="+mn-lt"/>
                <a:ea typeface="+mn-ea"/>
                <a:cs typeface="+mn-cs"/>
              </a:rPr>
              <a:t>•	</a:t>
            </a:r>
            <a:r>
              <a:rPr lang="en-PK" sz="1200" kern="1200" dirty="0" err="1">
                <a:solidFill>
                  <a:schemeClr val="tx1"/>
                </a:solidFill>
                <a:effectLst/>
                <a:latin typeface="+mn-lt"/>
                <a:ea typeface="+mn-ea"/>
                <a:cs typeface="+mn-cs"/>
              </a:rPr>
              <a:t>GANs</a:t>
            </a:r>
            <a:r>
              <a:rPr lang="en-PK" sz="1200" kern="1200" dirty="0">
                <a:solidFill>
                  <a:schemeClr val="tx1"/>
                </a:solidFill>
                <a:effectLst/>
                <a:latin typeface="+mn-lt"/>
                <a:ea typeface="+mn-ea"/>
                <a:cs typeface="+mn-cs"/>
              </a:rPr>
              <a:t> require highly diverse data, whereas log data is structured and repetitive.</a:t>
            </a:r>
          </a:p>
          <a:p>
            <a:r>
              <a:rPr lang="en-PK" sz="1200" kern="1200" dirty="0">
                <a:solidFill>
                  <a:schemeClr val="tx1"/>
                </a:solidFill>
                <a:effectLst/>
                <a:latin typeface="+mn-lt"/>
                <a:ea typeface="+mn-ea"/>
                <a:cs typeface="+mn-cs"/>
              </a:rPr>
              <a:t>•	Mode Collapse — The GAN keeps generating only one specific type of fake data.</a:t>
            </a:r>
          </a:p>
          <a:p>
            <a:r>
              <a:rPr lang="en-PK" sz="1200" kern="1200" dirty="0">
                <a:solidFill>
                  <a:schemeClr val="tx1"/>
                </a:solidFill>
                <a:effectLst/>
                <a:latin typeface="+mn-lt"/>
                <a:ea typeface="+mn-ea"/>
                <a:cs typeface="+mn-cs"/>
              </a:rPr>
              <a:t>•	They were not originally designed for anomaly detection.</a:t>
            </a:r>
          </a:p>
          <a:p>
            <a:r>
              <a:rPr lang="en-PK" sz="1200" kern="1200" dirty="0">
                <a:solidFill>
                  <a:schemeClr val="tx1"/>
                </a:solidFill>
                <a:effectLst/>
                <a:latin typeface="+mn-lt"/>
                <a:ea typeface="+mn-ea"/>
                <a:cs typeface="+mn-cs"/>
              </a:rPr>
              <a:t>•	Real-life analogy: A GAN is like an artist who creates paintings, but is then tasked with spotting fraud  painting—that simply isn't its job!</a:t>
            </a:r>
          </a:p>
          <a:p>
            <a:r>
              <a:rPr lang="en-PK" sz="1200" b="1" kern="1200" dirty="0">
                <a:solidFill>
                  <a:schemeClr val="tx1"/>
                </a:solidFill>
                <a:effectLst/>
                <a:latin typeface="+mn-lt"/>
                <a:ea typeface="+mn-ea"/>
                <a:cs typeface="+mn-cs"/>
              </a:rPr>
              <a:t>VAE Issue</a:t>
            </a:r>
          </a:p>
          <a:p>
            <a:r>
              <a:rPr lang="en-PK" sz="1200" kern="1200" dirty="0">
                <a:solidFill>
                  <a:schemeClr val="tx1"/>
                </a:solidFill>
                <a:effectLst/>
                <a:latin typeface="+mn-lt"/>
                <a:ea typeface="+mn-ea"/>
                <a:cs typeface="+mn-cs"/>
              </a:rPr>
              <a:t>•	It produces a blurry reconstruction—fine details in the log lines are lost.</a:t>
            </a:r>
          </a:p>
          <a:p>
            <a:r>
              <a:rPr lang="en-PK" sz="1200" kern="1200" dirty="0">
                <a:solidFill>
                  <a:schemeClr val="tx1"/>
                </a:solidFill>
                <a:effectLst/>
                <a:latin typeface="+mn-lt"/>
                <a:ea typeface="+mn-ea"/>
                <a:cs typeface="+mn-cs"/>
              </a:rPr>
              <a:t>•	The difference in reconstruction error between normal and anomalous logs is very small.</a:t>
            </a:r>
          </a:p>
          <a:p>
            <a:endParaRPr lang="en-US" sz="1200" b="1" kern="1200" dirty="0">
              <a:solidFill>
                <a:schemeClr val="tx1"/>
              </a:solidFill>
              <a:effectLst/>
              <a:latin typeface="+mn-lt"/>
              <a:ea typeface="+mn-ea"/>
              <a:cs typeface="+mn-cs"/>
            </a:endParaRPr>
          </a:p>
          <a:p>
            <a:r>
              <a:rPr lang="en-PK" sz="1200" b="1" kern="1200" dirty="0">
                <a:solidFill>
                  <a:schemeClr val="tx1"/>
                </a:solidFill>
                <a:effectLst/>
                <a:latin typeface="+mn-lt"/>
                <a:ea typeface="+mn-ea"/>
                <a:cs typeface="+mn-cs"/>
              </a:rPr>
              <a:t>Research also suggests the same.</a:t>
            </a:r>
            <a:endParaRPr lang="en-PK" sz="1200" kern="1200" dirty="0">
              <a:solidFill>
                <a:schemeClr val="tx1"/>
              </a:solidFill>
              <a:effectLst/>
              <a:latin typeface="+mn-lt"/>
              <a:ea typeface="+mn-ea"/>
              <a:cs typeface="+mn-cs"/>
            </a:endParaRPr>
          </a:p>
          <a:p>
            <a:r>
              <a:rPr lang="en-PK" sz="1200" kern="1200" dirty="0">
                <a:solidFill>
                  <a:schemeClr val="tx1"/>
                </a:solidFill>
                <a:effectLst/>
                <a:latin typeface="+mn-lt"/>
                <a:ea typeface="+mn-ea"/>
                <a:cs typeface="+mn-cs"/>
              </a:rPr>
              <a:t>•	</a:t>
            </a:r>
            <a:r>
              <a:rPr lang="en-PK" sz="1200" kern="1200" dirty="0" err="1">
                <a:solidFill>
                  <a:schemeClr val="tx1"/>
                </a:solidFill>
                <a:effectLst/>
                <a:latin typeface="+mn-lt"/>
                <a:ea typeface="+mn-ea"/>
                <a:cs typeface="+mn-cs"/>
              </a:rPr>
              <a:t>GANs</a:t>
            </a:r>
            <a:r>
              <a:rPr lang="en-PK" sz="1200" kern="1200" dirty="0">
                <a:solidFill>
                  <a:schemeClr val="tx1"/>
                </a:solidFill>
                <a:effectLst/>
                <a:latin typeface="+mn-lt"/>
                <a:ea typeface="+mn-ea"/>
                <a:cs typeface="+mn-cs"/>
              </a:rPr>
              <a:t> and </a:t>
            </a:r>
            <a:r>
              <a:rPr lang="en-PK" sz="1200" kern="1200" dirty="0" err="1">
                <a:solidFill>
                  <a:schemeClr val="tx1"/>
                </a:solidFill>
                <a:effectLst/>
                <a:latin typeface="+mn-lt"/>
                <a:ea typeface="+mn-ea"/>
                <a:cs typeface="+mn-cs"/>
              </a:rPr>
              <a:t>VAEs</a:t>
            </a:r>
            <a:r>
              <a:rPr lang="en-PK" sz="1200" kern="1200" dirty="0">
                <a:solidFill>
                  <a:schemeClr val="tx1"/>
                </a:solidFill>
                <a:effectLst/>
                <a:latin typeface="+mn-lt"/>
                <a:ea typeface="+mn-ea"/>
                <a:cs typeface="+mn-cs"/>
              </a:rPr>
              <a:t> are designed for image/audio generation.</a:t>
            </a:r>
          </a:p>
          <a:p>
            <a:r>
              <a:rPr lang="en-PK" sz="1200" kern="1200" dirty="0">
                <a:solidFill>
                  <a:schemeClr val="tx1"/>
                </a:solidFill>
                <a:effectLst/>
                <a:latin typeface="+mn-lt"/>
                <a:ea typeface="+mn-ea"/>
                <a:cs typeface="+mn-cs"/>
              </a:rPr>
              <a:t>•	Supervised models consistently perform better in log anomaly detection.</a:t>
            </a:r>
          </a:p>
          <a:p>
            <a:r>
              <a:rPr lang="en-PK" sz="1200" kern="1200" dirty="0">
                <a:solidFill>
                  <a:schemeClr val="tx1"/>
                </a:solidFill>
                <a:effectLst/>
                <a:latin typeface="+mn-lt"/>
                <a:ea typeface="+mn-ea"/>
                <a:cs typeface="+mn-cs"/>
              </a:rPr>
              <a:t>•	IEEE papers also state that generative models require extra feature engineering for log data.</a:t>
            </a:r>
          </a:p>
          <a:p>
            <a:endParaRPr lang="en-PK" dirty="0"/>
          </a:p>
        </p:txBody>
      </p:sp>
      <p:sp>
        <p:nvSpPr>
          <p:cNvPr id="4" name="Slide Number Placeholder 3"/>
          <p:cNvSpPr>
            <a:spLocks noGrp="1"/>
          </p:cNvSpPr>
          <p:nvPr>
            <p:ph type="sldNum" sz="quarter" idx="5"/>
          </p:nvPr>
        </p:nvSpPr>
        <p:spPr/>
        <p:txBody>
          <a:bodyPr/>
          <a:lstStyle/>
          <a:p>
            <a:fld id="{DB35007E-B1A3-4106-B116-89CDED5B7D80}" type="slidenum">
              <a:rPr lang="en-PK" smtClean="0"/>
              <a:t>29</a:t>
            </a:fld>
            <a:endParaRPr lang="en-PK"/>
          </a:p>
        </p:txBody>
      </p:sp>
    </p:spTree>
    <p:extLst>
      <p:ext uri="{BB962C8B-B14F-4D97-AF65-F5344CB8AC3E}">
        <p14:creationId xmlns:p14="http://schemas.microsoft.com/office/powerpoint/2010/main" val="5963834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p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853D94-D6CE-C4CD-05B6-08F03A3834A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PK"/>
          </a:p>
        </p:txBody>
      </p:sp>
      <p:sp>
        <p:nvSpPr>
          <p:cNvPr id="3" name="Subtitle 2">
            <a:extLst>
              <a:ext uri="{FF2B5EF4-FFF2-40B4-BE49-F238E27FC236}">
                <a16:creationId xmlns:a16="http://schemas.microsoft.com/office/drawing/2014/main" id="{0B0F3D39-0D27-9102-3AA6-3882AC2D639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PK"/>
          </a:p>
        </p:txBody>
      </p:sp>
      <p:sp>
        <p:nvSpPr>
          <p:cNvPr id="4" name="Date Placeholder 3">
            <a:extLst>
              <a:ext uri="{FF2B5EF4-FFF2-40B4-BE49-F238E27FC236}">
                <a16:creationId xmlns:a16="http://schemas.microsoft.com/office/drawing/2014/main" id="{9ED1E268-7A47-9F26-D321-4532E2CCCF0F}"/>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5" name="Footer Placeholder 4">
            <a:extLst>
              <a:ext uri="{FF2B5EF4-FFF2-40B4-BE49-F238E27FC236}">
                <a16:creationId xmlns:a16="http://schemas.microsoft.com/office/drawing/2014/main" id="{5705568D-70D7-CC98-5AF0-556E06FF4F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ED9A98-85BE-0FE0-7D69-529F48274DF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90321326"/>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74623-6CBF-CD53-4F79-C8EBE2AC61C8}"/>
              </a:ext>
            </a:extLst>
          </p:cNvPr>
          <p:cNvSpPr>
            <a:spLocks noGrp="1"/>
          </p:cNvSpPr>
          <p:nvPr>
            <p:ph type="title"/>
          </p:nvPr>
        </p:nvSpPr>
        <p:spPr/>
        <p:txBody>
          <a:bodyPr/>
          <a:lstStyle/>
          <a:p>
            <a:r>
              <a:rPr lang="en-US"/>
              <a:t>Click to edit Master title style</a:t>
            </a:r>
            <a:endParaRPr lang="en-PK"/>
          </a:p>
        </p:txBody>
      </p:sp>
      <p:sp>
        <p:nvSpPr>
          <p:cNvPr id="3" name="Content Placeholder 2">
            <a:extLst>
              <a:ext uri="{FF2B5EF4-FFF2-40B4-BE49-F238E27FC236}">
                <a16:creationId xmlns:a16="http://schemas.microsoft.com/office/drawing/2014/main" id="{B3EA3612-FBC7-A5AB-E0FF-6AA5C2E6B81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6BD635E4-C1EB-6ECE-F176-181707DE71DF}"/>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5" name="Footer Placeholder 4">
            <a:extLst>
              <a:ext uri="{FF2B5EF4-FFF2-40B4-BE49-F238E27FC236}">
                <a16:creationId xmlns:a16="http://schemas.microsoft.com/office/drawing/2014/main" id="{5DD92621-C881-1767-D4C4-ADC09158A9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F9F8A9-10BA-F941-68CB-23EDBD45FF4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0930682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43413-C750-106C-AB5B-310EE2C50F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PK"/>
          </a:p>
        </p:txBody>
      </p:sp>
      <p:sp>
        <p:nvSpPr>
          <p:cNvPr id="3" name="Text Placeholder 2">
            <a:extLst>
              <a:ext uri="{FF2B5EF4-FFF2-40B4-BE49-F238E27FC236}">
                <a16:creationId xmlns:a16="http://schemas.microsoft.com/office/drawing/2014/main" id="{7947BC72-BC2B-2609-8E38-B4B2DEF015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F68AD10-12CF-9E24-920B-1092A4C2ED84}"/>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5" name="Footer Placeholder 4">
            <a:extLst>
              <a:ext uri="{FF2B5EF4-FFF2-40B4-BE49-F238E27FC236}">
                <a16:creationId xmlns:a16="http://schemas.microsoft.com/office/drawing/2014/main" id="{D21BF262-0782-63E7-BA44-EBD5286442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E69C-ACCA-3D1C-379A-32E35AE9726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0895715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9CC48-A2C0-CBA4-47B3-2FA22EFD9D9A}"/>
              </a:ext>
            </a:extLst>
          </p:cNvPr>
          <p:cNvSpPr>
            <a:spLocks noGrp="1"/>
          </p:cNvSpPr>
          <p:nvPr>
            <p:ph type="title"/>
          </p:nvPr>
        </p:nvSpPr>
        <p:spPr/>
        <p:txBody>
          <a:bodyPr/>
          <a:lstStyle/>
          <a:p>
            <a:r>
              <a:rPr lang="en-US"/>
              <a:t>Click to edit Master title style</a:t>
            </a:r>
            <a:endParaRPr lang="en-PK"/>
          </a:p>
        </p:txBody>
      </p:sp>
      <p:sp>
        <p:nvSpPr>
          <p:cNvPr id="3" name="Content Placeholder 2">
            <a:extLst>
              <a:ext uri="{FF2B5EF4-FFF2-40B4-BE49-F238E27FC236}">
                <a16:creationId xmlns:a16="http://schemas.microsoft.com/office/drawing/2014/main" id="{E3EE8877-3C35-6301-07FB-BDDA4541170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Content Placeholder 3">
            <a:extLst>
              <a:ext uri="{FF2B5EF4-FFF2-40B4-BE49-F238E27FC236}">
                <a16:creationId xmlns:a16="http://schemas.microsoft.com/office/drawing/2014/main" id="{5FC9AF29-1860-04B0-E0EE-2C73427B4F4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5" name="Date Placeholder 4">
            <a:extLst>
              <a:ext uri="{FF2B5EF4-FFF2-40B4-BE49-F238E27FC236}">
                <a16:creationId xmlns:a16="http://schemas.microsoft.com/office/drawing/2014/main" id="{07C90841-FC38-4449-D8C5-05D4C8DD8D77}"/>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6" name="Footer Placeholder 5">
            <a:extLst>
              <a:ext uri="{FF2B5EF4-FFF2-40B4-BE49-F238E27FC236}">
                <a16:creationId xmlns:a16="http://schemas.microsoft.com/office/drawing/2014/main" id="{2C880FBD-0BBA-05AA-5062-3AA2287A25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12D05F2-56AD-8C14-1C2D-8CC9B8FAB742}"/>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2045335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C45C76-4423-2360-B192-AD440A618310}"/>
              </a:ext>
            </a:extLst>
          </p:cNvPr>
          <p:cNvSpPr>
            <a:spLocks noGrp="1"/>
          </p:cNvSpPr>
          <p:nvPr>
            <p:ph type="title"/>
          </p:nvPr>
        </p:nvSpPr>
        <p:spPr>
          <a:xfrm>
            <a:off x="839788" y="365125"/>
            <a:ext cx="10515600" cy="1325563"/>
          </a:xfrm>
        </p:spPr>
        <p:txBody>
          <a:bodyPr/>
          <a:lstStyle/>
          <a:p>
            <a:r>
              <a:rPr lang="en-US"/>
              <a:t>Click to edit Master title style</a:t>
            </a:r>
            <a:endParaRPr lang="en-PK"/>
          </a:p>
        </p:txBody>
      </p:sp>
      <p:sp>
        <p:nvSpPr>
          <p:cNvPr id="3" name="Text Placeholder 2">
            <a:extLst>
              <a:ext uri="{FF2B5EF4-FFF2-40B4-BE49-F238E27FC236}">
                <a16:creationId xmlns:a16="http://schemas.microsoft.com/office/drawing/2014/main" id="{9F675081-57AF-2520-B57B-F98C32A499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AF79EB6-D34A-E6C6-E66F-E5D9A4A49E0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5" name="Text Placeholder 4">
            <a:extLst>
              <a:ext uri="{FF2B5EF4-FFF2-40B4-BE49-F238E27FC236}">
                <a16:creationId xmlns:a16="http://schemas.microsoft.com/office/drawing/2014/main" id="{48E80EF6-50DD-1CDA-A899-74E55D925D7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C1ED575-ED32-6C94-D93D-0F9819D6CE0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7" name="Date Placeholder 6">
            <a:extLst>
              <a:ext uri="{FF2B5EF4-FFF2-40B4-BE49-F238E27FC236}">
                <a16:creationId xmlns:a16="http://schemas.microsoft.com/office/drawing/2014/main" id="{44570875-ABE0-90FD-AB39-0F89B328172A}"/>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8" name="Footer Placeholder 7">
            <a:extLst>
              <a:ext uri="{FF2B5EF4-FFF2-40B4-BE49-F238E27FC236}">
                <a16:creationId xmlns:a16="http://schemas.microsoft.com/office/drawing/2014/main" id="{9E02FF37-6092-8711-0449-1F42CDDE2C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F806657-4C10-D9D3-046D-342636EB6AA6}"/>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39768411"/>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DBCEF-5D22-DBC6-D1D5-F00A63EE7A83}"/>
              </a:ext>
            </a:extLst>
          </p:cNvPr>
          <p:cNvSpPr>
            <a:spLocks noGrp="1"/>
          </p:cNvSpPr>
          <p:nvPr>
            <p:ph type="title"/>
          </p:nvPr>
        </p:nvSpPr>
        <p:spPr/>
        <p:txBody>
          <a:bodyPr/>
          <a:lstStyle/>
          <a:p>
            <a:r>
              <a:rPr lang="en-US"/>
              <a:t>Click to edit Master title style</a:t>
            </a:r>
            <a:endParaRPr lang="en-PK"/>
          </a:p>
        </p:txBody>
      </p:sp>
      <p:sp>
        <p:nvSpPr>
          <p:cNvPr id="3" name="Date Placeholder 2">
            <a:extLst>
              <a:ext uri="{FF2B5EF4-FFF2-40B4-BE49-F238E27FC236}">
                <a16:creationId xmlns:a16="http://schemas.microsoft.com/office/drawing/2014/main" id="{FACCAABC-7E0D-ADCE-F673-C4A80194DD99}"/>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4" name="Footer Placeholder 3">
            <a:extLst>
              <a:ext uri="{FF2B5EF4-FFF2-40B4-BE49-F238E27FC236}">
                <a16:creationId xmlns:a16="http://schemas.microsoft.com/office/drawing/2014/main" id="{E36D7A30-329D-7557-6D52-A659E69540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30A869-4039-FA20-71DF-0813DF244D24}"/>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8346421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78AF58-71BC-0404-543F-99BEF389A287}"/>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a:extLst>
              <a:ext uri="{FF2B5EF4-FFF2-40B4-BE49-F238E27FC236}">
                <a16:creationId xmlns:a16="http://schemas.microsoft.com/office/drawing/2014/main" id="{0B492CEE-D2E8-E6AB-D320-59E0FE747C9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B51EE94-7022-0E52-9B0F-1F30DB83A0F4}"/>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9136649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59654-C4F4-8705-B661-FAD89DE19A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K"/>
          </a:p>
        </p:txBody>
      </p:sp>
      <p:sp>
        <p:nvSpPr>
          <p:cNvPr id="3" name="Content Placeholder 2">
            <a:extLst>
              <a:ext uri="{FF2B5EF4-FFF2-40B4-BE49-F238E27FC236}">
                <a16:creationId xmlns:a16="http://schemas.microsoft.com/office/drawing/2014/main" id="{8DA0B7CE-AAE8-5EAA-45A9-A8FA9706606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Text Placeholder 3">
            <a:extLst>
              <a:ext uri="{FF2B5EF4-FFF2-40B4-BE49-F238E27FC236}">
                <a16:creationId xmlns:a16="http://schemas.microsoft.com/office/drawing/2014/main" id="{7788B0E3-9963-FD83-1D0E-3DADD8904E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95CCB6E-E917-CEEE-7EC2-813ADD3FF5AC}"/>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6" name="Footer Placeholder 5">
            <a:extLst>
              <a:ext uri="{FF2B5EF4-FFF2-40B4-BE49-F238E27FC236}">
                <a16:creationId xmlns:a16="http://schemas.microsoft.com/office/drawing/2014/main" id="{D75ADB94-2CA6-040D-F12D-952D4E6FD50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2732CF3-B2F1-D907-9B95-77CED686875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7529000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CF46C-5F11-3306-614E-661AF1736E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K"/>
          </a:p>
        </p:txBody>
      </p:sp>
      <p:sp>
        <p:nvSpPr>
          <p:cNvPr id="3" name="Picture Placeholder 2">
            <a:extLst>
              <a:ext uri="{FF2B5EF4-FFF2-40B4-BE49-F238E27FC236}">
                <a16:creationId xmlns:a16="http://schemas.microsoft.com/office/drawing/2014/main" id="{1BFBFFCC-758B-D9BA-06CA-AB3786DC113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PK"/>
          </a:p>
        </p:txBody>
      </p:sp>
      <p:sp>
        <p:nvSpPr>
          <p:cNvPr id="4" name="Text Placeholder 3">
            <a:extLst>
              <a:ext uri="{FF2B5EF4-FFF2-40B4-BE49-F238E27FC236}">
                <a16:creationId xmlns:a16="http://schemas.microsoft.com/office/drawing/2014/main" id="{669D2AF9-28BF-87CD-841E-3D08037CDC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B8D9DB6-9899-EDE9-4AED-7815DE48BAAB}"/>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6" name="Footer Placeholder 5">
            <a:extLst>
              <a:ext uri="{FF2B5EF4-FFF2-40B4-BE49-F238E27FC236}">
                <a16:creationId xmlns:a16="http://schemas.microsoft.com/office/drawing/2014/main" id="{B6BC06EE-7D65-0D3F-1C5D-C36A6875E19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AE3FC06-6B52-D246-B555-9222505E6F2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258900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7FE76-86AB-6007-C2DA-2A7DD170E24A}"/>
              </a:ext>
            </a:extLst>
          </p:cNvPr>
          <p:cNvSpPr>
            <a:spLocks noGrp="1"/>
          </p:cNvSpPr>
          <p:nvPr>
            <p:ph type="title"/>
          </p:nvPr>
        </p:nvSpPr>
        <p:spPr/>
        <p:txBody>
          <a:bodyPr/>
          <a:lstStyle/>
          <a:p>
            <a:r>
              <a:rPr lang="en-US"/>
              <a:t>Click to edit Master title style</a:t>
            </a:r>
            <a:endParaRPr lang="en-PK"/>
          </a:p>
        </p:txBody>
      </p:sp>
      <p:sp>
        <p:nvSpPr>
          <p:cNvPr id="3" name="Vertical Text Placeholder 2">
            <a:extLst>
              <a:ext uri="{FF2B5EF4-FFF2-40B4-BE49-F238E27FC236}">
                <a16:creationId xmlns:a16="http://schemas.microsoft.com/office/drawing/2014/main" id="{07EFEB1C-9664-FC21-4C4A-73AD79BF7F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09238883-6487-B9C3-C4D8-88C698E96CB9}"/>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5" name="Footer Placeholder 4">
            <a:extLst>
              <a:ext uri="{FF2B5EF4-FFF2-40B4-BE49-F238E27FC236}">
                <a16:creationId xmlns:a16="http://schemas.microsoft.com/office/drawing/2014/main" id="{3627AB75-3793-5F4C-3137-8448823D55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8BE4D3-31EF-D355-D8A7-05C526B9CCEE}"/>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8090482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4A2799-5567-5AB6-5A1C-F3459AB787C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PK"/>
          </a:p>
        </p:txBody>
      </p:sp>
      <p:sp>
        <p:nvSpPr>
          <p:cNvPr id="3" name="Vertical Text Placeholder 2">
            <a:extLst>
              <a:ext uri="{FF2B5EF4-FFF2-40B4-BE49-F238E27FC236}">
                <a16:creationId xmlns:a16="http://schemas.microsoft.com/office/drawing/2014/main" id="{DC71A642-AA3F-7C1B-2721-A29CB130E00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32757BDA-3BA4-ED6D-920C-F96DCA3D4C73}"/>
              </a:ext>
            </a:extLst>
          </p:cNvPr>
          <p:cNvSpPr>
            <a:spLocks noGrp="1"/>
          </p:cNvSpPr>
          <p:nvPr>
            <p:ph type="dt" sz="half" idx="10"/>
          </p:nvPr>
        </p:nvSpPr>
        <p:spPr/>
        <p:txBody>
          <a:bodyPr/>
          <a:lstStyle/>
          <a:p>
            <a:fld id="{5BCAD085-E8A6-8845-BD4E-CB4CCA059FC4}" type="datetimeFigureOut">
              <a:rPr lang="en-US" smtClean="0"/>
              <a:t>10/22/2026</a:t>
            </a:fld>
            <a:endParaRPr lang="en-US"/>
          </a:p>
        </p:txBody>
      </p:sp>
      <p:sp>
        <p:nvSpPr>
          <p:cNvPr id="5" name="Footer Placeholder 4">
            <a:extLst>
              <a:ext uri="{FF2B5EF4-FFF2-40B4-BE49-F238E27FC236}">
                <a16:creationId xmlns:a16="http://schemas.microsoft.com/office/drawing/2014/main" id="{FA58BC1C-FCD9-0E9F-A045-7E12BA9F3F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1E064-F0CA-0A99-EBD5-CBA0AE28FC7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410744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C86261-E774-054D-0884-3E53638F76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BB48FDFA-20AE-3808-A6F9-8FE56A3932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8FE74770-8279-EF5F-02B5-7014527F933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CAD085-E8A6-8845-BD4E-CB4CCA059FC4}" type="datetimeFigureOut">
              <a:rPr lang="en-US" smtClean="0"/>
              <a:t>10/22/2026</a:t>
            </a:fld>
            <a:endParaRPr lang="en-US"/>
          </a:p>
        </p:txBody>
      </p:sp>
      <p:sp>
        <p:nvSpPr>
          <p:cNvPr id="5" name="Footer Placeholder 4">
            <a:extLst>
              <a:ext uri="{FF2B5EF4-FFF2-40B4-BE49-F238E27FC236}">
                <a16:creationId xmlns:a16="http://schemas.microsoft.com/office/drawing/2014/main" id="{0B784342-B6F5-DE14-459C-A508346158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166C97E-5D96-6586-051E-17F0BACF0DE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097393622"/>
      </p:ext>
    </p:extLst>
  </p:cSld>
  <p:clrMap bg1="lt1" tx1="dk1" bg2="lt2" tx2="dk2" accent1="accent1" accent2="accent2" accent3="accent3" accent4="accent4" accent5="accent5" accent6="accent6" hlink="hlink" folHlink="folHlink"/>
  <p:sldLayoutIdLst>
    <p:sldLayoutId id="2147483873" r:id="rId1"/>
    <p:sldLayoutId id="2147483874" r:id="rId2"/>
    <p:sldLayoutId id="2147483875" r:id="rId3"/>
    <p:sldLayoutId id="2147483876" r:id="rId4"/>
    <p:sldLayoutId id="2147483877" r:id="rId5"/>
    <p:sldLayoutId id="2147483878" r:id="rId6"/>
    <p:sldLayoutId id="2147483879" r:id="rId7"/>
    <p:sldLayoutId id="2147483880" r:id="rId8"/>
    <p:sldLayoutId id="2147483881" r:id="rId9"/>
    <p:sldLayoutId id="2147483882" r:id="rId10"/>
    <p:sldLayoutId id="2147483883" r:id="rId11"/>
  </p:sldLayoutIdLst>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P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https://www.geeksforgeeks.org/machine-learning/confusion-matrix-machine-learning/" TargetMode="External"/><Relationship Id="rId2" Type="http://schemas.openxmlformats.org/officeDocument/2006/relationships/hyperlink" Target="https://www.picsellia.com/post/understanding-the-f1-score-in-machine-learning-the-harmonic-mean-of-precision-and-recall" TargetMode="Externa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developers.google.com/machine-learning/crash-course/classification/accuracy-precision-recall"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txBox="1"/>
          <p:nvPr/>
        </p:nvSpPr>
        <p:spPr>
          <a:xfrm>
            <a:off x="583790" y="699688"/>
            <a:ext cx="11201400" cy="1523494"/>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None/>
            </a:pPr>
            <a:r>
              <a:rPr lang="en-US" sz="4125" b="1" i="0" u="none" strike="noStrike" cap="none" dirty="0">
                <a:solidFill>
                  <a:srgbClr val="003366"/>
                </a:solidFill>
                <a:latin typeface="Times New Roman" panose="02020603050405020304" pitchFamily="18" charset="0"/>
                <a:ea typeface="Helvetica Neue"/>
                <a:cs typeface="Times New Roman" panose="02020603050405020304" pitchFamily="18" charset="0"/>
                <a:sym typeface="Helvetica Neue"/>
              </a:rPr>
              <a:t>Generative Models vs Traditional AI-Driven Anomaly Detection in Large-Scale System Logs</a:t>
            </a:r>
            <a:endParaRPr dirty="0">
              <a:latin typeface="Times New Roman" panose="02020603050405020304" pitchFamily="18" charset="0"/>
              <a:cs typeface="Times New Roman" panose="02020603050405020304" pitchFamily="18" charset="0"/>
            </a:endParaRPr>
          </a:p>
        </p:txBody>
      </p:sp>
      <p:sp>
        <p:nvSpPr>
          <p:cNvPr id="85" name="Google Shape;85;p13"/>
          <p:cNvSpPr txBox="1"/>
          <p:nvPr/>
        </p:nvSpPr>
        <p:spPr>
          <a:xfrm>
            <a:off x="4592843" y="3336577"/>
            <a:ext cx="3006313" cy="369332"/>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a:solidFill>
                  <a:srgbClr val="555555"/>
                </a:solidFill>
                <a:latin typeface="Times New Roman" panose="02020603050405020304" pitchFamily="18" charset="0"/>
                <a:ea typeface="Helvetica Neue"/>
                <a:cs typeface="Times New Roman" panose="02020603050405020304" pitchFamily="18" charset="0"/>
                <a:sym typeface="Helvetica Neue"/>
              </a:rPr>
              <a:t>A Comparative Study</a:t>
            </a:r>
            <a:endParaRPr>
              <a:latin typeface="Times New Roman" panose="02020603050405020304" pitchFamily="18" charset="0"/>
              <a:cs typeface="Times New Roman" panose="02020603050405020304" pitchFamily="18" charset="0"/>
            </a:endParaRPr>
          </a:p>
        </p:txBody>
      </p:sp>
      <p:sp>
        <p:nvSpPr>
          <p:cNvPr id="86" name="Google Shape;86;p13"/>
          <p:cNvSpPr txBox="1"/>
          <p:nvPr/>
        </p:nvSpPr>
        <p:spPr>
          <a:xfrm>
            <a:off x="2612587" y="4093354"/>
            <a:ext cx="6966823" cy="1620444"/>
          </a:xfrm>
          <a:prstGeom prst="rect">
            <a:avLst/>
          </a:prstGeom>
          <a:noFill/>
          <a:ln>
            <a:noFill/>
          </a:ln>
        </p:spPr>
        <p:txBody>
          <a:bodyPr spcFirstLastPara="1" wrap="square" lIns="0" tIns="0" rIns="0" bIns="0" anchor="t" anchorCtr="0">
            <a:spAutoFit/>
          </a:bodyPr>
          <a:lstStyle/>
          <a:p>
            <a:pPr marL="0" marR="0" lvl="0" indent="0" algn="ctr" rtl="0">
              <a:lnSpc>
                <a:spcPct val="179948"/>
              </a:lnSpc>
              <a:spcBef>
                <a:spcPts val="0"/>
              </a:spcBef>
              <a:spcAft>
                <a:spcPts val="0"/>
              </a:spcAft>
              <a:buNone/>
            </a:pPr>
            <a:r>
              <a:rPr lang="en-US" sz="1950" b="1" i="0" u="none" strike="noStrike" cap="none" dirty="0">
                <a:solidFill>
                  <a:srgbClr val="003366"/>
                </a:solidFill>
                <a:latin typeface="Times New Roman" panose="02020603050405020304" pitchFamily="18" charset="0"/>
                <a:ea typeface="Helvetica Neue"/>
                <a:cs typeface="Times New Roman" panose="02020603050405020304" pitchFamily="18" charset="0"/>
                <a:sym typeface="Helvetica Neue"/>
              </a:rPr>
              <a:t>Muhammad Asad Mahmood Khan</a:t>
            </a:r>
            <a:r>
              <a:rPr lang="en-US" sz="195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 [Roll No: 243260]</a:t>
            </a:r>
            <a:br>
              <a:rPr lang="en-US" sz="1800" b="0"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rPr>
            </a:br>
            <a:r>
              <a:rPr lang="en-US" sz="195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 Program: MSAI (Fall 2024)</a:t>
            </a:r>
            <a:br>
              <a:rPr lang="en-US" sz="1800" b="0" i="0" u="none" strike="noStrike" cap="none" dirty="0">
                <a:solidFill>
                  <a:schemeClr val="dk1"/>
                </a:solidFill>
                <a:latin typeface="Times New Roman" panose="02020603050405020304" pitchFamily="18" charset="0"/>
                <a:ea typeface="Calibri"/>
                <a:cs typeface="Times New Roman" panose="02020603050405020304" pitchFamily="18" charset="0"/>
                <a:sym typeface="Calibri"/>
              </a:rPr>
            </a:br>
            <a:r>
              <a:rPr lang="en-US" sz="195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 Air University, Department of Creative Technologies</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14"/>
          <p:cNvSpPr txBox="1"/>
          <p:nvPr/>
        </p:nvSpPr>
        <p:spPr>
          <a:xfrm>
            <a:off x="762000" y="571500"/>
            <a:ext cx="1120140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dirty="0">
                <a:solidFill>
                  <a:srgbClr val="003366"/>
                </a:solidFill>
                <a:latin typeface="Times New Roman" panose="02020603050405020304" pitchFamily="18" charset="0"/>
                <a:ea typeface="Helvetica Neue"/>
                <a:cs typeface="Times New Roman" panose="02020603050405020304" pitchFamily="18" charset="0"/>
                <a:sym typeface="Helvetica Neue"/>
              </a:rPr>
              <a:t>Presentation Agenda</a:t>
            </a:r>
            <a:endParaRPr dirty="0">
              <a:latin typeface="Times New Roman" panose="02020603050405020304" pitchFamily="18" charset="0"/>
              <a:cs typeface="Times New Roman" panose="02020603050405020304" pitchFamily="18" charset="0"/>
            </a:endParaRPr>
          </a:p>
        </p:txBody>
      </p:sp>
      <p:sp>
        <p:nvSpPr>
          <p:cNvPr id="93" name="Google Shape;93;p14"/>
          <p:cNvSpPr/>
          <p:nvPr/>
        </p:nvSpPr>
        <p:spPr>
          <a:xfrm>
            <a:off x="762000" y="1171575"/>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6" name="Content Placeholder 5">
            <a:extLst>
              <a:ext uri="{FF2B5EF4-FFF2-40B4-BE49-F238E27FC236}">
                <a16:creationId xmlns:a16="http://schemas.microsoft.com/office/drawing/2014/main" id="{E4178636-F758-71A1-FF6E-3B3E8E9A8EEE}"/>
              </a:ext>
            </a:extLst>
          </p:cNvPr>
          <p:cNvSpPr>
            <a:spLocks noGrp="1"/>
          </p:cNvSpPr>
          <p:nvPr>
            <p:ph sz="half" idx="2"/>
          </p:nvPr>
        </p:nvSpPr>
        <p:spPr>
          <a:xfrm>
            <a:off x="534311" y="1565695"/>
            <a:ext cx="7833512" cy="4806530"/>
          </a:xfrm>
        </p:spPr>
        <p:txBody>
          <a:bodyPr>
            <a:noAutofit/>
          </a:bodyPr>
          <a:lstStyle/>
          <a:p>
            <a:pPr>
              <a:spcAft>
                <a:spcPts val="1000"/>
              </a:spcAft>
              <a:buNone/>
              <a:defRPr sz="1500"/>
            </a:pPr>
            <a:r>
              <a:rPr lang="en-PK" sz="2000" b="1" dirty="0">
                <a:latin typeface="Times New Roman" panose="02020603050405020304" pitchFamily="18" charset="0"/>
                <a:cs typeface="Times New Roman" panose="02020603050405020304" pitchFamily="18" charset="0"/>
              </a:rPr>
              <a:t>1. </a:t>
            </a:r>
            <a:r>
              <a:rPr lang="en-US" sz="2000" b="1" dirty="0">
                <a:latin typeface="Times New Roman" panose="02020603050405020304" pitchFamily="18" charset="0"/>
                <a:cs typeface="Times New Roman" panose="02020603050405020304" pitchFamily="18" charset="0"/>
              </a:rPr>
              <a:t>Introduction</a:t>
            </a:r>
            <a:endParaRPr lang="en-PK" sz="2000" b="1" dirty="0">
              <a:latin typeface="Times New Roman" panose="02020603050405020304" pitchFamily="18" charset="0"/>
              <a:cs typeface="Times New Roman" panose="02020603050405020304" pitchFamily="18" charset="0"/>
            </a:endParaRPr>
          </a:p>
          <a:p>
            <a:pPr>
              <a:spcAft>
                <a:spcPts val="1000"/>
              </a:spcAft>
              <a:buNone/>
              <a:defRPr sz="1500"/>
            </a:pPr>
            <a:r>
              <a:rPr lang="en-US" sz="2000" b="1" dirty="0">
                <a:latin typeface="Times New Roman" panose="02020603050405020304" pitchFamily="18" charset="0"/>
                <a:cs typeface="Times New Roman" panose="02020603050405020304" pitchFamily="18" charset="0"/>
              </a:rPr>
              <a:t>2</a:t>
            </a:r>
            <a:r>
              <a:rPr lang="en-PK" sz="2000" b="1" dirty="0">
                <a:latin typeface="Times New Roman" panose="02020603050405020304" pitchFamily="18" charset="0"/>
                <a:cs typeface="Times New Roman" panose="02020603050405020304" pitchFamily="18" charset="0"/>
              </a:rPr>
              <a:t>. Literature Review (Traditional ML &amp; Deep Learning)</a:t>
            </a:r>
          </a:p>
          <a:p>
            <a:pPr>
              <a:spcAft>
                <a:spcPts val="1000"/>
              </a:spcAft>
              <a:buNone/>
              <a:defRPr sz="1500"/>
            </a:pPr>
            <a:r>
              <a:rPr lang="en-US" sz="2000" b="1" dirty="0">
                <a:latin typeface="Times New Roman" panose="02020603050405020304" pitchFamily="18" charset="0"/>
                <a:cs typeface="Times New Roman" panose="02020603050405020304" pitchFamily="18" charset="0"/>
              </a:rPr>
              <a:t>3</a:t>
            </a:r>
            <a:r>
              <a:rPr lang="en-PK" sz="2000" b="1" dirty="0">
                <a:latin typeface="Times New Roman" panose="02020603050405020304" pitchFamily="18" charset="0"/>
                <a:cs typeface="Times New Roman" panose="02020603050405020304" pitchFamily="18" charset="0"/>
              </a:rPr>
              <a:t>. Problem Statement &amp; Research Gap</a:t>
            </a:r>
          </a:p>
          <a:p>
            <a:pPr>
              <a:spcAft>
                <a:spcPts val="1000"/>
              </a:spcAft>
              <a:buNone/>
              <a:defRPr sz="1500"/>
            </a:pPr>
            <a:r>
              <a:rPr lang="en-US" sz="2000" b="1" dirty="0">
                <a:latin typeface="Times New Roman" panose="02020603050405020304" pitchFamily="18" charset="0"/>
                <a:cs typeface="Times New Roman" panose="02020603050405020304" pitchFamily="18" charset="0"/>
              </a:rPr>
              <a:t>4</a:t>
            </a:r>
            <a:r>
              <a:rPr lang="en-PK" sz="2000" b="1" dirty="0">
                <a:latin typeface="Times New Roman" panose="02020603050405020304" pitchFamily="18" charset="0"/>
                <a:cs typeface="Times New Roman" panose="02020603050405020304" pitchFamily="18" charset="0"/>
              </a:rPr>
              <a:t>. Research Questions &amp; Objectives</a:t>
            </a:r>
          </a:p>
          <a:p>
            <a:pPr>
              <a:spcAft>
                <a:spcPts val="1000"/>
              </a:spcAft>
              <a:buNone/>
              <a:defRPr sz="1500"/>
            </a:pPr>
            <a:r>
              <a:rPr lang="en-US" sz="2000" b="1" dirty="0">
                <a:latin typeface="Times New Roman" panose="02020603050405020304" pitchFamily="18" charset="0"/>
                <a:cs typeface="Times New Roman" panose="02020603050405020304" pitchFamily="18" charset="0"/>
              </a:rPr>
              <a:t>6</a:t>
            </a:r>
            <a:r>
              <a:rPr lang="en-PK" sz="2000" b="1" dirty="0">
                <a:latin typeface="Times New Roman" panose="02020603050405020304" pitchFamily="18" charset="0"/>
                <a:cs typeface="Times New Roman" panose="02020603050405020304" pitchFamily="18" charset="0"/>
              </a:rPr>
              <a:t>. Methodology (5-Phase Framework)</a:t>
            </a:r>
          </a:p>
          <a:p>
            <a:pPr>
              <a:spcAft>
                <a:spcPts val="1000"/>
              </a:spcAft>
              <a:buNone/>
              <a:defRPr sz="1500"/>
            </a:pPr>
            <a:r>
              <a:rPr lang="en-US" sz="2000" b="1" dirty="0">
                <a:latin typeface="Times New Roman" panose="02020603050405020304" pitchFamily="18" charset="0"/>
                <a:cs typeface="Times New Roman" panose="02020603050405020304" pitchFamily="18" charset="0"/>
              </a:rPr>
              <a:t>7</a:t>
            </a:r>
            <a:r>
              <a:rPr lang="en-PK" sz="2000" b="1" dirty="0">
                <a:latin typeface="Times New Roman" panose="02020603050405020304" pitchFamily="18" charset="0"/>
                <a:cs typeface="Times New Roman" panose="02020603050405020304" pitchFamily="18" charset="0"/>
              </a:rPr>
              <a:t>. Results</a:t>
            </a:r>
          </a:p>
          <a:p>
            <a:pPr>
              <a:spcAft>
                <a:spcPts val="1000"/>
              </a:spcAft>
              <a:buNone/>
              <a:defRPr sz="1500"/>
            </a:pPr>
            <a:r>
              <a:rPr lang="en-PK" sz="2000" b="1" dirty="0">
                <a:latin typeface="Times New Roman" panose="02020603050405020304" pitchFamily="18" charset="0"/>
                <a:cs typeface="Times New Roman" panose="02020603050405020304" pitchFamily="18" charset="0"/>
              </a:rPr>
              <a:t>8. Conclusion &amp; Future Work</a:t>
            </a:r>
          </a:p>
          <a:p>
            <a:endParaRPr lang="en-PK" sz="2000" dirty="0">
              <a:latin typeface="Times New Roman" panose="02020603050405020304" pitchFamily="18" charset="0"/>
              <a:cs typeface="Times New Roman" panose="02020603050405020304" pitchFamily="18" charset="0"/>
            </a:endParaRPr>
          </a:p>
          <a:p>
            <a:pPr marL="0" indent="0">
              <a:buNone/>
            </a:pPr>
            <a:endParaRPr lang="en-PK" sz="20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2780633" cy="577081"/>
          </a:xfrm>
          <a:prstGeom prst="rect">
            <a:avLst/>
          </a:prstGeom>
          <a:noFill/>
        </p:spPr>
        <p:txBody>
          <a:bodyPr wrap="none">
            <a:spAutoFit/>
          </a:bodyPr>
          <a:lstStyle/>
          <a:p>
            <a:pPr>
              <a:defRPr sz="3000" b="1"/>
            </a:pPr>
            <a:r>
              <a:rPr lang="en-US" sz="3150" b="1" dirty="0">
                <a:solidFill>
                  <a:srgbClr val="003366"/>
                </a:solidFill>
                <a:latin typeface="Times New Roman" panose="02020603050405020304" pitchFamily="18" charset="0"/>
                <a:cs typeface="Times New Roman" panose="02020603050405020304" pitchFamily="18" charset="0"/>
              </a:rPr>
              <a:t>1. Introduction</a:t>
            </a:r>
            <a:endParaRPr sz="3150" b="1" dirty="0">
              <a:solidFill>
                <a:srgbClr val="003366"/>
              </a:solidFill>
              <a:latin typeface="Times New Roman" panose="02020603050405020304" pitchFamily="18" charset="0"/>
              <a:cs typeface="Times New Roman" panose="02020603050405020304" pitchFamily="18" charset="0"/>
            </a:endParaRPr>
          </a:p>
        </p:txBody>
      </p:sp>
      <p:sp>
        <p:nvSpPr>
          <p:cNvPr id="3" name="TextBox 2"/>
          <p:cNvSpPr txBox="1"/>
          <p:nvPr/>
        </p:nvSpPr>
        <p:spPr>
          <a:xfrm>
            <a:off x="566928" y="960120"/>
            <a:ext cx="6620681" cy="338554"/>
          </a:xfrm>
          <a:prstGeom prst="rect">
            <a:avLst/>
          </a:prstGeom>
          <a:noFill/>
        </p:spPr>
        <p:txBody>
          <a:bodyPr wrap="square">
            <a:spAutoFit/>
          </a:bodyPr>
          <a:lstStyle/>
          <a:p>
            <a:pPr>
              <a:defRPr sz="1600"/>
            </a:pPr>
            <a:r>
              <a:rPr lang="en-US" dirty="0">
                <a:latin typeface="Times New Roman" panose="02020603050405020304" pitchFamily="18" charset="0"/>
                <a:cs typeface="Times New Roman" panose="02020603050405020304" pitchFamily="18" charset="0"/>
              </a:rPr>
              <a:t>What are system logs, why they are generated, and what they record</a:t>
            </a:r>
          </a:p>
        </p:txBody>
      </p:sp>
      <p:sp>
        <p:nvSpPr>
          <p:cNvPr id="4" name="TextBox 3"/>
          <p:cNvSpPr txBox="1"/>
          <p:nvPr/>
        </p:nvSpPr>
        <p:spPr>
          <a:xfrm>
            <a:off x="594360" y="1554480"/>
            <a:ext cx="5394960" cy="4493538"/>
          </a:xfrm>
          <a:prstGeom prst="rect">
            <a:avLst/>
          </a:prstGeom>
          <a:noFill/>
        </p:spPr>
        <p:txBody>
          <a:bodyPr wrap="square">
            <a:spAutoFit/>
          </a:bodyPr>
          <a:lstStyle/>
          <a:p>
            <a:pPr>
              <a:defRPr sz="2200" b="1"/>
            </a:pPr>
            <a:r>
              <a:rPr dirty="0">
                <a:latin typeface="Times New Roman" panose="02020603050405020304" pitchFamily="18" charset="0"/>
                <a:cs typeface="Times New Roman" panose="02020603050405020304" pitchFamily="18" charset="0"/>
              </a:rPr>
              <a:t>What are System Logs?</a:t>
            </a:r>
          </a:p>
          <a:p>
            <a:pPr>
              <a:spcAft>
                <a:spcPts val="1000"/>
              </a:spcAft>
              <a:defRPr sz="1500"/>
            </a:pPr>
            <a:r>
              <a:rPr sz="1600" dirty="0">
                <a:latin typeface="Times New Roman" panose="02020603050405020304" pitchFamily="18" charset="0"/>
                <a:cs typeface="Times New Roman" panose="02020603050405020304" pitchFamily="18" charset="0"/>
              </a:rPr>
              <a:t>Records of events and activities occurring in an operating system, server, network device, or application.</a:t>
            </a:r>
          </a:p>
          <a:p>
            <a:pPr>
              <a:spcAft>
                <a:spcPts val="1000"/>
              </a:spcAft>
              <a:defRPr sz="1500"/>
            </a:pPr>
            <a:r>
              <a:rPr sz="1600" dirty="0">
                <a:latin typeface="Times New Roman" panose="02020603050405020304" pitchFamily="18" charset="0"/>
                <a:cs typeface="Times New Roman" panose="02020603050405020304" pitchFamily="18" charset="0"/>
              </a:rPr>
              <a:t>They act like a “diary” of the computer, recording important events such as logins, errors, service starts, and device connections.</a:t>
            </a:r>
          </a:p>
          <a:p>
            <a:pPr>
              <a:spcAft>
                <a:spcPts val="1000"/>
              </a:spcAft>
              <a:defRPr sz="1500"/>
            </a:pPr>
            <a:r>
              <a:rPr sz="1600" dirty="0">
                <a:latin typeface="Times New Roman" panose="02020603050405020304" pitchFamily="18" charset="0"/>
                <a:cs typeface="Times New Roman" panose="02020603050405020304" pitchFamily="18" charset="0"/>
              </a:rPr>
              <a:t>Typical information includes timestamps, usernames, IP addresses, processes, event types, and success/failure status.</a:t>
            </a:r>
          </a:p>
          <a:p>
            <a:pPr>
              <a:spcBef>
                <a:spcPts val="1000"/>
              </a:spcBef>
              <a:defRPr sz="2200" b="1"/>
            </a:pPr>
            <a:r>
              <a:rPr dirty="0">
                <a:latin typeface="Times New Roman" panose="02020603050405020304" pitchFamily="18" charset="0"/>
                <a:cs typeface="Times New Roman" panose="02020603050405020304" pitchFamily="18" charset="0"/>
              </a:rPr>
              <a:t>Why are they generated?</a:t>
            </a:r>
          </a:p>
          <a:p>
            <a:pPr>
              <a:spcAft>
                <a:spcPts val="500"/>
              </a:spcAft>
              <a:defRPr sz="1400"/>
            </a:pPr>
            <a:r>
              <a:rPr sz="1600" dirty="0">
                <a:latin typeface="Times New Roman" panose="02020603050405020304" pitchFamily="18" charset="0"/>
                <a:cs typeface="Times New Roman" panose="02020603050405020304" pitchFamily="18" charset="0"/>
              </a:rPr>
              <a:t>Troubleshooting — identify errors and failures.</a:t>
            </a:r>
          </a:p>
          <a:p>
            <a:pPr>
              <a:spcAft>
                <a:spcPts val="500"/>
              </a:spcAft>
              <a:defRPr sz="1400"/>
            </a:pPr>
            <a:r>
              <a:rPr sz="1600" dirty="0">
                <a:latin typeface="Times New Roman" panose="02020603050405020304" pitchFamily="18" charset="0"/>
                <a:cs typeface="Times New Roman" panose="02020603050405020304" pitchFamily="18" charset="0"/>
              </a:rPr>
              <a:t>Security — detect suspicious or unauthorized activity.</a:t>
            </a:r>
          </a:p>
          <a:p>
            <a:pPr>
              <a:spcAft>
                <a:spcPts val="500"/>
              </a:spcAft>
              <a:defRPr sz="1400"/>
            </a:pPr>
            <a:r>
              <a:rPr sz="1600" dirty="0">
                <a:latin typeface="Times New Roman" panose="02020603050405020304" pitchFamily="18" charset="0"/>
                <a:cs typeface="Times New Roman" panose="02020603050405020304" pitchFamily="18" charset="0"/>
              </a:rPr>
              <a:t>Monitoring — observe system and service health.</a:t>
            </a:r>
          </a:p>
          <a:p>
            <a:pPr>
              <a:spcAft>
                <a:spcPts val="500"/>
              </a:spcAft>
              <a:defRPr sz="1400"/>
            </a:pPr>
            <a:r>
              <a:rPr sz="1600" dirty="0">
                <a:latin typeface="Times New Roman" panose="02020603050405020304" pitchFamily="18" charset="0"/>
                <a:cs typeface="Times New Roman" panose="02020603050405020304" pitchFamily="18" charset="0"/>
              </a:rPr>
              <a:t>Auditing — track important changes and actions.</a:t>
            </a:r>
          </a:p>
          <a:p>
            <a:pPr>
              <a:spcAft>
                <a:spcPts val="500"/>
              </a:spcAft>
              <a:defRPr sz="1400"/>
            </a:pPr>
            <a:r>
              <a:rPr sz="1600" dirty="0">
                <a:latin typeface="Times New Roman" panose="02020603050405020304" pitchFamily="18" charset="0"/>
                <a:cs typeface="Times New Roman" panose="02020603050405020304" pitchFamily="18" charset="0"/>
              </a:rPr>
              <a:t>Investigation — reconstruct events after an incident.</a:t>
            </a:r>
          </a:p>
        </p:txBody>
      </p:sp>
      <p:sp>
        <p:nvSpPr>
          <p:cNvPr id="5" name="TextBox 4"/>
          <p:cNvSpPr txBox="1"/>
          <p:nvPr/>
        </p:nvSpPr>
        <p:spPr>
          <a:xfrm>
            <a:off x="6217920" y="1554480"/>
            <a:ext cx="5349240" cy="4934684"/>
          </a:xfrm>
          <a:prstGeom prst="rect">
            <a:avLst/>
          </a:prstGeom>
          <a:noFill/>
        </p:spPr>
        <p:txBody>
          <a:bodyPr wrap="square">
            <a:spAutoFit/>
          </a:bodyPr>
          <a:lstStyle/>
          <a:p>
            <a:pPr>
              <a:defRPr sz="2200" b="1"/>
            </a:pPr>
            <a:r>
              <a:rPr dirty="0">
                <a:latin typeface="Times New Roman" panose="02020603050405020304" pitchFamily="18" charset="0"/>
                <a:cs typeface="Times New Roman" panose="02020603050405020304" pitchFamily="18" charset="0"/>
              </a:rPr>
              <a:t>Common Types</a:t>
            </a:r>
          </a:p>
          <a:p>
            <a:pPr>
              <a:spcAft>
                <a:spcPts val="600"/>
              </a:spcAft>
              <a:defRPr sz="1400"/>
            </a:pPr>
            <a:r>
              <a:rPr sz="1600" dirty="0">
                <a:latin typeface="Times New Roman" panose="02020603050405020304" pitchFamily="18" charset="0"/>
                <a:cs typeface="Times New Roman" panose="02020603050405020304" pitchFamily="18" charset="0"/>
              </a:rPr>
              <a:t>Authentication logs — successful/failed logins and password changes.</a:t>
            </a:r>
          </a:p>
          <a:p>
            <a:pPr>
              <a:spcAft>
                <a:spcPts val="600"/>
              </a:spcAft>
              <a:defRPr sz="1400"/>
            </a:pPr>
            <a:r>
              <a:rPr sz="1600" dirty="0">
                <a:latin typeface="Times New Roman" panose="02020603050405020304" pitchFamily="18" charset="0"/>
                <a:cs typeface="Times New Roman" panose="02020603050405020304" pitchFamily="18" charset="0"/>
              </a:rPr>
              <a:t>Application logs — application starts, errors, exceptions, and </a:t>
            </a:r>
            <a:r>
              <a:rPr sz="1600" dirty="0" err="1">
                <a:latin typeface="Times New Roman" panose="02020603050405020304" pitchFamily="18" charset="0"/>
                <a:cs typeface="Times New Roman" panose="02020603050405020304" pitchFamily="18" charset="0"/>
              </a:rPr>
              <a:t>transac</a:t>
            </a:r>
            <a:r>
              <a:rPr lang="en-US" sz="1600" dirty="0" err="1">
                <a:latin typeface="Times New Roman" panose="02020603050405020304" pitchFamily="18" charset="0"/>
                <a:cs typeface="Times New Roman" panose="02020603050405020304" pitchFamily="18" charset="0"/>
              </a:rPr>
              <a:t>a</a:t>
            </a:r>
            <a:r>
              <a:rPr sz="1600" dirty="0" err="1">
                <a:latin typeface="Times New Roman" panose="02020603050405020304" pitchFamily="18" charset="0"/>
                <a:cs typeface="Times New Roman" panose="02020603050405020304" pitchFamily="18" charset="0"/>
              </a:rPr>
              <a:t>tions</a:t>
            </a:r>
            <a:r>
              <a:rPr sz="1600" dirty="0">
                <a:latin typeface="Times New Roman" panose="02020603050405020304" pitchFamily="18" charset="0"/>
                <a:cs typeface="Times New Roman" panose="02020603050405020304" pitchFamily="18" charset="0"/>
              </a:rPr>
              <a:t>.</a:t>
            </a:r>
          </a:p>
          <a:p>
            <a:pPr>
              <a:spcAft>
                <a:spcPts val="600"/>
              </a:spcAft>
              <a:defRPr sz="1400"/>
            </a:pPr>
            <a:r>
              <a:rPr sz="1600" dirty="0">
                <a:latin typeface="Times New Roman" panose="02020603050405020304" pitchFamily="18" charset="0"/>
                <a:cs typeface="Times New Roman" panose="02020603050405020304" pitchFamily="18" charset="0"/>
              </a:rPr>
              <a:t>Operating-system logs — boot, shutdown, service, and hardware events.</a:t>
            </a:r>
          </a:p>
          <a:p>
            <a:pPr>
              <a:spcAft>
                <a:spcPts val="600"/>
              </a:spcAft>
              <a:defRPr sz="1400"/>
            </a:pPr>
            <a:r>
              <a:rPr sz="1600" dirty="0">
                <a:latin typeface="Times New Roman" panose="02020603050405020304" pitchFamily="18" charset="0"/>
                <a:cs typeface="Times New Roman" panose="02020603050405020304" pitchFamily="18" charset="0"/>
              </a:rPr>
              <a:t>Security logs — suspicious activity, permission changes, malware, and firewall events.</a:t>
            </a:r>
          </a:p>
          <a:p>
            <a:pPr>
              <a:spcAft>
                <a:spcPts val="600"/>
              </a:spcAft>
              <a:defRPr sz="1400"/>
            </a:pPr>
            <a:r>
              <a:rPr sz="1600" dirty="0">
                <a:latin typeface="Times New Roman" panose="02020603050405020304" pitchFamily="18" charset="0"/>
                <a:cs typeface="Times New Roman" panose="02020603050405020304" pitchFamily="18" charset="0"/>
              </a:rPr>
              <a:t>Network logs — connections, blocked traffic, DNS, VPN, and firewall activity.</a:t>
            </a:r>
          </a:p>
          <a:p>
            <a:pPr>
              <a:spcBef>
                <a:spcPts val="1000"/>
              </a:spcBef>
              <a:defRPr sz="2200" b="1"/>
            </a:pPr>
            <a:r>
              <a:rPr dirty="0">
                <a:latin typeface="Times New Roman" panose="02020603050405020304" pitchFamily="18" charset="0"/>
                <a:cs typeface="Times New Roman" panose="02020603050405020304" pitchFamily="18" charset="0"/>
              </a:rPr>
              <a:t>Example</a:t>
            </a:r>
          </a:p>
          <a:p>
            <a:pPr>
              <a:spcBef>
                <a:spcPts val="400"/>
              </a:spcBef>
              <a:defRPr sz="1200">
                <a:latin typeface="Consolas"/>
              </a:defRPr>
            </a:pPr>
            <a:r>
              <a:rPr sz="1600" dirty="0">
                <a:latin typeface="Times New Roman" panose="02020603050405020304" pitchFamily="18" charset="0"/>
                <a:cs typeface="Times New Roman" panose="02020603050405020304" pitchFamily="18" charset="0"/>
              </a:rPr>
              <a:t>20:15:42  SSH  Failed password  user=</a:t>
            </a:r>
            <a:r>
              <a:rPr sz="1600" dirty="0" err="1">
                <a:latin typeface="Times New Roman" panose="02020603050405020304" pitchFamily="18" charset="0"/>
                <a:cs typeface="Times New Roman" panose="02020603050405020304" pitchFamily="18" charset="0"/>
              </a:rPr>
              <a:t>asad</a:t>
            </a:r>
            <a:r>
              <a:rPr sz="1600" dirty="0">
                <a:latin typeface="Times New Roman" panose="02020603050405020304" pitchFamily="18" charset="0"/>
                <a:cs typeface="Times New Roman" panose="02020603050405020304" pitchFamily="18" charset="0"/>
              </a:rPr>
              <a:t>  source=192.168.1.50</a:t>
            </a:r>
          </a:p>
          <a:p>
            <a:pPr>
              <a:spcBef>
                <a:spcPts val="1200"/>
              </a:spcBef>
              <a:defRPr sz="1400" b="1"/>
            </a:pPr>
            <a:r>
              <a:rPr sz="1600" dirty="0">
                <a:latin typeface="Times New Roman" panose="02020603050405020304" pitchFamily="18" charset="0"/>
                <a:cs typeface="Times New Roman" panose="02020603050405020304" pitchFamily="18" charset="0"/>
              </a:rPr>
              <a:t>Key idea: Logs help people and security tools understand what happened, when it happened, and often why.</a:t>
            </a:r>
          </a:p>
        </p:txBody>
      </p:sp>
      <p:sp>
        <p:nvSpPr>
          <p:cNvPr id="7" name="Google Shape;93;p14">
            <a:extLst>
              <a:ext uri="{FF2B5EF4-FFF2-40B4-BE49-F238E27FC236}">
                <a16:creationId xmlns:a16="http://schemas.microsoft.com/office/drawing/2014/main" id="{604A4C37-B1D0-30F4-FFA4-0687A1DE32D5}"/>
              </a:ext>
            </a:extLst>
          </p:cNvPr>
          <p:cNvSpPr/>
          <p:nvPr/>
        </p:nvSpPr>
        <p:spPr>
          <a:xfrm>
            <a:off x="594360" y="1361673"/>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2754408" cy="577081"/>
          </a:xfrm>
          <a:prstGeom prst="rect">
            <a:avLst/>
          </a:prstGeom>
          <a:noFill/>
        </p:spPr>
        <p:txBody>
          <a:bodyPr wrap="none">
            <a:spAutoFit/>
          </a:bodyPr>
          <a:lstStyle/>
          <a:p>
            <a:pPr>
              <a:defRPr sz="3000" b="1"/>
            </a:pPr>
            <a:r>
              <a:rPr lang="en-US" sz="3150" b="1" dirty="0">
                <a:solidFill>
                  <a:srgbClr val="003366"/>
                </a:solidFill>
                <a:latin typeface="Times New Roman" panose="02020603050405020304" pitchFamily="18" charset="0"/>
                <a:cs typeface="Times New Roman" panose="02020603050405020304" pitchFamily="18" charset="0"/>
              </a:rPr>
              <a:t>Log Anomalies</a:t>
            </a:r>
          </a:p>
        </p:txBody>
      </p:sp>
      <p:sp>
        <p:nvSpPr>
          <p:cNvPr id="3" name="TextBox 2"/>
          <p:cNvSpPr txBox="1"/>
          <p:nvPr/>
        </p:nvSpPr>
        <p:spPr>
          <a:xfrm>
            <a:off x="566928" y="896112"/>
            <a:ext cx="6450805" cy="338554"/>
          </a:xfrm>
          <a:prstGeom prst="rect">
            <a:avLst/>
          </a:prstGeom>
          <a:noFill/>
        </p:spPr>
        <p:txBody>
          <a:bodyPr wrap="none">
            <a:spAutoFit/>
          </a:bodyPr>
          <a:lstStyle/>
          <a:p>
            <a:pPr>
              <a:defRPr sz="1500" b="0">
                <a:solidFill>
                  <a:srgbClr val="475569"/>
                </a:solidFill>
                <a:latin typeface="Aptos"/>
              </a:defRPr>
            </a:pPr>
            <a:r>
              <a:rPr sz="1600" dirty="0">
                <a:latin typeface="Times New Roman" panose="02020603050405020304" pitchFamily="18" charset="0"/>
                <a:cs typeface="Times New Roman" panose="02020603050405020304" pitchFamily="18" charset="0"/>
              </a:rPr>
              <a:t>Unusual, unexpected, or abnormal events and patterns found in system logs.</a:t>
            </a:r>
          </a:p>
        </p:txBody>
      </p:sp>
      <p:sp>
        <p:nvSpPr>
          <p:cNvPr id="4" name="Rounded Rectangle 3"/>
          <p:cNvSpPr/>
          <p:nvPr/>
        </p:nvSpPr>
        <p:spPr>
          <a:xfrm>
            <a:off x="548640" y="1417320"/>
            <a:ext cx="5394960" cy="23317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5" name="TextBox 4"/>
          <p:cNvSpPr txBox="1"/>
          <p:nvPr/>
        </p:nvSpPr>
        <p:spPr>
          <a:xfrm>
            <a:off x="749808" y="1545336"/>
            <a:ext cx="4992624" cy="1887696"/>
          </a:xfrm>
          <a:prstGeom prst="rect">
            <a:avLst/>
          </a:prstGeom>
          <a:noFill/>
        </p:spPr>
        <p:txBody>
          <a:bodyPr wrap="square">
            <a:spAutoFit/>
          </a:bodyPr>
          <a:lstStyle/>
          <a:p>
            <a:pPr>
              <a:defRPr sz="1900" b="1">
                <a:latin typeface="Aptos"/>
              </a:defRPr>
            </a:pPr>
            <a:r>
              <a:rPr sz="2000" dirty="0">
                <a:latin typeface="Times New Roman" panose="02020603050405020304" pitchFamily="18" charset="0"/>
                <a:cs typeface="Times New Roman" panose="02020603050405020304" pitchFamily="18" charset="0"/>
              </a:rPr>
              <a:t>Common Types</a:t>
            </a:r>
          </a:p>
          <a:p>
            <a:pPr>
              <a:spcBef>
                <a:spcPts val="400"/>
              </a:spcBef>
              <a:defRPr sz="1350">
                <a:solidFill>
                  <a:srgbClr val="334155"/>
                </a:solidFill>
                <a:latin typeface="Aptos"/>
              </a:defRPr>
            </a:pPr>
            <a:r>
              <a:rPr sz="1600" dirty="0">
                <a:latin typeface="Times New Roman" panose="02020603050405020304" pitchFamily="18" charset="0"/>
                <a:cs typeface="Times New Roman" panose="02020603050405020304" pitchFamily="18" charset="0"/>
              </a:rPr>
              <a:t>• Frequency anomaly — too many or too few events</a:t>
            </a:r>
          </a:p>
          <a:p>
            <a:pPr>
              <a:spcBef>
                <a:spcPts val="400"/>
              </a:spcBef>
              <a:defRPr sz="1350">
                <a:solidFill>
                  <a:srgbClr val="334155"/>
                </a:solidFill>
                <a:latin typeface="Aptos"/>
              </a:defRPr>
            </a:pPr>
            <a:r>
              <a:rPr sz="1600" dirty="0">
                <a:latin typeface="Times New Roman" panose="02020603050405020304" pitchFamily="18" charset="0"/>
                <a:cs typeface="Times New Roman" panose="02020603050405020304" pitchFamily="18" charset="0"/>
              </a:rPr>
              <a:t>• Time anomaly — activity at an unusual time</a:t>
            </a:r>
          </a:p>
          <a:p>
            <a:pPr>
              <a:spcBef>
                <a:spcPts val="400"/>
              </a:spcBef>
              <a:defRPr sz="1350">
                <a:solidFill>
                  <a:srgbClr val="334155"/>
                </a:solidFill>
                <a:latin typeface="Aptos"/>
              </a:defRPr>
            </a:pPr>
            <a:r>
              <a:rPr sz="1600" dirty="0">
                <a:latin typeface="Times New Roman" panose="02020603050405020304" pitchFamily="18" charset="0"/>
                <a:cs typeface="Times New Roman" panose="02020603050405020304" pitchFamily="18" charset="0"/>
              </a:rPr>
              <a:t>• Pattern anomaly — unexpected sequence of events</a:t>
            </a:r>
          </a:p>
          <a:p>
            <a:pPr>
              <a:spcBef>
                <a:spcPts val="400"/>
              </a:spcBef>
              <a:defRPr sz="1350">
                <a:solidFill>
                  <a:srgbClr val="334155"/>
                </a:solidFill>
                <a:latin typeface="Aptos"/>
              </a:defRPr>
            </a:pPr>
            <a:r>
              <a:rPr sz="1600" dirty="0">
                <a:latin typeface="Times New Roman" panose="02020603050405020304" pitchFamily="18" charset="0"/>
                <a:cs typeface="Times New Roman" panose="02020603050405020304" pitchFamily="18" charset="0"/>
              </a:rPr>
              <a:t>• Volume anomaly — unusually large log/data volume</a:t>
            </a:r>
          </a:p>
          <a:p>
            <a:pPr>
              <a:spcBef>
                <a:spcPts val="400"/>
              </a:spcBef>
              <a:defRPr sz="1350">
                <a:solidFill>
                  <a:srgbClr val="334155"/>
                </a:solidFill>
                <a:latin typeface="Aptos"/>
              </a:defRPr>
            </a:pPr>
            <a:r>
              <a:rPr sz="1600" dirty="0">
                <a:latin typeface="Times New Roman" panose="02020603050405020304" pitchFamily="18" charset="0"/>
                <a:cs typeface="Times New Roman" panose="02020603050405020304" pitchFamily="18" charset="0"/>
              </a:rPr>
              <a:t>• User behavior anomaly — activity differs from normal</a:t>
            </a:r>
          </a:p>
        </p:txBody>
      </p:sp>
      <p:sp>
        <p:nvSpPr>
          <p:cNvPr id="6" name="Rounded Rectangle 5"/>
          <p:cNvSpPr/>
          <p:nvPr/>
        </p:nvSpPr>
        <p:spPr>
          <a:xfrm>
            <a:off x="6217920" y="1417320"/>
            <a:ext cx="5394960" cy="23317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 name="TextBox 6"/>
          <p:cNvSpPr txBox="1"/>
          <p:nvPr/>
        </p:nvSpPr>
        <p:spPr>
          <a:xfrm>
            <a:off x="6419088" y="1545336"/>
            <a:ext cx="4992624" cy="1887696"/>
          </a:xfrm>
          <a:prstGeom prst="rect">
            <a:avLst/>
          </a:prstGeom>
          <a:noFill/>
        </p:spPr>
        <p:txBody>
          <a:bodyPr wrap="square">
            <a:spAutoFit/>
          </a:bodyPr>
          <a:lstStyle/>
          <a:p>
            <a:pPr>
              <a:defRPr sz="1900" b="1">
                <a:latin typeface="Aptos"/>
              </a:defRPr>
            </a:pPr>
            <a:r>
              <a:rPr sz="2000" dirty="0">
                <a:latin typeface="Times New Roman" panose="02020603050405020304" pitchFamily="18" charset="0"/>
                <a:cs typeface="Times New Roman" panose="02020603050405020304" pitchFamily="18" charset="0"/>
              </a:rPr>
              <a:t>Other Important Types</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IP/Location anomaly — unusual source or location</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Error anomaly — sudden increase in errors</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Security anomaly — activity suggesting an attack</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Resource anomaly — unusual CPU, memory, or disk use</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Configuration anomaly — unexpected system changes</a:t>
            </a:r>
          </a:p>
        </p:txBody>
      </p:sp>
      <p:sp>
        <p:nvSpPr>
          <p:cNvPr id="8" name="Rounded Rectangle 7"/>
          <p:cNvSpPr/>
          <p:nvPr/>
        </p:nvSpPr>
        <p:spPr>
          <a:xfrm>
            <a:off x="548640" y="3977639"/>
            <a:ext cx="11064240" cy="11430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9" name="TextBox 8"/>
          <p:cNvSpPr txBox="1"/>
          <p:nvPr/>
        </p:nvSpPr>
        <p:spPr>
          <a:xfrm>
            <a:off x="749808" y="4105655"/>
            <a:ext cx="10661904" cy="697627"/>
          </a:xfrm>
          <a:prstGeom prst="rect">
            <a:avLst/>
          </a:prstGeom>
          <a:noFill/>
        </p:spPr>
        <p:txBody>
          <a:bodyPr wrap="square">
            <a:spAutoFit/>
          </a:bodyPr>
          <a:lstStyle/>
          <a:p>
            <a:pPr>
              <a:defRPr sz="1900" b="1">
                <a:latin typeface="Aptos"/>
              </a:defRPr>
            </a:pPr>
            <a:r>
              <a:rPr sz="2000" dirty="0">
                <a:latin typeface="Times New Roman" panose="02020603050405020304" pitchFamily="18" charset="0"/>
                <a:cs typeface="Times New Roman" panose="02020603050405020304" pitchFamily="18" charset="0"/>
              </a:rPr>
              <a:t>Example: Possible Brute-Force Attack</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03:12 Failed login  →  03:13 Failed </a:t>
            </a:r>
            <a:r>
              <a:rPr sz="1600" dirty="0">
                <a:latin typeface="Times New Roman" panose="02020603050405020304" pitchFamily="18" charset="0"/>
                <a:cs typeface="Times New Roman" panose="02020603050405020304" pitchFamily="18" charset="0"/>
              </a:rPr>
              <a:t>login</a:t>
            </a:r>
            <a:r>
              <a:rPr sz="1600" dirty="0">
                <a:solidFill>
                  <a:srgbClr val="334155"/>
                </a:solidFill>
                <a:latin typeface="Times New Roman" panose="02020603050405020304" pitchFamily="18" charset="0"/>
                <a:cs typeface="Times New Roman" panose="02020603050405020304" pitchFamily="18" charset="0"/>
              </a:rPr>
              <a:t>  →  03:14 Failed login  →  03:15 Successful login</a:t>
            </a:r>
          </a:p>
        </p:txBody>
      </p:sp>
      <p:sp>
        <p:nvSpPr>
          <p:cNvPr id="11" name="TextBox 10"/>
          <p:cNvSpPr txBox="1"/>
          <p:nvPr/>
        </p:nvSpPr>
        <p:spPr>
          <a:xfrm>
            <a:off x="1503513" y="5559552"/>
            <a:ext cx="9154494" cy="353943"/>
          </a:xfrm>
          <a:prstGeom prst="rect">
            <a:avLst/>
          </a:prstGeom>
          <a:noFill/>
        </p:spPr>
        <p:txBody>
          <a:bodyPr wrap="none">
            <a:spAutoFit/>
          </a:bodyPr>
          <a:lstStyle/>
          <a:p>
            <a:pPr algn="ctr">
              <a:defRPr sz="1700" b="1">
                <a:solidFill>
                  <a:srgbClr val="0F172A"/>
                </a:solidFill>
                <a:latin typeface="Aptos"/>
              </a:defRPr>
            </a:pPr>
            <a:r>
              <a:rPr dirty="0">
                <a:latin typeface="Times New Roman" panose="02020603050405020304" pitchFamily="18" charset="0"/>
                <a:cs typeface="Times New Roman" panose="02020603050405020304" pitchFamily="18" charset="0"/>
              </a:rPr>
              <a:t>Log anomalies help detect system failures, unusual behavior, and potential cybersecurity threats.</a:t>
            </a:r>
          </a:p>
        </p:txBody>
      </p:sp>
      <p:sp>
        <p:nvSpPr>
          <p:cNvPr id="12" name="Google Shape;93;p14">
            <a:extLst>
              <a:ext uri="{FF2B5EF4-FFF2-40B4-BE49-F238E27FC236}">
                <a16:creationId xmlns:a16="http://schemas.microsoft.com/office/drawing/2014/main" id="{7431300B-24E1-3EE7-2B05-4BC37854B267}"/>
              </a:ext>
            </a:extLst>
          </p:cNvPr>
          <p:cNvSpPr/>
          <p:nvPr/>
        </p:nvSpPr>
        <p:spPr>
          <a:xfrm>
            <a:off x="548640" y="1283017"/>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7310014" cy="577081"/>
          </a:xfrm>
          <a:prstGeom prst="rect">
            <a:avLst/>
          </a:prstGeom>
          <a:noFill/>
        </p:spPr>
        <p:txBody>
          <a:bodyPr wrap="none">
            <a:spAutoFit/>
          </a:bodyPr>
          <a:lstStyle/>
          <a:p>
            <a:pPr>
              <a:defRPr sz="3000" b="1"/>
            </a:pPr>
            <a:r>
              <a:rPr lang="en-US" sz="3150" b="1" dirty="0">
                <a:solidFill>
                  <a:srgbClr val="003366"/>
                </a:solidFill>
                <a:latin typeface="Times New Roman" panose="02020603050405020304" pitchFamily="18" charset="0"/>
                <a:cs typeface="Times New Roman" panose="02020603050405020304" pitchFamily="18" charset="0"/>
              </a:rPr>
              <a:t>Why is log anomaly detection important?</a:t>
            </a:r>
          </a:p>
        </p:txBody>
      </p:sp>
      <p:sp>
        <p:nvSpPr>
          <p:cNvPr id="3" name="TextBox 2"/>
          <p:cNvSpPr txBox="1"/>
          <p:nvPr/>
        </p:nvSpPr>
        <p:spPr>
          <a:xfrm>
            <a:off x="566928" y="896112"/>
            <a:ext cx="8023928" cy="338554"/>
          </a:xfrm>
          <a:prstGeom prst="rect">
            <a:avLst/>
          </a:prstGeom>
          <a:noFill/>
        </p:spPr>
        <p:txBody>
          <a:bodyPr wrap="none">
            <a:spAutoFit/>
          </a:bodyPr>
          <a:lstStyle/>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Detecting abnormal log activity helps organizations identify threats and system problems early.</a:t>
            </a:r>
          </a:p>
        </p:txBody>
      </p:sp>
      <p:sp>
        <p:nvSpPr>
          <p:cNvPr id="4" name="Rounded Rectangle 3"/>
          <p:cNvSpPr/>
          <p:nvPr/>
        </p:nvSpPr>
        <p:spPr>
          <a:xfrm>
            <a:off x="548640" y="1417320"/>
            <a:ext cx="5394960" cy="21488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5" name="TextBox 4"/>
          <p:cNvSpPr txBox="1"/>
          <p:nvPr/>
        </p:nvSpPr>
        <p:spPr>
          <a:xfrm>
            <a:off x="749808" y="1545336"/>
            <a:ext cx="4992624" cy="1590179"/>
          </a:xfrm>
          <a:prstGeom prst="rect">
            <a:avLst/>
          </a:prstGeom>
          <a:noFill/>
        </p:spPr>
        <p:txBody>
          <a:bodyPr wrap="square">
            <a:spAutoFit/>
          </a:bodyPr>
          <a:lstStyle/>
          <a:p>
            <a:pPr>
              <a:defRPr sz="1900" b="1">
                <a:latin typeface="Aptos"/>
              </a:defRPr>
            </a:pPr>
            <a:r>
              <a:rPr sz="2000" dirty="0">
                <a:latin typeface="Times New Roman" panose="02020603050405020304" pitchFamily="18" charset="0"/>
                <a:cs typeface="Times New Roman" panose="02020603050405020304" pitchFamily="18" charset="0"/>
              </a:rPr>
              <a:t>Security &amp; Early Warning</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a:t>
            </a:r>
            <a:r>
              <a:rPr sz="1600" dirty="0">
                <a:latin typeface="Times New Roman" panose="02020603050405020304" pitchFamily="18" charset="0"/>
                <a:cs typeface="Times New Roman" panose="02020603050405020304" pitchFamily="18" charset="0"/>
              </a:rPr>
              <a:t>Detects brute-force attacks and unauthorized access</a:t>
            </a:r>
          </a:p>
          <a:p>
            <a:pPr>
              <a:spcBef>
                <a:spcPts val="400"/>
              </a:spcBef>
              <a:defRPr sz="1350">
                <a:solidFill>
                  <a:srgbClr val="334155"/>
                </a:solidFill>
                <a:latin typeface="Aptos"/>
              </a:defRPr>
            </a:pPr>
            <a:r>
              <a:rPr sz="1600" dirty="0">
                <a:latin typeface="Times New Roman" panose="02020603050405020304" pitchFamily="18" charset="0"/>
                <a:cs typeface="Times New Roman" panose="02020603050405020304" pitchFamily="18" charset="0"/>
              </a:rPr>
              <a:t>• Identifies malware and suspicious user behavior</a:t>
            </a:r>
          </a:p>
          <a:p>
            <a:pPr>
              <a:spcBef>
                <a:spcPts val="400"/>
              </a:spcBef>
              <a:defRPr sz="1350">
                <a:solidFill>
                  <a:srgbClr val="334155"/>
                </a:solidFill>
                <a:latin typeface="Aptos"/>
              </a:defRPr>
            </a:pPr>
            <a:r>
              <a:rPr sz="1600" dirty="0">
                <a:latin typeface="Times New Roman" panose="02020603050405020304" pitchFamily="18" charset="0"/>
                <a:cs typeface="Times New Roman" panose="02020603050405020304" pitchFamily="18" charset="0"/>
              </a:rPr>
              <a:t>• Provides early warning before damage increases</a:t>
            </a:r>
          </a:p>
          <a:p>
            <a:pPr>
              <a:spcBef>
                <a:spcPts val="400"/>
              </a:spcBef>
              <a:defRPr sz="1350">
                <a:solidFill>
                  <a:srgbClr val="334155"/>
                </a:solidFill>
                <a:latin typeface="Aptos"/>
              </a:defRPr>
            </a:pPr>
            <a:r>
              <a:rPr sz="1600" dirty="0">
                <a:latin typeface="Times New Roman" panose="02020603050405020304" pitchFamily="18" charset="0"/>
                <a:cs typeface="Times New Roman" panose="02020603050405020304" pitchFamily="18" charset="0"/>
              </a:rPr>
              <a:t>• Enables faster security response</a:t>
            </a:r>
          </a:p>
        </p:txBody>
      </p:sp>
      <p:sp>
        <p:nvSpPr>
          <p:cNvPr id="6" name="Rounded Rectangle 5"/>
          <p:cNvSpPr/>
          <p:nvPr/>
        </p:nvSpPr>
        <p:spPr>
          <a:xfrm>
            <a:off x="6217920" y="1417320"/>
            <a:ext cx="5394960" cy="21488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 name="TextBox 6"/>
          <p:cNvSpPr txBox="1"/>
          <p:nvPr/>
        </p:nvSpPr>
        <p:spPr>
          <a:xfrm>
            <a:off x="6419088" y="1545336"/>
            <a:ext cx="4992624" cy="1590179"/>
          </a:xfrm>
          <a:prstGeom prst="rect">
            <a:avLst/>
          </a:prstGeom>
          <a:noFill/>
        </p:spPr>
        <p:txBody>
          <a:bodyPr wrap="square">
            <a:spAutoFit/>
          </a:bodyPr>
          <a:lstStyle/>
          <a:p>
            <a:pPr>
              <a:defRPr sz="1900" b="1">
                <a:latin typeface="Aptos"/>
              </a:defRPr>
            </a:pPr>
            <a:r>
              <a:rPr sz="2000" dirty="0">
                <a:latin typeface="Times New Roman" panose="02020603050405020304" pitchFamily="18" charset="0"/>
                <a:cs typeface="Times New Roman" panose="02020603050405020304" pitchFamily="18" charset="0"/>
              </a:rPr>
              <a:t>Operations &amp; Investigation</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Finds errors, crashes, and service failures</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Reduces manual monitoring of large log volumes</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Shows what happened, when, and what was affected</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Supports incident investigation and auditing</a:t>
            </a:r>
          </a:p>
        </p:txBody>
      </p:sp>
      <p:sp>
        <p:nvSpPr>
          <p:cNvPr id="8" name="Rounded Rectangle 7"/>
          <p:cNvSpPr/>
          <p:nvPr/>
        </p:nvSpPr>
        <p:spPr>
          <a:xfrm>
            <a:off x="548640" y="3794760"/>
            <a:ext cx="11064240" cy="11887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9" name="TextBox 8"/>
          <p:cNvSpPr txBox="1"/>
          <p:nvPr/>
        </p:nvSpPr>
        <p:spPr>
          <a:xfrm>
            <a:off x="749808" y="3922776"/>
            <a:ext cx="10661904" cy="697627"/>
          </a:xfrm>
          <a:prstGeom prst="rect">
            <a:avLst/>
          </a:prstGeom>
          <a:noFill/>
        </p:spPr>
        <p:txBody>
          <a:bodyPr wrap="square">
            <a:spAutoFit/>
          </a:bodyPr>
          <a:lstStyle/>
          <a:p>
            <a:pPr>
              <a:defRPr sz="1900" b="1">
                <a:latin typeface="Aptos"/>
              </a:defRPr>
            </a:pPr>
            <a:r>
              <a:rPr sz="2000" dirty="0">
                <a:latin typeface="Times New Roman" panose="02020603050405020304" pitchFamily="18" charset="0"/>
                <a:cs typeface="Times New Roman" panose="02020603050405020304" pitchFamily="18" charset="0"/>
              </a:rPr>
              <a:t>Simple Example</a:t>
            </a:r>
          </a:p>
          <a:p>
            <a:pPr>
              <a:spcBef>
                <a:spcPts val="400"/>
              </a:spcBef>
              <a:defRPr sz="1350">
                <a:solidFill>
                  <a:srgbClr val="334155"/>
                </a:solidFill>
                <a:latin typeface="Aptos"/>
              </a:defRPr>
            </a:pPr>
            <a:r>
              <a:rPr sz="1600" dirty="0">
                <a:solidFill>
                  <a:srgbClr val="334155"/>
                </a:solidFill>
                <a:latin typeface="Times New Roman" panose="02020603050405020304" pitchFamily="18" charset="0"/>
                <a:cs typeface="Times New Roman" panose="02020603050405020304" pitchFamily="18" charset="0"/>
              </a:rPr>
              <a:t>• Normal: 10 failed logins/day  →  Anomaly: 500 failed logins in 5 minutes  →  Alert &amp; investigation</a:t>
            </a:r>
          </a:p>
        </p:txBody>
      </p:sp>
      <p:sp>
        <p:nvSpPr>
          <p:cNvPr id="11" name="TextBox 10"/>
          <p:cNvSpPr txBox="1"/>
          <p:nvPr/>
        </p:nvSpPr>
        <p:spPr>
          <a:xfrm>
            <a:off x="1278643" y="5404104"/>
            <a:ext cx="9604232" cy="353943"/>
          </a:xfrm>
          <a:prstGeom prst="rect">
            <a:avLst/>
          </a:prstGeom>
          <a:noFill/>
        </p:spPr>
        <p:txBody>
          <a:bodyPr wrap="none">
            <a:spAutoFit/>
          </a:bodyPr>
          <a:lstStyle/>
          <a:p>
            <a:pPr algn="ctr">
              <a:defRPr sz="1700" b="1">
                <a:solidFill>
                  <a:srgbClr val="0F172A"/>
                </a:solidFill>
                <a:latin typeface="Aptos"/>
              </a:defRPr>
            </a:pPr>
            <a:r>
              <a:rPr dirty="0">
                <a:latin typeface="Times New Roman" panose="02020603050405020304" pitchFamily="18" charset="0"/>
                <a:cs typeface="Times New Roman" panose="02020603050405020304" pitchFamily="18" charset="0"/>
              </a:rPr>
              <a:t>Early anomaly detection helps organizations respond faster, reduce risk, and prevent serious damage.</a:t>
            </a:r>
          </a:p>
        </p:txBody>
      </p:sp>
      <p:sp>
        <p:nvSpPr>
          <p:cNvPr id="12" name="Google Shape;93;p14">
            <a:extLst>
              <a:ext uri="{FF2B5EF4-FFF2-40B4-BE49-F238E27FC236}">
                <a16:creationId xmlns:a16="http://schemas.microsoft.com/office/drawing/2014/main" id="{2CE51474-E764-41A2-9619-2096285F9949}"/>
              </a:ext>
            </a:extLst>
          </p:cNvPr>
          <p:cNvSpPr/>
          <p:nvPr/>
        </p:nvSpPr>
        <p:spPr>
          <a:xfrm>
            <a:off x="497840" y="1273175"/>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F637F57-6E5A-CAA4-DAD4-56B11923E843}"/>
              </a:ext>
            </a:extLst>
          </p:cNvPr>
          <p:cNvSpPr txBox="1"/>
          <p:nvPr/>
        </p:nvSpPr>
        <p:spPr>
          <a:xfrm>
            <a:off x="414670" y="1770964"/>
            <a:ext cx="11621386" cy="3970318"/>
          </a:xfrm>
          <a:prstGeom prst="rect">
            <a:avLst/>
          </a:prstGeom>
          <a:noFill/>
        </p:spPr>
        <p:txBody>
          <a:bodyPr wrap="square">
            <a:spAutoFit/>
          </a:bodyPr>
          <a:lstStyle/>
          <a:p>
            <a:pPr>
              <a:buNone/>
            </a:pPr>
            <a:r>
              <a:rPr lang="en-PK" b="1" dirty="0">
                <a:latin typeface="Times New Roman" panose="02020603050405020304" pitchFamily="18" charset="0"/>
                <a:cs typeface="Times New Roman" panose="02020603050405020304" pitchFamily="18" charset="0"/>
              </a:rPr>
              <a:t>Apache Hadoop</a:t>
            </a:r>
            <a:endParaRPr lang="en-PK" dirty="0">
              <a:latin typeface="Times New Roman" panose="02020603050405020304" pitchFamily="18" charset="0"/>
              <a:cs typeface="Times New Roman" panose="02020603050405020304" pitchFamily="18" charset="0"/>
            </a:endParaRPr>
          </a:p>
          <a:p>
            <a:pPr marL="342900" lvl="0" indent="-342900">
              <a:buFont typeface="Arial" panose="020B0604020202020204" pitchFamily="34" charset="0"/>
              <a:buChar char="•"/>
            </a:pPr>
            <a:r>
              <a:rPr lang="en-PK" dirty="0">
                <a:latin typeface="Times New Roman" panose="02020603050405020304" pitchFamily="18" charset="0"/>
                <a:cs typeface="Times New Roman" panose="02020603050405020304" pitchFamily="18" charset="0"/>
              </a:rPr>
              <a:t>A comprehensive, open-source software framework designed to store and process massive datasets across distributed clusters of standard computers. It acts as the foundational ecosystem that makes large-scale distributed computing reliable and scalable.</a:t>
            </a:r>
          </a:p>
          <a:p>
            <a:pPr>
              <a:buNone/>
            </a:pPr>
            <a:r>
              <a:rPr lang="en-PK" b="1" dirty="0">
                <a:latin typeface="Times New Roman" panose="02020603050405020304" pitchFamily="18" charset="0"/>
                <a:cs typeface="Times New Roman" panose="02020603050405020304" pitchFamily="18" charset="0"/>
              </a:rPr>
              <a:t>HDFS (Hadoop Distributed File System)</a:t>
            </a:r>
            <a:endParaRPr lang="en-PK" dirty="0">
              <a:latin typeface="Times New Roman" panose="02020603050405020304" pitchFamily="18" charset="0"/>
              <a:cs typeface="Times New Roman" panose="02020603050405020304" pitchFamily="18" charset="0"/>
            </a:endParaRPr>
          </a:p>
          <a:p>
            <a:pPr marL="342900" lvl="0" indent="-342900">
              <a:buFont typeface="Arial" panose="020B0604020202020204" pitchFamily="34" charset="0"/>
              <a:buChar char="•"/>
            </a:pPr>
            <a:r>
              <a:rPr lang="en-PK" dirty="0">
                <a:latin typeface="Times New Roman" panose="02020603050405020304" pitchFamily="18" charset="0"/>
                <a:cs typeface="Times New Roman" panose="02020603050405020304" pitchFamily="18" charset="0"/>
              </a:rPr>
              <a:t>The dedicated storage layer of the Hadoop ecosystem. It splits massive files into smaller blocks and distributes them across multiple physical server nodes. This redundancy ensures that if one hardware node fails, the data is not lost. In the context of system monitoring, HDFS logs continuously record these block allocations, replication pipelines, and node heartbeats.</a:t>
            </a:r>
          </a:p>
          <a:p>
            <a:pPr>
              <a:buNone/>
            </a:pPr>
            <a:r>
              <a:rPr lang="en-PK" b="1" dirty="0">
                <a:latin typeface="Times New Roman" panose="02020603050405020304" pitchFamily="18" charset="0"/>
                <a:cs typeface="Times New Roman" panose="02020603050405020304" pitchFamily="18" charset="0"/>
              </a:rPr>
              <a:t>Apache Spark</a:t>
            </a:r>
            <a:endParaRPr lang="en-PK" dirty="0">
              <a:latin typeface="Times New Roman" panose="02020603050405020304" pitchFamily="18" charset="0"/>
              <a:cs typeface="Times New Roman" panose="02020603050405020304" pitchFamily="18" charset="0"/>
            </a:endParaRPr>
          </a:p>
          <a:p>
            <a:pPr marL="342900" lvl="0" indent="-342900">
              <a:buFont typeface="Arial" panose="020B0604020202020204" pitchFamily="34" charset="0"/>
              <a:buChar char="•"/>
            </a:pPr>
            <a:r>
              <a:rPr lang="en-PK" dirty="0">
                <a:latin typeface="Times New Roman" panose="02020603050405020304" pitchFamily="18" charset="0"/>
                <a:cs typeface="Times New Roman" panose="02020603050405020304" pitchFamily="18" charset="0"/>
              </a:rPr>
              <a:t>A high-speed, in-memory data processing engine that frequently runs on top of HDFS. Unlike older processing models that constantly read and write to physical disks, Spark processes data in RAM (memory), making it significantly faster for training machine learning models, streaming analytics, and complex data pipelines. Its system logs track execution memory states, data transformation stages, and resource allocation.</a:t>
            </a:r>
          </a:p>
        </p:txBody>
      </p:sp>
      <p:sp>
        <p:nvSpPr>
          <p:cNvPr id="4" name="TextBox 3">
            <a:extLst>
              <a:ext uri="{FF2B5EF4-FFF2-40B4-BE49-F238E27FC236}">
                <a16:creationId xmlns:a16="http://schemas.microsoft.com/office/drawing/2014/main" id="{E2C50973-097B-E55E-B262-A23BD6B1E4FE}"/>
              </a:ext>
            </a:extLst>
          </p:cNvPr>
          <p:cNvSpPr txBox="1"/>
          <p:nvPr/>
        </p:nvSpPr>
        <p:spPr>
          <a:xfrm>
            <a:off x="414670" y="818706"/>
            <a:ext cx="7392473" cy="577081"/>
          </a:xfrm>
          <a:prstGeom prst="rect">
            <a:avLst/>
          </a:prstGeom>
          <a:noFill/>
        </p:spPr>
        <p:txBody>
          <a:bodyPr wrap="none" rtlCol="0">
            <a:spAutoFit/>
          </a:bodyPr>
          <a:lstStyle/>
          <a:p>
            <a:pPr>
              <a:defRPr sz="3000" b="1"/>
            </a:pPr>
            <a:r>
              <a:rPr lang="en-US" sz="3150" b="1" dirty="0">
                <a:solidFill>
                  <a:srgbClr val="003366"/>
                </a:solidFill>
                <a:latin typeface="Times New Roman" panose="02020603050405020304" pitchFamily="18" charset="0"/>
                <a:cs typeface="Times New Roman" panose="02020603050405020304" pitchFamily="18" charset="0"/>
              </a:rPr>
              <a:t>What are Hadoop, HDFS and Sparks logs</a:t>
            </a:r>
            <a:endParaRPr lang="en-PK" sz="3150" b="1" dirty="0">
              <a:solidFill>
                <a:srgbClr val="003366"/>
              </a:solidFill>
              <a:latin typeface="Times New Roman" panose="02020603050405020304" pitchFamily="18" charset="0"/>
              <a:cs typeface="Times New Roman" panose="02020603050405020304" pitchFamily="18" charset="0"/>
            </a:endParaRPr>
          </a:p>
        </p:txBody>
      </p:sp>
      <p:sp>
        <p:nvSpPr>
          <p:cNvPr id="5" name="Google Shape;93;p14">
            <a:extLst>
              <a:ext uri="{FF2B5EF4-FFF2-40B4-BE49-F238E27FC236}">
                <a16:creationId xmlns:a16="http://schemas.microsoft.com/office/drawing/2014/main" id="{AB247087-84A3-3228-B3BD-4E67ABF11A00}"/>
              </a:ext>
            </a:extLst>
          </p:cNvPr>
          <p:cNvSpPr/>
          <p:nvPr/>
        </p:nvSpPr>
        <p:spPr>
          <a:xfrm>
            <a:off x="240296" y="1395787"/>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extLst>
      <p:ext uri="{BB962C8B-B14F-4D97-AF65-F5344CB8AC3E}">
        <p14:creationId xmlns:p14="http://schemas.microsoft.com/office/powerpoint/2010/main" val="205598805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BD75A6E-61B1-D3CF-6C75-20B830813C5D}"/>
              </a:ext>
            </a:extLst>
          </p:cNvPr>
          <p:cNvGraphicFramePr>
            <a:graphicFrameLocks noGrp="1"/>
          </p:cNvGraphicFramePr>
          <p:nvPr>
            <p:extLst>
              <p:ext uri="{D42A27DB-BD31-4B8C-83A1-F6EECF244321}">
                <p14:modId xmlns:p14="http://schemas.microsoft.com/office/powerpoint/2010/main" val="1097653726"/>
              </p:ext>
            </p:extLst>
          </p:nvPr>
        </p:nvGraphicFramePr>
        <p:xfrm>
          <a:off x="363793" y="852035"/>
          <a:ext cx="11267765" cy="5832932"/>
        </p:xfrm>
        <a:graphic>
          <a:graphicData uri="http://schemas.openxmlformats.org/drawingml/2006/table">
            <a:tbl>
              <a:tblPr>
                <a:tableStyleId>{5940675A-B579-460E-94D1-54222C63F5DA}</a:tableStyleId>
              </a:tblPr>
              <a:tblGrid>
                <a:gridCol w="2253553">
                  <a:extLst>
                    <a:ext uri="{9D8B030D-6E8A-4147-A177-3AD203B41FA5}">
                      <a16:colId xmlns:a16="http://schemas.microsoft.com/office/drawing/2014/main" val="2683218430"/>
                    </a:ext>
                  </a:extLst>
                </a:gridCol>
                <a:gridCol w="2253553">
                  <a:extLst>
                    <a:ext uri="{9D8B030D-6E8A-4147-A177-3AD203B41FA5}">
                      <a16:colId xmlns:a16="http://schemas.microsoft.com/office/drawing/2014/main" val="2622344372"/>
                    </a:ext>
                  </a:extLst>
                </a:gridCol>
                <a:gridCol w="2253553">
                  <a:extLst>
                    <a:ext uri="{9D8B030D-6E8A-4147-A177-3AD203B41FA5}">
                      <a16:colId xmlns:a16="http://schemas.microsoft.com/office/drawing/2014/main" val="3871276800"/>
                    </a:ext>
                  </a:extLst>
                </a:gridCol>
                <a:gridCol w="2253553">
                  <a:extLst>
                    <a:ext uri="{9D8B030D-6E8A-4147-A177-3AD203B41FA5}">
                      <a16:colId xmlns:a16="http://schemas.microsoft.com/office/drawing/2014/main" val="3824576464"/>
                    </a:ext>
                  </a:extLst>
                </a:gridCol>
                <a:gridCol w="2253553">
                  <a:extLst>
                    <a:ext uri="{9D8B030D-6E8A-4147-A177-3AD203B41FA5}">
                      <a16:colId xmlns:a16="http://schemas.microsoft.com/office/drawing/2014/main" val="1770592670"/>
                    </a:ext>
                  </a:extLst>
                </a:gridCol>
              </a:tblGrid>
              <a:tr h="413658">
                <a:tc>
                  <a:txBody>
                    <a:bodyPr/>
                    <a:lstStyle/>
                    <a:p>
                      <a:pPr marL="0" marR="0" algn="l">
                        <a:spcBef>
                          <a:spcPts val="750"/>
                        </a:spcBef>
                        <a:buNone/>
                      </a:pPr>
                      <a:r>
                        <a:rPr lang="en-PK" sz="1600" b="1" dirty="0">
                          <a:effectLst/>
                          <a:latin typeface="Times New Roman" panose="02020603050405020304" pitchFamily="18" charset="0"/>
                          <a:cs typeface="Times New Roman" panose="02020603050405020304" pitchFamily="18" charset="0"/>
                        </a:rPr>
                        <a:t>Paper Name &amp; Citation</a:t>
                      </a:r>
                      <a:endParaRPr lang="en-PK" sz="1600" b="1" dirty="0">
                        <a:solidFill>
                          <a:srgbClr val="003366"/>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600" b="1" dirty="0">
                          <a:effectLst/>
                          <a:latin typeface="Times New Roman" panose="02020603050405020304" pitchFamily="18" charset="0"/>
                          <a:cs typeface="Times New Roman" panose="02020603050405020304" pitchFamily="18" charset="0"/>
                        </a:rPr>
                        <a:t>Dataset</a:t>
                      </a:r>
                      <a:endParaRPr lang="en-PK" sz="1600" b="1" dirty="0">
                        <a:solidFill>
                          <a:srgbClr val="003366"/>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600" b="1" dirty="0">
                          <a:effectLst/>
                          <a:latin typeface="Times New Roman" panose="02020603050405020304" pitchFamily="18" charset="0"/>
                          <a:cs typeface="Times New Roman" panose="02020603050405020304" pitchFamily="18" charset="0"/>
                        </a:rPr>
                        <a:t>Anomaly</a:t>
                      </a:r>
                      <a:endParaRPr lang="en-PK" sz="1600" b="1" dirty="0">
                        <a:solidFill>
                          <a:srgbClr val="003366"/>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600" b="1" dirty="0">
                          <a:effectLst/>
                          <a:latin typeface="Times New Roman" panose="02020603050405020304" pitchFamily="18" charset="0"/>
                          <a:cs typeface="Times New Roman" panose="02020603050405020304" pitchFamily="18" charset="0"/>
                        </a:rPr>
                        <a:t>Mode (Model/Method)</a:t>
                      </a:r>
                      <a:endParaRPr lang="en-PK" sz="1600" b="1" dirty="0">
                        <a:solidFill>
                          <a:srgbClr val="003366"/>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600" b="1" dirty="0">
                          <a:effectLst/>
                          <a:latin typeface="Times New Roman" panose="02020603050405020304" pitchFamily="18" charset="0"/>
                          <a:cs typeface="Times New Roman" panose="02020603050405020304" pitchFamily="18" charset="0"/>
                        </a:rPr>
                        <a:t>Result (Performance)</a:t>
                      </a:r>
                      <a:endParaRPr lang="en-PK" sz="1600" b="1" dirty="0">
                        <a:solidFill>
                          <a:srgbClr val="003366"/>
                        </a:solidFill>
                        <a:effectLst/>
                        <a:latin typeface="Times New Roman" panose="02020603050405020304" pitchFamily="18" charset="0"/>
                        <a:cs typeface="Times New Roman" panose="02020603050405020304" pitchFamily="18" charset="0"/>
                      </a:endParaRPr>
                    </a:p>
                  </a:txBody>
                  <a:tcPr marL="83814" marR="83814" marT="67051" marB="67051" anchor="ctr"/>
                </a:tc>
                <a:extLst>
                  <a:ext uri="{0D108BD9-81ED-4DB2-BD59-A6C34878D82A}">
                    <a16:rowId xmlns:a16="http://schemas.microsoft.com/office/drawing/2014/main" val="2578665515"/>
                  </a:ext>
                </a:extLst>
              </a:tr>
              <a:tr h="674348">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Detecting Large-Scale System Problems...</a:t>
                      </a:r>
                      <a:br>
                        <a:rPr lang="en-PK" sz="1400" dirty="0">
                          <a:effectLst/>
                          <a:latin typeface="Times New Roman" panose="02020603050405020304" pitchFamily="18" charset="0"/>
                          <a:cs typeface="Times New Roman" panose="02020603050405020304" pitchFamily="18" charset="0"/>
                        </a:rPr>
                      </a:br>
                      <a:r>
                        <a:rPr lang="en-PK" sz="1400" dirty="0">
                          <a:effectLst/>
                          <a:latin typeface="Times New Roman" panose="02020603050405020304" pitchFamily="18" charset="0"/>
                          <a:cs typeface="Times New Roman" panose="02020603050405020304" pitchFamily="18" charset="0"/>
                        </a:rPr>
                        <a:t>(Xu et al., 2009)</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HDFS, Darkstar</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Binary</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PCA (Principal Component Analysis)</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F1: ~0.93</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extLst>
                  <a:ext uri="{0D108BD9-81ED-4DB2-BD59-A6C34878D82A}">
                    <a16:rowId xmlns:a16="http://schemas.microsoft.com/office/drawing/2014/main" val="2845899917"/>
                  </a:ext>
                </a:extLst>
              </a:tr>
              <a:tr h="674348">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Mining Invariants from Console Logs...</a:t>
                      </a:r>
                      <a:br>
                        <a:rPr lang="en-PK" sz="1400">
                          <a:effectLst/>
                          <a:latin typeface="Times New Roman" panose="02020603050405020304" pitchFamily="18" charset="0"/>
                          <a:cs typeface="Times New Roman" panose="02020603050405020304" pitchFamily="18" charset="0"/>
                        </a:rPr>
                      </a:br>
                      <a:r>
                        <a:rPr lang="en-PK" sz="1400">
                          <a:effectLst/>
                          <a:latin typeface="Times New Roman" panose="02020603050405020304" pitchFamily="18" charset="0"/>
                          <a:cs typeface="Times New Roman" panose="02020603050405020304" pitchFamily="18" charset="0"/>
                        </a:rPr>
                        <a:t>(Lou et al., 2010)</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Hadoop, HDFS</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Binary</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Invariant Mining (Unsupervised)</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Recall: ~0.90</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extLst>
                  <a:ext uri="{0D108BD9-81ED-4DB2-BD59-A6C34878D82A}">
                    <a16:rowId xmlns:a16="http://schemas.microsoft.com/office/drawing/2014/main" val="3018401227"/>
                  </a:ext>
                </a:extLst>
              </a:tr>
              <a:tr h="674348">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Experience Report: System Log Analysis...</a:t>
                      </a:r>
                      <a:br>
                        <a:rPr lang="en-PK" sz="1400">
                          <a:effectLst/>
                          <a:latin typeface="Times New Roman" panose="02020603050405020304" pitchFamily="18" charset="0"/>
                          <a:cs typeface="Times New Roman" panose="02020603050405020304" pitchFamily="18" charset="0"/>
                        </a:rPr>
                      </a:br>
                      <a:r>
                        <a:rPr lang="en-PK" sz="1400">
                          <a:effectLst/>
                          <a:latin typeface="Times New Roman" panose="02020603050405020304" pitchFamily="18" charset="0"/>
                          <a:cs typeface="Times New Roman" panose="02020603050405020304" pitchFamily="18" charset="0"/>
                        </a:rPr>
                        <a:t>(He et al., 2016)</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HDFS, BGL</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Binary</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Log Clustering, PCA, IM</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F1: 0.88 - 0.95</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extLst>
                  <a:ext uri="{0D108BD9-81ED-4DB2-BD59-A6C34878D82A}">
                    <a16:rowId xmlns:a16="http://schemas.microsoft.com/office/drawing/2014/main" val="3410228138"/>
                  </a:ext>
                </a:extLst>
              </a:tr>
              <a:tr h="674348">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Isolation Forest (Applied to Logs)</a:t>
                      </a:r>
                      <a:br>
                        <a:rPr lang="en-PK" sz="1400" dirty="0">
                          <a:effectLst/>
                          <a:latin typeface="Times New Roman" panose="02020603050405020304" pitchFamily="18" charset="0"/>
                          <a:cs typeface="Times New Roman" panose="02020603050405020304" pitchFamily="18" charset="0"/>
                        </a:rPr>
                      </a:br>
                      <a:r>
                        <a:rPr lang="en-PK" sz="1400" dirty="0">
                          <a:effectLst/>
                          <a:latin typeface="Times New Roman" panose="02020603050405020304" pitchFamily="18" charset="0"/>
                          <a:cs typeface="Times New Roman" panose="02020603050405020304" pitchFamily="18" charset="0"/>
                        </a:rPr>
                        <a:t>(Liu et al., 2008)</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HDFS, BGL</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Binary</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dirty="0" err="1">
                          <a:effectLst/>
                          <a:latin typeface="Times New Roman" panose="02020603050405020304" pitchFamily="18" charset="0"/>
                          <a:cs typeface="Times New Roman" panose="02020603050405020304" pitchFamily="18" charset="0"/>
                        </a:rPr>
                        <a:t>iForest</a:t>
                      </a:r>
                      <a:r>
                        <a:rPr lang="en-PK" sz="1400" dirty="0">
                          <a:effectLst/>
                          <a:latin typeface="Times New Roman" panose="02020603050405020304" pitchFamily="18" charset="0"/>
                          <a:cs typeface="Times New Roman" panose="02020603050405020304" pitchFamily="18" charset="0"/>
                        </a:rPr>
                        <a:t> (Tree-based Ensemble)</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F1: ~0.73</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extLst>
                  <a:ext uri="{0D108BD9-81ED-4DB2-BD59-A6C34878D82A}">
                    <a16:rowId xmlns:a16="http://schemas.microsoft.com/office/drawing/2014/main" val="425506911"/>
                  </a:ext>
                </a:extLst>
              </a:tr>
              <a:tr h="674348">
                <a:tc>
                  <a:txBody>
                    <a:bodyPr/>
                    <a:lstStyle/>
                    <a:p>
                      <a:pPr marL="0" marR="0" algn="l">
                        <a:spcBef>
                          <a:spcPts val="750"/>
                        </a:spcBef>
                        <a:buNone/>
                      </a:pPr>
                      <a:r>
                        <a:rPr lang="en-PK" sz="1400" dirty="0" err="1">
                          <a:effectLst/>
                          <a:latin typeface="Times New Roman" panose="02020603050405020304" pitchFamily="18" charset="0"/>
                          <a:cs typeface="Times New Roman" panose="02020603050405020304" pitchFamily="18" charset="0"/>
                        </a:rPr>
                        <a:t>DeepLog</a:t>
                      </a:r>
                      <a:r>
                        <a:rPr lang="en-PK" sz="1400" dirty="0">
                          <a:effectLst/>
                          <a:latin typeface="Times New Roman" panose="02020603050405020304" pitchFamily="18" charset="0"/>
                          <a:cs typeface="Times New Roman" panose="02020603050405020304" pitchFamily="18" charset="0"/>
                        </a:rPr>
                        <a:t>: Anomaly Detection...</a:t>
                      </a:r>
                      <a:br>
                        <a:rPr lang="en-PK" sz="1400" dirty="0">
                          <a:effectLst/>
                          <a:latin typeface="Times New Roman" panose="02020603050405020304" pitchFamily="18" charset="0"/>
                          <a:cs typeface="Times New Roman" panose="02020603050405020304" pitchFamily="18" charset="0"/>
                        </a:rPr>
                      </a:br>
                      <a:r>
                        <a:rPr lang="en-PK" sz="1400" dirty="0">
                          <a:effectLst/>
                          <a:latin typeface="Times New Roman" panose="02020603050405020304" pitchFamily="18" charset="0"/>
                          <a:cs typeface="Times New Roman" panose="02020603050405020304" pitchFamily="18" charset="0"/>
                        </a:rPr>
                        <a:t>(Du et al., 2017)</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solidFill>
                      <a:srgbClr val="FFFF00"/>
                    </a:solidFill>
                  </a:tcP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HDFS, OpenStack</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solidFill>
                      <a:srgbClr val="FFFF00"/>
                    </a:solidFill>
                  </a:tcP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Binary</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solidFill>
                      <a:srgbClr val="FFFF00"/>
                    </a:solidFill>
                  </a:tcP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LSTM (Next-Key Prediction)</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solidFill>
                      <a:srgbClr val="FFFF00"/>
                    </a:solidFill>
                  </a:tcP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F1: 0.96</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solidFill>
                      <a:srgbClr val="FFFF00"/>
                    </a:solidFill>
                  </a:tcPr>
                </a:tc>
                <a:extLst>
                  <a:ext uri="{0D108BD9-81ED-4DB2-BD59-A6C34878D82A}">
                    <a16:rowId xmlns:a16="http://schemas.microsoft.com/office/drawing/2014/main" val="2419556522"/>
                  </a:ext>
                </a:extLst>
              </a:tr>
              <a:tr h="674348">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LogAnomaly: Unsupervised Detection...</a:t>
                      </a:r>
                      <a:br>
                        <a:rPr lang="en-PK" sz="1400">
                          <a:effectLst/>
                          <a:latin typeface="Times New Roman" panose="02020603050405020304" pitchFamily="18" charset="0"/>
                          <a:cs typeface="Times New Roman" panose="02020603050405020304" pitchFamily="18" charset="0"/>
                        </a:rPr>
                      </a:br>
                      <a:r>
                        <a:rPr lang="en-PK" sz="1400">
                          <a:effectLst/>
                          <a:latin typeface="Times New Roman" panose="02020603050405020304" pitchFamily="18" charset="0"/>
                          <a:cs typeface="Times New Roman" panose="02020603050405020304" pitchFamily="18" charset="0"/>
                        </a:rPr>
                        <a:t>(Meng et al., 2019)</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HDFS, BGL</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Binary</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LSTM + Template2Vec (Attention)</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F1: 0.97</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extLst>
                  <a:ext uri="{0D108BD9-81ED-4DB2-BD59-A6C34878D82A}">
                    <a16:rowId xmlns:a16="http://schemas.microsoft.com/office/drawing/2014/main" val="2442865498"/>
                  </a:ext>
                </a:extLst>
              </a:tr>
              <a:tr h="674348">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Robust Log-based Anomaly Detection...</a:t>
                      </a:r>
                      <a:br>
                        <a:rPr lang="en-PK" sz="1400">
                          <a:effectLst/>
                          <a:latin typeface="Times New Roman" panose="02020603050405020304" pitchFamily="18" charset="0"/>
                          <a:cs typeface="Times New Roman" panose="02020603050405020304" pitchFamily="18" charset="0"/>
                        </a:rPr>
                      </a:br>
                      <a:r>
                        <a:rPr lang="en-PK" sz="1400">
                          <a:effectLst/>
                          <a:latin typeface="Times New Roman" panose="02020603050405020304" pitchFamily="18" charset="0"/>
                          <a:cs typeface="Times New Roman" panose="02020603050405020304" pitchFamily="18" charset="0"/>
                        </a:rPr>
                        <a:t>(Zhang et al., 2019)</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HDFS, BGL</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Binary</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a:effectLst/>
                          <a:latin typeface="Times New Roman" panose="02020603050405020304" pitchFamily="18" charset="0"/>
                          <a:cs typeface="Times New Roman" panose="02020603050405020304" pitchFamily="18" charset="0"/>
                        </a:rPr>
                        <a:t>Bi-LSTM + Attention</a:t>
                      </a:r>
                      <a:endParaRPr lang="en-PK" sz="140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tc>
                  <a:txBody>
                    <a:bodyPr/>
                    <a:lstStyle/>
                    <a:p>
                      <a:pPr marL="0" marR="0" algn="l">
                        <a:spcBef>
                          <a:spcPts val="750"/>
                        </a:spcBef>
                        <a:buNone/>
                      </a:pPr>
                      <a:r>
                        <a:rPr lang="en-PK" sz="1400" dirty="0">
                          <a:effectLst/>
                          <a:latin typeface="Times New Roman" panose="02020603050405020304" pitchFamily="18" charset="0"/>
                          <a:cs typeface="Times New Roman" panose="02020603050405020304" pitchFamily="18" charset="0"/>
                        </a:rPr>
                        <a:t>F1: ~0.98</a:t>
                      </a:r>
                      <a:endParaRPr lang="en-PK" sz="1400" dirty="0">
                        <a:solidFill>
                          <a:srgbClr val="333333"/>
                        </a:solidFill>
                        <a:effectLst/>
                        <a:latin typeface="Times New Roman" panose="02020603050405020304" pitchFamily="18" charset="0"/>
                        <a:cs typeface="Times New Roman" panose="02020603050405020304" pitchFamily="18" charset="0"/>
                      </a:endParaRPr>
                    </a:p>
                  </a:txBody>
                  <a:tcPr marL="83814" marR="83814" marT="67051" marB="67051" anchor="ctr"/>
                </a:tc>
                <a:extLst>
                  <a:ext uri="{0D108BD9-81ED-4DB2-BD59-A6C34878D82A}">
                    <a16:rowId xmlns:a16="http://schemas.microsoft.com/office/drawing/2014/main" val="982218636"/>
                  </a:ext>
                </a:extLst>
              </a:tr>
            </a:tbl>
          </a:graphicData>
        </a:graphic>
      </p:graphicFrame>
      <p:sp>
        <p:nvSpPr>
          <p:cNvPr id="6" name="TextBox 5">
            <a:extLst>
              <a:ext uri="{FF2B5EF4-FFF2-40B4-BE49-F238E27FC236}">
                <a16:creationId xmlns:a16="http://schemas.microsoft.com/office/drawing/2014/main" id="{7D158489-8C94-B522-AAB9-BB12346B5D64}"/>
              </a:ext>
            </a:extLst>
          </p:cNvPr>
          <p:cNvSpPr txBox="1"/>
          <p:nvPr/>
        </p:nvSpPr>
        <p:spPr>
          <a:xfrm>
            <a:off x="363793" y="274954"/>
            <a:ext cx="10815483" cy="577081"/>
          </a:xfrm>
          <a:prstGeom prst="rect">
            <a:avLst/>
          </a:prstGeom>
          <a:noFill/>
        </p:spPr>
        <p:txBody>
          <a:bodyPr wrap="square">
            <a:spAutoFit/>
          </a:bodyPr>
          <a:lstStyle/>
          <a:p>
            <a:pPr marR="0" indent="0">
              <a:spcAft>
                <a:spcPts val="2250"/>
              </a:spcAft>
              <a:buNone/>
              <a:defRPr sz="3000" b="1"/>
            </a:pPr>
            <a:r>
              <a:rPr lang="en-US" sz="3150" b="1" dirty="0">
                <a:solidFill>
                  <a:srgbClr val="003366"/>
                </a:solidFill>
                <a:latin typeface="Times New Roman" panose="02020603050405020304" pitchFamily="18" charset="0"/>
                <a:cs typeface="Times New Roman" panose="02020603050405020304" pitchFamily="18" charset="0"/>
              </a:rPr>
              <a:t>2. </a:t>
            </a:r>
            <a:r>
              <a:rPr lang="en-PK" sz="3150" b="1" dirty="0">
                <a:solidFill>
                  <a:srgbClr val="003366"/>
                </a:solidFill>
                <a:latin typeface="Times New Roman" panose="02020603050405020304" pitchFamily="18" charset="0"/>
                <a:cs typeface="Times New Roman" panose="02020603050405020304" pitchFamily="18" charset="0"/>
              </a:rPr>
              <a:t>Literature Review (Traditional ML &amp; Deep Learning)</a:t>
            </a:r>
          </a:p>
        </p:txBody>
      </p:sp>
    </p:spTree>
    <p:extLst>
      <p:ext uri="{BB962C8B-B14F-4D97-AF65-F5344CB8AC3E}">
        <p14:creationId xmlns:p14="http://schemas.microsoft.com/office/powerpoint/2010/main" val="32691636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4149055-E978-370F-FBC7-1AA0C5FDB2AD}"/>
              </a:ext>
            </a:extLst>
          </p:cNvPr>
          <p:cNvGraphicFramePr>
            <a:graphicFrameLocks noGrp="1"/>
          </p:cNvGraphicFramePr>
          <p:nvPr>
            <p:extLst>
              <p:ext uri="{D42A27DB-BD31-4B8C-83A1-F6EECF244321}">
                <p14:modId xmlns:p14="http://schemas.microsoft.com/office/powerpoint/2010/main" val="4052806496"/>
              </p:ext>
            </p:extLst>
          </p:nvPr>
        </p:nvGraphicFramePr>
        <p:xfrm>
          <a:off x="157315" y="1124172"/>
          <a:ext cx="11474245" cy="5353851"/>
        </p:xfrm>
        <a:graphic>
          <a:graphicData uri="http://schemas.openxmlformats.org/drawingml/2006/table">
            <a:tbl>
              <a:tblPr>
                <a:tableStyleId>{616DA210-FB5B-4158-B5E0-FEB733F419BA}</a:tableStyleId>
              </a:tblPr>
              <a:tblGrid>
                <a:gridCol w="2294849">
                  <a:extLst>
                    <a:ext uri="{9D8B030D-6E8A-4147-A177-3AD203B41FA5}">
                      <a16:colId xmlns:a16="http://schemas.microsoft.com/office/drawing/2014/main" val="102976979"/>
                    </a:ext>
                  </a:extLst>
                </a:gridCol>
                <a:gridCol w="2294849">
                  <a:extLst>
                    <a:ext uri="{9D8B030D-6E8A-4147-A177-3AD203B41FA5}">
                      <a16:colId xmlns:a16="http://schemas.microsoft.com/office/drawing/2014/main" val="905101821"/>
                    </a:ext>
                  </a:extLst>
                </a:gridCol>
                <a:gridCol w="2294849">
                  <a:extLst>
                    <a:ext uri="{9D8B030D-6E8A-4147-A177-3AD203B41FA5}">
                      <a16:colId xmlns:a16="http://schemas.microsoft.com/office/drawing/2014/main" val="1022585069"/>
                    </a:ext>
                  </a:extLst>
                </a:gridCol>
                <a:gridCol w="2294849">
                  <a:extLst>
                    <a:ext uri="{9D8B030D-6E8A-4147-A177-3AD203B41FA5}">
                      <a16:colId xmlns:a16="http://schemas.microsoft.com/office/drawing/2014/main" val="210956973"/>
                    </a:ext>
                  </a:extLst>
                </a:gridCol>
                <a:gridCol w="2294849">
                  <a:extLst>
                    <a:ext uri="{9D8B030D-6E8A-4147-A177-3AD203B41FA5}">
                      <a16:colId xmlns:a16="http://schemas.microsoft.com/office/drawing/2014/main" val="284940448"/>
                    </a:ext>
                  </a:extLst>
                </a:gridCol>
              </a:tblGrid>
              <a:tr h="628067">
                <a:tc>
                  <a:txBody>
                    <a:bodyPr/>
                    <a:lstStyle/>
                    <a:p>
                      <a:pPr marL="0" marR="0" algn="l">
                        <a:spcBef>
                          <a:spcPts val="750"/>
                        </a:spcBef>
                        <a:buNone/>
                      </a:pPr>
                      <a:r>
                        <a:rPr lang="en-PK" sz="1400" b="1" kern="1200" dirty="0">
                          <a:solidFill>
                            <a:schemeClr val="tx1"/>
                          </a:solidFill>
                          <a:effectLst/>
                          <a:latin typeface="Times New Roman" panose="02020603050405020304" pitchFamily="18" charset="0"/>
                          <a:ea typeface="+mn-ea"/>
                          <a:cs typeface="Times New Roman" panose="02020603050405020304" pitchFamily="18" charset="0"/>
                        </a:rPr>
                        <a:t>Paper Name &amp; Citation</a:t>
                      </a:r>
                    </a:p>
                  </a:txBody>
                  <a:tcPr marL="99036" marR="99036" marT="79229" marB="79229" anchor="ctr"/>
                </a:tc>
                <a:tc>
                  <a:txBody>
                    <a:bodyPr/>
                    <a:lstStyle/>
                    <a:p>
                      <a:pPr marL="0" marR="0" algn="l">
                        <a:spcBef>
                          <a:spcPts val="750"/>
                        </a:spcBef>
                        <a:buNone/>
                      </a:pPr>
                      <a:r>
                        <a:rPr lang="en-PK" sz="1400" b="1" kern="1200" dirty="0">
                          <a:solidFill>
                            <a:schemeClr val="tx1"/>
                          </a:solidFill>
                          <a:effectLst/>
                          <a:latin typeface="Times New Roman" panose="02020603050405020304" pitchFamily="18" charset="0"/>
                          <a:ea typeface="+mn-ea"/>
                          <a:cs typeface="Times New Roman" panose="02020603050405020304" pitchFamily="18" charset="0"/>
                        </a:rPr>
                        <a:t>Dataset</a:t>
                      </a:r>
                    </a:p>
                  </a:txBody>
                  <a:tcPr marL="99036" marR="99036" marT="79229" marB="79229" anchor="ctr"/>
                </a:tc>
                <a:tc>
                  <a:txBody>
                    <a:bodyPr/>
                    <a:lstStyle/>
                    <a:p>
                      <a:pPr marL="0" marR="0" algn="l">
                        <a:spcBef>
                          <a:spcPts val="750"/>
                        </a:spcBef>
                        <a:buNone/>
                      </a:pPr>
                      <a:r>
                        <a:rPr lang="en-PK" sz="1400" b="1" kern="1200" dirty="0">
                          <a:solidFill>
                            <a:schemeClr val="tx1"/>
                          </a:solidFill>
                          <a:effectLst/>
                          <a:latin typeface="Times New Roman" panose="02020603050405020304" pitchFamily="18" charset="0"/>
                          <a:ea typeface="+mn-ea"/>
                          <a:cs typeface="Times New Roman" panose="02020603050405020304" pitchFamily="18" charset="0"/>
                        </a:rPr>
                        <a:t>Anomaly</a:t>
                      </a:r>
                    </a:p>
                  </a:txBody>
                  <a:tcPr marL="99036" marR="99036" marT="79229" marB="79229" anchor="ctr"/>
                </a:tc>
                <a:tc>
                  <a:txBody>
                    <a:bodyPr/>
                    <a:lstStyle/>
                    <a:p>
                      <a:pPr marL="0" marR="0" algn="l">
                        <a:spcBef>
                          <a:spcPts val="750"/>
                        </a:spcBef>
                        <a:buNone/>
                      </a:pPr>
                      <a:r>
                        <a:rPr lang="en-PK" sz="1400" b="1" kern="1200" dirty="0">
                          <a:solidFill>
                            <a:schemeClr val="tx1"/>
                          </a:solidFill>
                          <a:effectLst/>
                          <a:latin typeface="Times New Roman" panose="02020603050405020304" pitchFamily="18" charset="0"/>
                          <a:ea typeface="+mn-ea"/>
                          <a:cs typeface="Times New Roman" panose="02020603050405020304" pitchFamily="18" charset="0"/>
                        </a:rPr>
                        <a:t>Mode (Model/Method)</a:t>
                      </a:r>
                    </a:p>
                  </a:txBody>
                  <a:tcPr marL="99036" marR="99036" marT="79229" marB="79229" anchor="ctr"/>
                </a:tc>
                <a:tc>
                  <a:txBody>
                    <a:bodyPr/>
                    <a:lstStyle/>
                    <a:p>
                      <a:pPr marL="0" marR="0" algn="l">
                        <a:spcBef>
                          <a:spcPts val="750"/>
                        </a:spcBef>
                        <a:buNone/>
                      </a:pPr>
                      <a:r>
                        <a:rPr lang="en-PK" sz="1400" b="1" kern="1200" dirty="0">
                          <a:solidFill>
                            <a:schemeClr val="tx1"/>
                          </a:solidFill>
                          <a:effectLst/>
                          <a:latin typeface="Times New Roman" panose="02020603050405020304" pitchFamily="18" charset="0"/>
                          <a:ea typeface="+mn-ea"/>
                          <a:cs typeface="Times New Roman" panose="02020603050405020304" pitchFamily="18" charset="0"/>
                        </a:rPr>
                        <a:t>Result (Performance)</a:t>
                      </a:r>
                    </a:p>
                  </a:txBody>
                  <a:tcPr marL="99036" marR="99036" marT="79229" marB="79229" anchor="ctr"/>
                </a:tc>
                <a:extLst>
                  <a:ext uri="{0D108BD9-81ED-4DB2-BD59-A6C34878D82A}">
                    <a16:rowId xmlns:a16="http://schemas.microsoft.com/office/drawing/2014/main" val="1431025336"/>
                  </a:ext>
                </a:extLst>
              </a:tr>
              <a:tr h="976994">
                <a:tc>
                  <a:txBody>
                    <a:bodyPr/>
                    <a:lstStyle/>
                    <a:p>
                      <a:pPr marL="0" marR="0" algn="l" defTabSz="457200" rtl="0" eaLnBrk="1" latinLnBrk="0" hangingPunct="1">
                        <a:spcBef>
                          <a:spcPts val="750"/>
                        </a:spcBef>
                        <a:buNone/>
                      </a:pPr>
                      <a:r>
                        <a:rPr lang="en-PK" sz="1400" kern="1200" dirty="0" err="1">
                          <a:solidFill>
                            <a:schemeClr val="tx1"/>
                          </a:solidFill>
                          <a:effectLst/>
                          <a:latin typeface="Times New Roman" panose="02020603050405020304" pitchFamily="18" charset="0"/>
                          <a:ea typeface="+mn-ea"/>
                          <a:cs typeface="Times New Roman" panose="02020603050405020304" pitchFamily="18" charset="0"/>
                        </a:rPr>
                        <a:t>LogBERT</a:t>
                      </a:r>
                      <a:r>
                        <a:rPr lang="en-PK" sz="1400" kern="1200" dirty="0">
                          <a:solidFill>
                            <a:schemeClr val="tx1"/>
                          </a:solidFill>
                          <a:effectLst/>
                          <a:latin typeface="Times New Roman" panose="02020603050405020304" pitchFamily="18" charset="0"/>
                          <a:ea typeface="+mn-ea"/>
                          <a:cs typeface="Times New Roman" panose="02020603050405020304" pitchFamily="18" charset="0"/>
                        </a:rPr>
                        <a:t>: Log Anomaly Detection via BERT</a:t>
                      </a:r>
                      <a:br>
                        <a:rPr lang="en-PK" sz="1400" kern="1200" dirty="0">
                          <a:solidFill>
                            <a:schemeClr val="tx1"/>
                          </a:solidFill>
                          <a:effectLst/>
                          <a:latin typeface="Times New Roman" panose="02020603050405020304" pitchFamily="18" charset="0"/>
                          <a:ea typeface="+mn-ea"/>
                          <a:cs typeface="Times New Roman" panose="02020603050405020304" pitchFamily="18" charset="0"/>
                        </a:rPr>
                      </a:br>
                      <a:r>
                        <a:rPr lang="en-PK" sz="1400" kern="1200" dirty="0">
                          <a:solidFill>
                            <a:schemeClr val="tx1"/>
                          </a:solidFill>
                          <a:effectLst/>
                          <a:latin typeface="Times New Roman" panose="02020603050405020304" pitchFamily="18" charset="0"/>
                          <a:ea typeface="+mn-ea"/>
                          <a:cs typeface="Times New Roman" panose="02020603050405020304" pitchFamily="18" charset="0"/>
                        </a:rPr>
                        <a:t>(Guo et al., 2021)</a:t>
                      </a:r>
                    </a:p>
                  </a:txBody>
                  <a:tcPr marL="99036" marR="99036" marT="79229" marB="79229" anchor="ctr"/>
                </a:tc>
                <a:tc>
                  <a:txBody>
                    <a:bodyPr/>
                    <a:lstStyle/>
                    <a:p>
                      <a:pPr marL="0" marR="0" algn="l" defTabSz="457200" rtl="0" eaLnBrk="1" latinLnBrk="0" hangingPunct="1">
                        <a:spcBef>
                          <a:spcPts val="750"/>
                        </a:spcBef>
                        <a:buNone/>
                      </a:pPr>
                      <a:r>
                        <a:rPr lang="en-PK" sz="1400" kern="1200" dirty="0">
                          <a:solidFill>
                            <a:schemeClr val="tx1"/>
                          </a:solidFill>
                          <a:effectLst/>
                          <a:latin typeface="Times New Roman" panose="02020603050405020304" pitchFamily="18" charset="0"/>
                          <a:ea typeface="+mn-ea"/>
                          <a:cs typeface="Times New Roman" panose="02020603050405020304" pitchFamily="18" charset="0"/>
                        </a:rPr>
                        <a:t>HDFS, BGL</a:t>
                      </a:r>
                    </a:p>
                  </a:txBody>
                  <a:tcPr marL="99036" marR="99036" marT="79229" marB="79229" anchor="ctr"/>
                </a:tc>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Binary</a:t>
                      </a:r>
                    </a:p>
                  </a:txBody>
                  <a:tcPr marL="99036" marR="99036" marT="79229" marB="79229" anchor="ctr"/>
                </a:tc>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BERT (Masked Language Model)</a:t>
                      </a:r>
                    </a:p>
                  </a:txBody>
                  <a:tcPr marL="99036" marR="99036" marT="79229" marB="79229" anchor="ctr"/>
                </a:tc>
                <a:tc>
                  <a:txBody>
                    <a:bodyPr/>
                    <a:lstStyle/>
                    <a:p>
                      <a:pPr marL="0" marR="0" algn="l" defTabSz="457200" rtl="0" eaLnBrk="1" latinLnBrk="0" hangingPunct="1">
                        <a:spcBef>
                          <a:spcPts val="750"/>
                        </a:spcBef>
                        <a:buNone/>
                      </a:pPr>
                      <a:r>
                        <a:rPr lang="en-PK" sz="1400" kern="1200" dirty="0">
                          <a:solidFill>
                            <a:schemeClr val="tx1"/>
                          </a:solidFill>
                          <a:effectLst/>
                          <a:latin typeface="Times New Roman" panose="02020603050405020304" pitchFamily="18" charset="0"/>
                          <a:ea typeface="+mn-ea"/>
                          <a:cs typeface="Times New Roman" panose="02020603050405020304" pitchFamily="18" charset="0"/>
                        </a:rPr>
                        <a:t>F1: 0.993</a:t>
                      </a:r>
                    </a:p>
                  </a:txBody>
                  <a:tcPr marL="99036" marR="99036" marT="79229" marB="79229" anchor="ctr"/>
                </a:tc>
                <a:extLst>
                  <a:ext uri="{0D108BD9-81ED-4DB2-BD59-A6C34878D82A}">
                    <a16:rowId xmlns:a16="http://schemas.microsoft.com/office/drawing/2014/main" val="4247259047"/>
                  </a:ext>
                </a:extLst>
              </a:tr>
              <a:tr h="1174720">
                <a:tc>
                  <a:txBody>
                    <a:bodyPr/>
                    <a:lstStyle/>
                    <a:p>
                      <a:pPr marL="0" marR="0" algn="l" defTabSz="457200" rtl="0" eaLnBrk="1" latinLnBrk="0" hangingPunct="1">
                        <a:spcBef>
                          <a:spcPts val="750"/>
                        </a:spcBef>
                        <a:buNone/>
                      </a:pPr>
                      <a:r>
                        <a:rPr lang="en-PK" sz="1400" kern="1200" dirty="0" err="1">
                          <a:solidFill>
                            <a:schemeClr val="tx1"/>
                          </a:solidFill>
                          <a:effectLst/>
                          <a:latin typeface="Times New Roman" panose="02020603050405020304" pitchFamily="18" charset="0"/>
                          <a:ea typeface="+mn-ea"/>
                          <a:cs typeface="Times New Roman" panose="02020603050405020304" pitchFamily="18" charset="0"/>
                        </a:rPr>
                        <a:t>LogGAN</a:t>
                      </a:r>
                      <a:r>
                        <a:rPr lang="en-PK" sz="1400" kern="1200" dirty="0">
                          <a:solidFill>
                            <a:schemeClr val="tx1"/>
                          </a:solidFill>
                          <a:effectLst/>
                          <a:latin typeface="Times New Roman" panose="02020603050405020304" pitchFamily="18" charset="0"/>
                          <a:ea typeface="+mn-ea"/>
                          <a:cs typeface="Times New Roman" panose="02020603050405020304" pitchFamily="18" charset="0"/>
                        </a:rPr>
                        <a:t>: A Generative Adversarial Network...</a:t>
                      </a:r>
                      <a:br>
                        <a:rPr lang="en-PK" sz="1400" kern="1200" dirty="0">
                          <a:solidFill>
                            <a:schemeClr val="tx1"/>
                          </a:solidFill>
                          <a:effectLst/>
                          <a:latin typeface="Times New Roman" panose="02020603050405020304" pitchFamily="18" charset="0"/>
                          <a:ea typeface="+mn-ea"/>
                          <a:cs typeface="Times New Roman" panose="02020603050405020304" pitchFamily="18" charset="0"/>
                        </a:rPr>
                      </a:br>
                      <a:r>
                        <a:rPr lang="en-PK" sz="1400" kern="1200" dirty="0">
                          <a:solidFill>
                            <a:schemeClr val="tx1"/>
                          </a:solidFill>
                          <a:effectLst/>
                          <a:latin typeface="Times New Roman" panose="02020603050405020304" pitchFamily="18" charset="0"/>
                          <a:ea typeface="+mn-ea"/>
                          <a:cs typeface="Times New Roman" panose="02020603050405020304" pitchFamily="18" charset="0"/>
                        </a:rPr>
                        <a:t>(Xia et al., 2020)</a:t>
                      </a:r>
                    </a:p>
                  </a:txBody>
                  <a:tcPr marL="99036" marR="99036" marT="79229" marB="79229" anchor="ctr"/>
                </a:tc>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HDFS, BGL</a:t>
                      </a:r>
                    </a:p>
                  </a:txBody>
                  <a:tcPr marL="99036" marR="99036" marT="79229" marB="79229" anchor="ctr"/>
                </a:tc>
                <a:tc>
                  <a:txBody>
                    <a:bodyPr/>
                    <a:lstStyle/>
                    <a:p>
                      <a:pPr marL="0" marR="0" algn="l" defTabSz="457200" rtl="0" eaLnBrk="1" latinLnBrk="0" hangingPunct="1">
                        <a:spcBef>
                          <a:spcPts val="750"/>
                        </a:spcBef>
                        <a:buNone/>
                      </a:pPr>
                      <a:r>
                        <a:rPr lang="en-PK" sz="1400" kern="1200" dirty="0">
                          <a:solidFill>
                            <a:schemeClr val="tx1"/>
                          </a:solidFill>
                          <a:effectLst/>
                          <a:latin typeface="Times New Roman" panose="02020603050405020304" pitchFamily="18" charset="0"/>
                          <a:ea typeface="+mn-ea"/>
                          <a:cs typeface="Times New Roman" panose="02020603050405020304" pitchFamily="18" charset="0"/>
                        </a:rPr>
                        <a:t>Binary</a:t>
                      </a:r>
                    </a:p>
                  </a:txBody>
                  <a:tcPr marL="99036" marR="99036" marT="79229" marB="79229" anchor="ctr"/>
                </a:tc>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LSTM-GAN (Generator-Discriminator)</a:t>
                      </a:r>
                    </a:p>
                  </a:txBody>
                  <a:tcPr marL="99036" marR="99036" marT="79229" marB="79229" anchor="ctr"/>
                </a:tc>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F1: ~0.95</a:t>
                      </a:r>
                    </a:p>
                  </a:txBody>
                  <a:tcPr marL="99036" marR="99036" marT="79229" marB="79229" anchor="ctr"/>
                </a:tc>
                <a:extLst>
                  <a:ext uri="{0D108BD9-81ED-4DB2-BD59-A6C34878D82A}">
                    <a16:rowId xmlns:a16="http://schemas.microsoft.com/office/drawing/2014/main" val="1028099004"/>
                  </a:ext>
                </a:extLst>
              </a:tr>
              <a:tr h="779269">
                <a:tc>
                  <a:txBody>
                    <a:bodyPr/>
                    <a:lstStyle/>
                    <a:p>
                      <a:pPr marL="0" marR="0" algn="l" defTabSz="457200" rtl="0" eaLnBrk="1" latinLnBrk="0" hangingPunct="1">
                        <a:spcBef>
                          <a:spcPts val="750"/>
                        </a:spcBef>
                        <a:buNone/>
                      </a:pPr>
                      <a:r>
                        <a:rPr lang="en-PK" sz="1400" kern="1200" dirty="0" err="1">
                          <a:solidFill>
                            <a:schemeClr val="tx1"/>
                          </a:solidFill>
                          <a:effectLst/>
                          <a:latin typeface="Times New Roman" panose="02020603050405020304" pitchFamily="18" charset="0"/>
                          <a:ea typeface="+mn-ea"/>
                          <a:cs typeface="Times New Roman" panose="02020603050405020304" pitchFamily="18" charset="0"/>
                        </a:rPr>
                        <a:t>LogPrompt</a:t>
                      </a:r>
                      <a:r>
                        <a:rPr lang="en-PK" sz="1400" kern="1200" dirty="0">
                          <a:solidFill>
                            <a:schemeClr val="tx1"/>
                          </a:solidFill>
                          <a:effectLst/>
                          <a:latin typeface="Times New Roman" panose="02020603050405020304" pitchFamily="18" charset="0"/>
                          <a:ea typeface="+mn-ea"/>
                          <a:cs typeface="Times New Roman" panose="02020603050405020304" pitchFamily="18" charset="0"/>
                        </a:rPr>
                        <a:t>: Prompt Engineering...</a:t>
                      </a:r>
                      <a:br>
                        <a:rPr lang="en-PK" sz="1400" kern="1200" dirty="0">
                          <a:solidFill>
                            <a:schemeClr val="tx1"/>
                          </a:solidFill>
                          <a:effectLst/>
                          <a:latin typeface="Times New Roman" panose="02020603050405020304" pitchFamily="18" charset="0"/>
                          <a:ea typeface="+mn-ea"/>
                          <a:cs typeface="Times New Roman" panose="02020603050405020304" pitchFamily="18" charset="0"/>
                        </a:rPr>
                      </a:br>
                      <a:r>
                        <a:rPr lang="en-PK" sz="1400" kern="1200" dirty="0">
                          <a:solidFill>
                            <a:schemeClr val="tx1"/>
                          </a:solidFill>
                          <a:effectLst/>
                          <a:latin typeface="Times New Roman" panose="02020603050405020304" pitchFamily="18" charset="0"/>
                          <a:ea typeface="+mn-ea"/>
                          <a:cs typeface="Times New Roman" panose="02020603050405020304" pitchFamily="18" charset="0"/>
                        </a:rPr>
                        <a:t>(Liu et al., 2023)</a:t>
                      </a:r>
                    </a:p>
                  </a:txBody>
                  <a:tcPr marL="99036" marR="99036" marT="79229" marB="79229" anchor="ctr"/>
                </a:tc>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HDFS, BGL</a:t>
                      </a:r>
                    </a:p>
                  </a:txBody>
                  <a:tcPr marL="99036" marR="99036" marT="79229" marB="79229" anchor="ctr"/>
                </a:tc>
                <a:tc>
                  <a:txBody>
                    <a:bodyPr/>
                    <a:lstStyle/>
                    <a:p>
                      <a:pPr marL="0" marR="0" algn="l" defTabSz="457200" rtl="0" eaLnBrk="1" latinLnBrk="0" hangingPunct="1">
                        <a:spcBef>
                          <a:spcPts val="750"/>
                        </a:spcBef>
                        <a:buNone/>
                      </a:pPr>
                      <a:r>
                        <a:rPr lang="en-PK" sz="1400" kern="1200" dirty="0">
                          <a:solidFill>
                            <a:schemeClr val="tx1"/>
                          </a:solidFill>
                          <a:effectLst/>
                          <a:latin typeface="Times New Roman" panose="02020603050405020304" pitchFamily="18" charset="0"/>
                          <a:ea typeface="+mn-ea"/>
                          <a:cs typeface="Times New Roman" panose="02020603050405020304" pitchFamily="18" charset="0"/>
                        </a:rPr>
                        <a:t>Binary</a:t>
                      </a:r>
                    </a:p>
                  </a:txBody>
                  <a:tcPr marL="99036" marR="99036" marT="79229" marB="79229" anchor="ctr"/>
                </a:tc>
                <a:tc>
                  <a:txBody>
                    <a:bodyPr/>
                    <a:lstStyle/>
                    <a:p>
                      <a:pPr marL="0" marR="0" algn="l" defTabSz="457200" rtl="0" eaLnBrk="1" latinLnBrk="0" hangingPunct="1">
                        <a:spcBef>
                          <a:spcPts val="750"/>
                        </a:spcBef>
                        <a:buNone/>
                      </a:pPr>
                      <a:r>
                        <a:rPr lang="en-PK" sz="1400" kern="1200" dirty="0">
                          <a:solidFill>
                            <a:schemeClr val="tx1"/>
                          </a:solidFill>
                          <a:effectLst/>
                          <a:latin typeface="Times New Roman" panose="02020603050405020304" pitchFamily="18" charset="0"/>
                          <a:ea typeface="+mn-ea"/>
                          <a:cs typeface="Times New Roman" panose="02020603050405020304" pitchFamily="18" charset="0"/>
                        </a:rPr>
                        <a:t>LLM Prompting (ChatGPT/GPT-4)</a:t>
                      </a:r>
                    </a:p>
                  </a:txBody>
                  <a:tcPr marL="99036" marR="99036" marT="79229" marB="79229" anchor="ctr"/>
                </a:tc>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F1: ~0.98+</a:t>
                      </a:r>
                    </a:p>
                  </a:txBody>
                  <a:tcPr marL="99036" marR="99036" marT="79229" marB="79229" anchor="ctr"/>
                </a:tc>
                <a:extLst>
                  <a:ext uri="{0D108BD9-81ED-4DB2-BD59-A6C34878D82A}">
                    <a16:rowId xmlns:a16="http://schemas.microsoft.com/office/drawing/2014/main" val="3853393778"/>
                  </a:ext>
                </a:extLst>
              </a:tr>
              <a:tr h="779269">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LSTM-Based VAE-GAN for Time-Series...</a:t>
                      </a:r>
                      <a:br>
                        <a:rPr lang="en-PK" sz="1400" kern="1200">
                          <a:solidFill>
                            <a:schemeClr val="tx1"/>
                          </a:solidFill>
                          <a:effectLst/>
                          <a:latin typeface="Times New Roman" panose="02020603050405020304" pitchFamily="18" charset="0"/>
                          <a:ea typeface="+mn-ea"/>
                          <a:cs typeface="Times New Roman" panose="02020603050405020304" pitchFamily="18" charset="0"/>
                        </a:rPr>
                      </a:br>
                      <a:r>
                        <a:rPr lang="en-PK" sz="1400" kern="1200">
                          <a:solidFill>
                            <a:schemeClr val="tx1"/>
                          </a:solidFill>
                          <a:effectLst/>
                          <a:latin typeface="Times New Roman" panose="02020603050405020304" pitchFamily="18" charset="0"/>
                          <a:ea typeface="+mn-ea"/>
                          <a:cs typeface="Times New Roman" panose="02020603050405020304" pitchFamily="18" charset="0"/>
                        </a:rPr>
                        <a:t>(Xu et al., 2020)</a:t>
                      </a:r>
                    </a:p>
                  </a:txBody>
                  <a:tcPr marL="99036" marR="99036" marT="79229" marB="79229" anchor="ctr">
                    <a:solidFill>
                      <a:srgbClr val="FFFF00"/>
                    </a:solidFill>
                  </a:tcPr>
                </a:tc>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HDFS (Time Series)</a:t>
                      </a:r>
                    </a:p>
                  </a:txBody>
                  <a:tcPr marL="99036" marR="99036" marT="79229" marB="79229" anchor="ctr">
                    <a:solidFill>
                      <a:srgbClr val="FFFF00"/>
                    </a:solidFill>
                  </a:tcPr>
                </a:tc>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Binary</a:t>
                      </a:r>
                    </a:p>
                  </a:txBody>
                  <a:tcPr marL="99036" marR="99036" marT="79229" marB="79229" anchor="ctr">
                    <a:solidFill>
                      <a:srgbClr val="FFFF00"/>
                    </a:solidFill>
                  </a:tcPr>
                </a:tc>
                <a:tc>
                  <a:txBody>
                    <a:bodyPr/>
                    <a:lstStyle/>
                    <a:p>
                      <a:pPr marL="0" marR="0" algn="l" defTabSz="457200" rtl="0" eaLnBrk="1" latinLnBrk="0" hangingPunct="1">
                        <a:spcBef>
                          <a:spcPts val="750"/>
                        </a:spcBef>
                        <a:buNone/>
                      </a:pPr>
                      <a:r>
                        <a:rPr lang="en-PK" sz="1400" kern="1200" dirty="0">
                          <a:solidFill>
                            <a:schemeClr val="tx1"/>
                          </a:solidFill>
                          <a:effectLst/>
                          <a:latin typeface="Times New Roman" panose="02020603050405020304" pitchFamily="18" charset="0"/>
                          <a:ea typeface="+mn-ea"/>
                          <a:cs typeface="Times New Roman" panose="02020603050405020304" pitchFamily="18" charset="0"/>
                        </a:rPr>
                        <a:t>VAE-GAN (Variational Autoencoder)</a:t>
                      </a:r>
                    </a:p>
                  </a:txBody>
                  <a:tcPr marL="99036" marR="99036" marT="79229" marB="79229" anchor="ctr">
                    <a:solidFill>
                      <a:srgbClr val="FFFF00"/>
                    </a:solidFill>
                  </a:tcPr>
                </a:tc>
                <a:tc>
                  <a:txBody>
                    <a:bodyPr/>
                    <a:lstStyle/>
                    <a:p>
                      <a:pPr marL="0" marR="0" algn="l" defTabSz="457200" rtl="0" eaLnBrk="1" latinLnBrk="0" hangingPunct="1">
                        <a:spcBef>
                          <a:spcPts val="750"/>
                        </a:spcBef>
                        <a:buNone/>
                      </a:pPr>
                      <a:r>
                        <a:rPr lang="en-PK" sz="1400" kern="1200" dirty="0">
                          <a:solidFill>
                            <a:schemeClr val="tx1"/>
                          </a:solidFill>
                          <a:effectLst/>
                          <a:latin typeface="Times New Roman" panose="02020603050405020304" pitchFamily="18" charset="0"/>
                          <a:ea typeface="+mn-ea"/>
                          <a:cs typeface="Times New Roman" panose="02020603050405020304" pitchFamily="18" charset="0"/>
                        </a:rPr>
                        <a:t>F1: ~0.94</a:t>
                      </a:r>
                    </a:p>
                  </a:txBody>
                  <a:tcPr marL="99036" marR="99036" marT="79229" marB="79229" anchor="ctr">
                    <a:solidFill>
                      <a:srgbClr val="FFFF00"/>
                    </a:solidFill>
                  </a:tcPr>
                </a:tc>
                <a:extLst>
                  <a:ext uri="{0D108BD9-81ED-4DB2-BD59-A6C34878D82A}">
                    <a16:rowId xmlns:a16="http://schemas.microsoft.com/office/drawing/2014/main" val="208442387"/>
                  </a:ext>
                </a:extLst>
              </a:tr>
              <a:tr h="976994">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Mask-Guided Anomaly Detection (FastLogAD)</a:t>
                      </a:r>
                      <a:br>
                        <a:rPr lang="en-PK" sz="1400" kern="1200">
                          <a:solidFill>
                            <a:schemeClr val="tx1"/>
                          </a:solidFill>
                          <a:effectLst/>
                          <a:latin typeface="Times New Roman" panose="02020603050405020304" pitchFamily="18" charset="0"/>
                          <a:ea typeface="+mn-ea"/>
                          <a:cs typeface="Times New Roman" panose="02020603050405020304" pitchFamily="18" charset="0"/>
                        </a:rPr>
                      </a:br>
                      <a:r>
                        <a:rPr lang="en-PK" sz="1400" kern="1200">
                          <a:solidFill>
                            <a:schemeClr val="tx1"/>
                          </a:solidFill>
                          <a:effectLst/>
                          <a:latin typeface="Times New Roman" panose="02020603050405020304" pitchFamily="18" charset="0"/>
                          <a:ea typeface="+mn-ea"/>
                          <a:cs typeface="Times New Roman" panose="02020603050405020304" pitchFamily="18" charset="0"/>
                        </a:rPr>
                        <a:t>(Lin et al., 2024)</a:t>
                      </a:r>
                    </a:p>
                  </a:txBody>
                  <a:tcPr marL="99036" marR="99036" marT="79229" marB="79229" anchor="ctr"/>
                </a:tc>
                <a:tc>
                  <a:txBody>
                    <a:bodyPr/>
                    <a:lstStyle/>
                    <a:p>
                      <a:pPr marL="0" marR="0" algn="l" defTabSz="457200" rtl="0" eaLnBrk="1" latinLnBrk="0" hangingPunct="1">
                        <a:spcBef>
                          <a:spcPts val="750"/>
                        </a:spcBef>
                        <a:buNone/>
                      </a:pPr>
                      <a:r>
                        <a:rPr lang="en-PK" sz="1400" kern="1200" dirty="0">
                          <a:solidFill>
                            <a:schemeClr val="tx1"/>
                          </a:solidFill>
                          <a:effectLst/>
                          <a:latin typeface="Times New Roman" panose="02020603050405020304" pitchFamily="18" charset="0"/>
                          <a:ea typeface="+mn-ea"/>
                          <a:cs typeface="Times New Roman" panose="02020603050405020304" pitchFamily="18" charset="0"/>
                        </a:rPr>
                        <a:t>HDFS, Thunderbird</a:t>
                      </a:r>
                    </a:p>
                  </a:txBody>
                  <a:tcPr marL="99036" marR="99036" marT="79229" marB="79229" anchor="ctr"/>
                </a:tc>
                <a:tc>
                  <a:txBody>
                    <a:bodyPr/>
                    <a:lstStyle/>
                    <a:p>
                      <a:pPr marL="0" marR="0" algn="l" defTabSz="457200" rtl="0" eaLnBrk="1" latinLnBrk="0" hangingPunct="1">
                        <a:spcBef>
                          <a:spcPts val="750"/>
                        </a:spcBef>
                        <a:buNone/>
                      </a:pPr>
                      <a:r>
                        <a:rPr lang="en-PK" sz="1400" kern="1200">
                          <a:solidFill>
                            <a:schemeClr val="tx1"/>
                          </a:solidFill>
                          <a:effectLst/>
                          <a:latin typeface="Times New Roman" panose="02020603050405020304" pitchFamily="18" charset="0"/>
                          <a:ea typeface="+mn-ea"/>
                          <a:cs typeface="Times New Roman" panose="02020603050405020304" pitchFamily="18" charset="0"/>
                        </a:rPr>
                        <a:t>Binary</a:t>
                      </a:r>
                    </a:p>
                  </a:txBody>
                  <a:tcPr marL="99036" marR="99036" marT="79229" marB="79229" anchor="ctr"/>
                </a:tc>
                <a:tc>
                  <a:txBody>
                    <a:bodyPr/>
                    <a:lstStyle/>
                    <a:p>
                      <a:pPr marL="0" marR="0" algn="l" defTabSz="457200" rtl="0" eaLnBrk="1" latinLnBrk="0" hangingPunct="1">
                        <a:spcBef>
                          <a:spcPts val="750"/>
                        </a:spcBef>
                        <a:buNone/>
                      </a:pPr>
                      <a:r>
                        <a:rPr lang="en-PK" sz="1400" kern="1200" dirty="0">
                          <a:solidFill>
                            <a:schemeClr val="tx1"/>
                          </a:solidFill>
                          <a:effectLst/>
                          <a:latin typeface="Times New Roman" panose="02020603050405020304" pitchFamily="18" charset="0"/>
                          <a:ea typeface="+mn-ea"/>
                          <a:cs typeface="Times New Roman" panose="02020603050405020304" pitchFamily="18" charset="0"/>
                        </a:rPr>
                        <a:t>Masked Generator (GenAI-based)</a:t>
                      </a:r>
                    </a:p>
                  </a:txBody>
                  <a:tcPr marL="99036" marR="99036" marT="79229" marB="79229" anchor="ctr"/>
                </a:tc>
                <a:tc>
                  <a:txBody>
                    <a:bodyPr/>
                    <a:lstStyle/>
                    <a:p>
                      <a:pPr marL="0" marR="0" algn="l" defTabSz="457200" rtl="0" eaLnBrk="1" latinLnBrk="0" hangingPunct="1">
                        <a:spcBef>
                          <a:spcPts val="750"/>
                        </a:spcBef>
                        <a:buNone/>
                      </a:pPr>
                      <a:r>
                        <a:rPr lang="en-PK" sz="1400" kern="1200" dirty="0">
                          <a:solidFill>
                            <a:schemeClr val="tx1"/>
                          </a:solidFill>
                          <a:effectLst/>
                          <a:latin typeface="Times New Roman" panose="02020603050405020304" pitchFamily="18" charset="0"/>
                          <a:ea typeface="+mn-ea"/>
                          <a:cs typeface="Times New Roman" panose="02020603050405020304" pitchFamily="18" charset="0"/>
                        </a:rPr>
                        <a:t>F1: ~0.99</a:t>
                      </a:r>
                    </a:p>
                  </a:txBody>
                  <a:tcPr marL="99036" marR="99036" marT="79229" marB="79229" anchor="ctr"/>
                </a:tc>
                <a:extLst>
                  <a:ext uri="{0D108BD9-81ED-4DB2-BD59-A6C34878D82A}">
                    <a16:rowId xmlns:a16="http://schemas.microsoft.com/office/drawing/2014/main" val="306664066"/>
                  </a:ext>
                </a:extLst>
              </a:tr>
            </a:tbl>
          </a:graphicData>
        </a:graphic>
      </p:graphicFrame>
      <p:sp>
        <p:nvSpPr>
          <p:cNvPr id="6" name="TextBox 5">
            <a:extLst>
              <a:ext uri="{FF2B5EF4-FFF2-40B4-BE49-F238E27FC236}">
                <a16:creationId xmlns:a16="http://schemas.microsoft.com/office/drawing/2014/main" id="{03040608-B910-03EF-3663-7D2651AA62AF}"/>
              </a:ext>
            </a:extLst>
          </p:cNvPr>
          <p:cNvSpPr txBox="1"/>
          <p:nvPr/>
        </p:nvSpPr>
        <p:spPr>
          <a:xfrm>
            <a:off x="353961" y="418514"/>
            <a:ext cx="6096000" cy="577081"/>
          </a:xfrm>
          <a:prstGeom prst="rect">
            <a:avLst/>
          </a:prstGeom>
        </p:spPr>
        <p:txBody>
          <a:bodyPr wrap="square">
            <a:spAutoFit/>
          </a:bodyPr>
          <a:lstStyle/>
          <a:p>
            <a:pPr marR="0" indent="0">
              <a:spcAft>
                <a:spcPts val="2250"/>
              </a:spcAft>
              <a:buNone/>
              <a:defRPr sz="3000" b="1"/>
            </a:pPr>
            <a:r>
              <a:rPr lang="en-PK" sz="3150" b="1" dirty="0">
                <a:solidFill>
                  <a:srgbClr val="003366"/>
                </a:solidFill>
                <a:latin typeface="Times New Roman" panose="02020603050405020304" pitchFamily="18" charset="0"/>
                <a:cs typeface="Times New Roman" panose="02020603050405020304" pitchFamily="18" charset="0"/>
              </a:rPr>
              <a:t>Literature Review (Generative AI)</a:t>
            </a:r>
          </a:p>
        </p:txBody>
      </p:sp>
    </p:spTree>
    <p:extLst>
      <p:ext uri="{BB962C8B-B14F-4D97-AF65-F5344CB8AC3E}">
        <p14:creationId xmlns:p14="http://schemas.microsoft.com/office/powerpoint/2010/main" val="16233884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39430-9037-896D-08DA-242B5C9EB7DB}"/>
              </a:ext>
            </a:extLst>
          </p:cNvPr>
          <p:cNvSpPr>
            <a:spLocks noGrp="1"/>
          </p:cNvSpPr>
          <p:nvPr>
            <p:ph type="title"/>
          </p:nvPr>
        </p:nvSpPr>
        <p:spPr/>
        <p:txBody>
          <a:bodyPr>
            <a:normAutofit/>
          </a:bodyPr>
          <a:lstStyle/>
          <a:p>
            <a:pPr>
              <a:defRPr sz="3000" b="1"/>
            </a:pPr>
            <a:r>
              <a:rPr lang="en-US" sz="3150" b="1" dirty="0">
                <a:solidFill>
                  <a:srgbClr val="003366"/>
                </a:solidFill>
                <a:latin typeface="Times New Roman" panose="02020603050405020304" pitchFamily="18" charset="0"/>
                <a:ea typeface="+mn-ea"/>
                <a:cs typeface="Times New Roman" panose="02020603050405020304" pitchFamily="18" charset="0"/>
              </a:rPr>
              <a:t>3. </a:t>
            </a:r>
            <a:r>
              <a:rPr lang="en-PK" sz="3150" b="1" cap="none" dirty="0">
                <a:solidFill>
                  <a:srgbClr val="003366"/>
                </a:solidFill>
                <a:latin typeface="Times New Roman" panose="02020603050405020304" pitchFamily="18" charset="0"/>
                <a:ea typeface="+mn-ea"/>
                <a:cs typeface="Times New Roman" panose="02020603050405020304" pitchFamily="18" charset="0"/>
              </a:rPr>
              <a:t>Problem Statement &amp; Research Gap</a:t>
            </a:r>
            <a:endParaRPr lang="en-PK" sz="3150" b="1" dirty="0">
              <a:solidFill>
                <a:srgbClr val="003366"/>
              </a:solidFill>
              <a:latin typeface="Times New Roman" panose="02020603050405020304" pitchFamily="18" charset="0"/>
              <a:ea typeface="+mn-ea"/>
              <a:cs typeface="Times New Roman" panose="02020603050405020304" pitchFamily="18" charset="0"/>
            </a:endParaRPr>
          </a:p>
        </p:txBody>
      </p:sp>
      <p:sp>
        <p:nvSpPr>
          <p:cNvPr id="3" name="Content Placeholder 2">
            <a:extLst>
              <a:ext uri="{FF2B5EF4-FFF2-40B4-BE49-F238E27FC236}">
                <a16:creationId xmlns:a16="http://schemas.microsoft.com/office/drawing/2014/main" id="{0AA3DCFC-5313-E39B-B0AE-DBDC7D30C4DF}"/>
              </a:ext>
            </a:extLst>
          </p:cNvPr>
          <p:cNvSpPr>
            <a:spLocks noGrp="1"/>
          </p:cNvSpPr>
          <p:nvPr>
            <p:ph idx="1"/>
          </p:nvPr>
        </p:nvSpPr>
        <p:spPr>
          <a:xfrm>
            <a:off x="457200" y="1417638"/>
            <a:ext cx="11277600" cy="4708525"/>
          </a:xfrm>
        </p:spPr>
        <p:txBody>
          <a:bodyPr>
            <a:normAutofit/>
          </a:bodyPr>
          <a:lstStyle/>
          <a:p>
            <a:pPr marL="0" indent="0">
              <a:spcAft>
                <a:spcPts val="1125"/>
              </a:spcAft>
              <a:buNone/>
            </a:pPr>
            <a:r>
              <a:rPr lang="en-PK" sz="2000" b="1" dirty="0">
                <a:latin typeface="Times New Roman" panose="02020603050405020304" pitchFamily="18" charset="0"/>
                <a:cs typeface="Times New Roman" panose="02020603050405020304" pitchFamily="18" charset="0"/>
              </a:rPr>
              <a:t>The Functional Dichotomy</a:t>
            </a:r>
          </a:p>
          <a:p>
            <a:pPr lvl="0">
              <a:spcBef>
                <a:spcPts val="750"/>
              </a:spcBef>
              <a:spcAft>
                <a:spcPts val="1350"/>
              </a:spcAft>
              <a:buFont typeface="Arial" panose="020B0604020202020204" pitchFamily="34" charset="0"/>
              <a:buChar char="•"/>
            </a:pPr>
            <a:r>
              <a:rPr lang="en-PK" sz="1800" b="1" dirty="0">
                <a:latin typeface="Times New Roman" panose="02020603050405020304" pitchFamily="18" charset="0"/>
                <a:cs typeface="Times New Roman" panose="02020603050405020304" pitchFamily="18" charset="0"/>
              </a:rPr>
              <a:t>Brittleness of Supervised ML:</a:t>
            </a:r>
            <a:r>
              <a:rPr lang="en-PK" sz="1800" dirty="0">
                <a:latin typeface="Times New Roman" panose="02020603050405020304" pitchFamily="18" charset="0"/>
                <a:cs typeface="Times New Roman" panose="02020603050405020304" pitchFamily="18" charset="0"/>
              </a:rPr>
              <a:t> Traditional models (SVM, </a:t>
            </a:r>
            <a:r>
              <a:rPr lang="en-PK" sz="1800" dirty="0" err="1">
                <a:latin typeface="Times New Roman" panose="02020603050405020304" pitchFamily="18" charset="0"/>
                <a:cs typeface="Times New Roman" panose="02020603050405020304" pitchFamily="18" charset="0"/>
              </a:rPr>
              <a:t>XGBoost</a:t>
            </a:r>
            <a:r>
              <a:rPr lang="en-PK" sz="1800" dirty="0">
                <a:latin typeface="Times New Roman" panose="02020603050405020304" pitchFamily="18" charset="0"/>
                <a:cs typeface="Times New Roman" panose="02020603050405020304" pitchFamily="18" charset="0"/>
              </a:rPr>
              <a:t>) achieve F1 &gt; 0.99 but require rigid manual feature extraction. They fail entirely when log syntax or system architectures change.</a:t>
            </a:r>
          </a:p>
          <a:p>
            <a:pPr lvl="0">
              <a:spcBef>
                <a:spcPts val="750"/>
              </a:spcBef>
              <a:spcAft>
                <a:spcPts val="1350"/>
              </a:spcAft>
              <a:buFont typeface="Arial" panose="020B0604020202020204" pitchFamily="34" charset="0"/>
              <a:buChar char="•"/>
            </a:pPr>
            <a:r>
              <a:rPr lang="en-PK" sz="1800" b="1" dirty="0">
                <a:latin typeface="Times New Roman" panose="02020603050405020304" pitchFamily="18" charset="0"/>
                <a:cs typeface="Times New Roman" panose="02020603050405020304" pitchFamily="18" charset="0"/>
              </a:rPr>
              <a:t>Inefficacy of Unsupervised Baselines:</a:t>
            </a:r>
            <a:r>
              <a:rPr lang="en-PK" sz="1800" dirty="0">
                <a:latin typeface="Times New Roman" panose="02020603050405020304" pitchFamily="18" charset="0"/>
                <a:cs typeface="Times New Roman" panose="02020603050405020304" pitchFamily="18" charset="0"/>
              </a:rPr>
              <a:t> Traditional unsupervised methods (e.g., Isolation Forest) struggle with sequential dependencies, yielding poor detection rates on unknown errors.</a:t>
            </a:r>
          </a:p>
          <a:p>
            <a:pPr marL="0" indent="0">
              <a:spcAft>
                <a:spcPts val="1125"/>
              </a:spcAft>
              <a:buNone/>
            </a:pPr>
            <a:r>
              <a:rPr lang="en-PK" sz="2000" b="1" dirty="0">
                <a:latin typeface="Times New Roman" panose="02020603050405020304" pitchFamily="18" charset="0"/>
                <a:cs typeface="Times New Roman" panose="02020603050405020304" pitchFamily="18" charset="0"/>
              </a:rPr>
              <a:t>The Critical Research Gap</a:t>
            </a:r>
          </a:p>
          <a:p>
            <a:pPr marL="0" indent="0">
              <a:spcAft>
                <a:spcPts val="1500"/>
              </a:spcAft>
              <a:buNone/>
            </a:pPr>
            <a:r>
              <a:rPr lang="en-PK" sz="1800" dirty="0">
                <a:latin typeface="Times New Roman" panose="02020603050405020304" pitchFamily="18" charset="0"/>
                <a:cs typeface="Times New Roman" panose="02020603050405020304" pitchFamily="18" charset="0"/>
              </a:rPr>
              <a:t>Most existing literature benchmarks models on a single dataset (usually HDFS) in isolation. There is no proven, unified framework combining supervised accuracy with generalized, unsupervised flexibility across diverse architectures.</a:t>
            </a:r>
          </a:p>
          <a:p>
            <a:endParaRPr lang="en-PK" sz="1600" dirty="0">
              <a:latin typeface="Times New Roman" panose="02020603050405020304" pitchFamily="18" charset="0"/>
              <a:cs typeface="Times New Roman" panose="02020603050405020304" pitchFamily="18" charset="0"/>
            </a:endParaRPr>
          </a:p>
        </p:txBody>
      </p:sp>
      <p:sp>
        <p:nvSpPr>
          <p:cNvPr id="5" name="Google Shape;93;p14">
            <a:extLst>
              <a:ext uri="{FF2B5EF4-FFF2-40B4-BE49-F238E27FC236}">
                <a16:creationId xmlns:a16="http://schemas.microsoft.com/office/drawing/2014/main" id="{628BCAF3-CA3C-C4CC-D6F7-9D1EA18F5D2A}"/>
              </a:ext>
            </a:extLst>
          </p:cNvPr>
          <p:cNvSpPr/>
          <p:nvPr/>
        </p:nvSpPr>
        <p:spPr>
          <a:xfrm>
            <a:off x="548640" y="1283017"/>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extLst>
      <p:ext uri="{BB962C8B-B14F-4D97-AF65-F5344CB8AC3E}">
        <p14:creationId xmlns:p14="http://schemas.microsoft.com/office/powerpoint/2010/main" val="264256595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6D2B1-869F-44D6-DB07-EF494B860A3D}"/>
              </a:ext>
            </a:extLst>
          </p:cNvPr>
          <p:cNvSpPr>
            <a:spLocks noGrp="1"/>
          </p:cNvSpPr>
          <p:nvPr>
            <p:ph type="title"/>
          </p:nvPr>
        </p:nvSpPr>
        <p:spPr>
          <a:xfrm>
            <a:off x="457199" y="274638"/>
            <a:ext cx="10849897" cy="1143000"/>
          </a:xfrm>
        </p:spPr>
        <p:txBody>
          <a:bodyPr>
            <a:normAutofit/>
          </a:bodyPr>
          <a:lstStyle/>
          <a:p>
            <a:pPr>
              <a:defRPr sz="2700" b="1">
                <a:solidFill>
                  <a:srgbClr val="0F172A"/>
                </a:solidFill>
                <a:latin typeface="Aptos"/>
              </a:defRPr>
            </a:pPr>
            <a:r>
              <a:rPr lang="en-US" sz="3150" b="1" cap="none" dirty="0">
                <a:solidFill>
                  <a:srgbClr val="003366"/>
                </a:solidFill>
                <a:latin typeface="Times New Roman" panose="02020603050405020304" pitchFamily="18" charset="0"/>
                <a:ea typeface="+mn-ea"/>
                <a:cs typeface="Times New Roman" panose="02020603050405020304" pitchFamily="18" charset="0"/>
                <a:sym typeface="Helvetica Neue"/>
              </a:rPr>
              <a:t>4. Research Questions &amp; Objectives</a:t>
            </a:r>
            <a:endParaRPr lang="en-PK" sz="3150" b="1" cap="none" dirty="0">
              <a:solidFill>
                <a:srgbClr val="003366"/>
              </a:solidFill>
              <a:latin typeface="Times New Roman" panose="02020603050405020304" pitchFamily="18" charset="0"/>
              <a:ea typeface="+mn-ea"/>
              <a:cs typeface="Times New Roman" panose="02020603050405020304" pitchFamily="18" charset="0"/>
            </a:endParaRPr>
          </a:p>
        </p:txBody>
      </p:sp>
      <p:sp>
        <p:nvSpPr>
          <p:cNvPr id="3" name="Content Placeholder 2">
            <a:extLst>
              <a:ext uri="{FF2B5EF4-FFF2-40B4-BE49-F238E27FC236}">
                <a16:creationId xmlns:a16="http://schemas.microsoft.com/office/drawing/2014/main" id="{4BDB97CB-9A2A-9BF0-5D75-0ADC73CAF157}"/>
              </a:ext>
            </a:extLst>
          </p:cNvPr>
          <p:cNvSpPr>
            <a:spLocks noGrp="1"/>
          </p:cNvSpPr>
          <p:nvPr>
            <p:ph sz="half" idx="1"/>
          </p:nvPr>
        </p:nvSpPr>
        <p:spPr>
          <a:xfrm>
            <a:off x="457200" y="1600200"/>
            <a:ext cx="5029200" cy="4525963"/>
          </a:xfrm>
        </p:spPr>
        <p:txBody>
          <a:bodyPr>
            <a:normAutofit/>
          </a:bodyPr>
          <a:lstStyle/>
          <a:p>
            <a:r>
              <a:rPr lang="en-US" sz="1800" b="1" dirty="0">
                <a:solidFill>
                  <a:srgbClr val="003366"/>
                </a:solidFill>
                <a:latin typeface="Times New Roman" panose="02020603050405020304" pitchFamily="18" charset="0"/>
                <a:ea typeface="Helvetica Neue"/>
                <a:cs typeface="Times New Roman" panose="02020603050405020304" pitchFamily="18" charset="0"/>
                <a:sym typeface="Helvetica Neue"/>
              </a:rPr>
              <a:t>Research Questions (RQs)</a:t>
            </a:r>
            <a:endParaRPr lang="en-US" sz="1800" b="1" dirty="0">
              <a:solidFill>
                <a:srgbClr val="333333"/>
              </a:solidFill>
              <a:latin typeface="Times New Roman" panose="02020603050405020304" pitchFamily="18" charset="0"/>
              <a:ea typeface="Helvetica Neue"/>
              <a:cs typeface="Times New Roman" panose="02020603050405020304" pitchFamily="18" charset="0"/>
              <a:sym typeface="Helvetica Neue"/>
            </a:endParaRPr>
          </a:p>
          <a:p>
            <a:pPr lvl="0"/>
            <a:r>
              <a:rPr lang="en-US" sz="1800" dirty="0">
                <a:latin typeface="Times New Roman" panose="02020603050405020304" pitchFamily="18" charset="0"/>
                <a:cs typeface="Times New Roman" panose="02020603050405020304" pitchFamily="18" charset="0"/>
              </a:rPr>
              <a:t>How</a:t>
            </a:r>
            <a:r>
              <a:rPr lang="en-PK" sz="1800" dirty="0">
                <a:latin typeface="Times New Roman" panose="02020603050405020304" pitchFamily="18" charset="0"/>
                <a:cs typeface="Times New Roman" panose="02020603050405020304" pitchFamily="18" charset="0"/>
              </a:rPr>
              <a:t> Gen AI generalize better than Traditional ML across systems?</a:t>
            </a:r>
          </a:p>
          <a:p>
            <a:pPr lvl="0"/>
            <a:r>
              <a:rPr lang="en-US" sz="1800" dirty="0">
                <a:latin typeface="Times New Roman" panose="02020603050405020304" pitchFamily="18" charset="0"/>
                <a:cs typeface="Times New Roman" panose="02020603050405020304" pitchFamily="18" charset="0"/>
              </a:rPr>
              <a:t>Could</a:t>
            </a:r>
            <a:r>
              <a:rPr lang="en-PK" sz="1800" dirty="0">
                <a:latin typeface="Times New Roman" panose="02020603050405020304" pitchFamily="18" charset="0"/>
                <a:cs typeface="Times New Roman" panose="02020603050405020304" pitchFamily="18" charset="0"/>
              </a:rPr>
              <a:t> Gen AI outperform traditional unsupervised methods for unknown anomalies? </a:t>
            </a:r>
          </a:p>
          <a:p>
            <a:endParaRPr lang="en-PK" sz="18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9D96484C-0BC4-53A1-9088-67B725AE497B}"/>
              </a:ext>
            </a:extLst>
          </p:cNvPr>
          <p:cNvSpPr>
            <a:spLocks noGrp="1"/>
          </p:cNvSpPr>
          <p:nvPr>
            <p:ph sz="half" idx="2"/>
          </p:nvPr>
        </p:nvSpPr>
        <p:spPr>
          <a:xfrm>
            <a:off x="5611761" y="1600199"/>
            <a:ext cx="5970639" cy="4525963"/>
          </a:xfrm>
        </p:spPr>
        <p:txBody>
          <a:bodyPr>
            <a:normAutofit/>
          </a:bodyPr>
          <a:lstStyle/>
          <a:p>
            <a:r>
              <a:rPr lang="en-US" sz="2000" b="1" dirty="0">
                <a:solidFill>
                  <a:srgbClr val="003366"/>
                </a:solidFill>
                <a:latin typeface="Times New Roman" panose="02020603050405020304" pitchFamily="18" charset="0"/>
                <a:ea typeface="Helvetica Neue"/>
                <a:cs typeface="Times New Roman" panose="02020603050405020304" pitchFamily="18" charset="0"/>
                <a:sym typeface="Helvetica Neue"/>
              </a:rPr>
              <a:t>Research Objectives</a:t>
            </a:r>
            <a:endParaRPr lang="en-US" sz="2000" dirty="0">
              <a:latin typeface="Times New Roman" panose="02020603050405020304" pitchFamily="18" charset="0"/>
              <a:cs typeface="Times New Roman" panose="02020603050405020304" pitchFamily="18" charset="0"/>
            </a:endParaRPr>
          </a:p>
          <a:p>
            <a:r>
              <a:rPr lang="en-US" sz="1800" b="1" dirty="0">
                <a:solidFill>
                  <a:srgbClr val="333333"/>
                </a:solidFill>
                <a:latin typeface="Times New Roman" panose="02020603050405020304" pitchFamily="18" charset="0"/>
                <a:ea typeface="Helvetica Neue"/>
                <a:cs typeface="Times New Roman" panose="02020603050405020304" pitchFamily="18" charset="0"/>
                <a:sym typeface="Helvetica Neue"/>
              </a:rPr>
              <a:t>Benchmark Traditional ML:</a:t>
            </a:r>
            <a:r>
              <a:rPr lang="en-US" sz="1800" dirty="0">
                <a:solidFill>
                  <a:srgbClr val="333333"/>
                </a:solidFill>
                <a:latin typeface="Times New Roman" panose="02020603050405020304" pitchFamily="18" charset="0"/>
                <a:ea typeface="Helvetica Neue"/>
                <a:cs typeface="Times New Roman" panose="02020603050405020304" pitchFamily="18" charset="0"/>
                <a:sym typeface="Helvetica Neue"/>
              </a:rPr>
              <a:t> Evaluate limits of </a:t>
            </a:r>
            <a:r>
              <a:rPr lang="en-US" sz="1800" dirty="0" err="1">
                <a:solidFill>
                  <a:srgbClr val="333333"/>
                </a:solidFill>
                <a:latin typeface="Times New Roman" panose="02020603050405020304" pitchFamily="18" charset="0"/>
                <a:ea typeface="Helvetica Neue"/>
                <a:cs typeface="Times New Roman" panose="02020603050405020304" pitchFamily="18" charset="0"/>
                <a:sym typeface="Helvetica Neue"/>
              </a:rPr>
              <a:t>XGBoost</a:t>
            </a:r>
            <a:r>
              <a:rPr lang="en-US" sz="1800" dirty="0">
                <a:solidFill>
                  <a:srgbClr val="333333"/>
                </a:solidFill>
                <a:latin typeface="Times New Roman" panose="02020603050405020304" pitchFamily="18" charset="0"/>
                <a:ea typeface="Helvetica Neue"/>
                <a:cs typeface="Times New Roman" panose="02020603050405020304" pitchFamily="18" charset="0"/>
                <a:sym typeface="Helvetica Neue"/>
              </a:rPr>
              <a:t>/SVM and Isolation Forest on HDFS.</a:t>
            </a:r>
            <a:endParaRPr lang="en-US" sz="1800" dirty="0">
              <a:latin typeface="Times New Roman" panose="02020603050405020304" pitchFamily="18" charset="0"/>
              <a:cs typeface="Times New Roman" panose="02020603050405020304" pitchFamily="18" charset="0"/>
            </a:endParaRPr>
          </a:p>
          <a:p>
            <a:r>
              <a:rPr lang="en-US" sz="1800" b="1" dirty="0">
                <a:solidFill>
                  <a:srgbClr val="333333"/>
                </a:solidFill>
                <a:latin typeface="Times New Roman" panose="02020603050405020304" pitchFamily="18" charset="0"/>
                <a:ea typeface="Helvetica Neue"/>
                <a:cs typeface="Times New Roman" panose="02020603050405020304" pitchFamily="18" charset="0"/>
                <a:sym typeface="Helvetica Neue"/>
              </a:rPr>
              <a:t>Evaluate Deep Learning:</a:t>
            </a:r>
            <a:r>
              <a:rPr lang="en-US" sz="1800" dirty="0">
                <a:solidFill>
                  <a:srgbClr val="333333"/>
                </a:solidFill>
                <a:latin typeface="Times New Roman" panose="02020603050405020304" pitchFamily="18" charset="0"/>
                <a:ea typeface="Helvetica Neue"/>
                <a:cs typeface="Times New Roman" panose="02020603050405020304" pitchFamily="18" charset="0"/>
                <a:sym typeface="Helvetica Neue"/>
              </a:rPr>
              <a:t> Implement discriminative models (LSTM, GRU) on temporal sequences.</a:t>
            </a:r>
            <a:endParaRPr lang="en-US" sz="1800" dirty="0">
              <a:latin typeface="Times New Roman" panose="02020603050405020304" pitchFamily="18" charset="0"/>
              <a:cs typeface="Times New Roman" panose="02020603050405020304" pitchFamily="18" charset="0"/>
            </a:endParaRPr>
          </a:p>
          <a:p>
            <a:r>
              <a:rPr lang="en-US" sz="1800" b="1" dirty="0">
                <a:solidFill>
                  <a:srgbClr val="333333"/>
                </a:solidFill>
                <a:latin typeface="Times New Roman" panose="02020603050405020304" pitchFamily="18" charset="0"/>
                <a:ea typeface="Helvetica Neue"/>
                <a:cs typeface="Times New Roman" panose="02020603050405020304" pitchFamily="18" charset="0"/>
                <a:sym typeface="Helvetica Neue"/>
              </a:rPr>
              <a:t>Validate Generative AI:</a:t>
            </a:r>
            <a:r>
              <a:rPr lang="en-US" sz="1800" dirty="0">
                <a:solidFill>
                  <a:srgbClr val="333333"/>
                </a:solidFill>
                <a:latin typeface="Times New Roman" panose="02020603050405020304" pitchFamily="18" charset="0"/>
                <a:ea typeface="Helvetica Neue"/>
                <a:cs typeface="Times New Roman" panose="02020603050405020304" pitchFamily="18" charset="0"/>
                <a:sym typeface="Helvetica Neue"/>
              </a:rPr>
              <a:t> Develop normal-only models (LSTM-AE, VAE) to detect zero-day errors.</a:t>
            </a:r>
            <a:endParaRPr lang="en-US" sz="1800" dirty="0">
              <a:latin typeface="Times New Roman" panose="02020603050405020304" pitchFamily="18" charset="0"/>
              <a:cs typeface="Times New Roman" panose="02020603050405020304" pitchFamily="18" charset="0"/>
            </a:endParaRPr>
          </a:p>
          <a:p>
            <a:r>
              <a:rPr lang="en-US" sz="1800" b="1" dirty="0">
                <a:solidFill>
                  <a:srgbClr val="333333"/>
                </a:solidFill>
                <a:latin typeface="Times New Roman" panose="02020603050405020304" pitchFamily="18" charset="0"/>
                <a:ea typeface="Helvetica Neue"/>
                <a:cs typeface="Times New Roman" panose="02020603050405020304" pitchFamily="18" charset="0"/>
                <a:sym typeface="Helvetica Neue"/>
              </a:rPr>
              <a:t>Tri-Fold Comparative Study:</a:t>
            </a:r>
            <a:r>
              <a:rPr lang="en-US" sz="1800" dirty="0">
                <a:solidFill>
                  <a:srgbClr val="333333"/>
                </a:solidFill>
                <a:latin typeface="Times New Roman" panose="02020603050405020304" pitchFamily="18" charset="0"/>
                <a:ea typeface="Helvetica Neue"/>
                <a:cs typeface="Times New Roman" panose="02020603050405020304" pitchFamily="18" charset="0"/>
                <a:sym typeface="Helvetica Neue"/>
              </a:rPr>
              <a:t> Produce a cross-platform matrix across HDFS, Spark, and Hadoop.</a:t>
            </a:r>
            <a:endParaRPr lang="en-US" sz="1800" dirty="0">
              <a:latin typeface="Times New Roman" panose="02020603050405020304" pitchFamily="18" charset="0"/>
              <a:cs typeface="Times New Roman" panose="02020603050405020304" pitchFamily="18" charset="0"/>
            </a:endParaRPr>
          </a:p>
          <a:p>
            <a:endParaRPr lang="en-PK" sz="1800" dirty="0">
              <a:latin typeface="Times New Roman" panose="02020603050405020304" pitchFamily="18" charset="0"/>
              <a:cs typeface="Times New Roman" panose="02020603050405020304" pitchFamily="18" charset="0"/>
            </a:endParaRPr>
          </a:p>
        </p:txBody>
      </p:sp>
      <p:sp>
        <p:nvSpPr>
          <p:cNvPr id="6" name="Google Shape;93;p14">
            <a:extLst>
              <a:ext uri="{FF2B5EF4-FFF2-40B4-BE49-F238E27FC236}">
                <a16:creationId xmlns:a16="http://schemas.microsoft.com/office/drawing/2014/main" id="{FB7E6709-51BC-8A04-C5D7-A408F2234D92}"/>
              </a:ext>
            </a:extLst>
          </p:cNvPr>
          <p:cNvSpPr/>
          <p:nvPr/>
        </p:nvSpPr>
        <p:spPr>
          <a:xfrm>
            <a:off x="548640" y="1283017"/>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extLst>
      <p:ext uri="{BB962C8B-B14F-4D97-AF65-F5344CB8AC3E}">
        <p14:creationId xmlns:p14="http://schemas.microsoft.com/office/powerpoint/2010/main" val="279398717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86E15-AFEA-8A94-2AE1-BF63F903DF3F}"/>
              </a:ext>
            </a:extLst>
          </p:cNvPr>
          <p:cNvSpPr>
            <a:spLocks noGrp="1"/>
          </p:cNvSpPr>
          <p:nvPr>
            <p:ph type="title"/>
          </p:nvPr>
        </p:nvSpPr>
        <p:spPr>
          <a:xfrm>
            <a:off x="457200" y="274638"/>
            <a:ext cx="10731910" cy="1143000"/>
          </a:xfrm>
        </p:spPr>
        <p:txBody>
          <a:bodyPr>
            <a:normAutofit/>
          </a:bodyPr>
          <a:lstStyle/>
          <a:p>
            <a:pPr>
              <a:defRPr sz="3000" b="1"/>
            </a:pPr>
            <a:r>
              <a:rPr lang="en-US" sz="3150" b="1" cap="none" dirty="0">
                <a:solidFill>
                  <a:srgbClr val="003366"/>
                </a:solidFill>
                <a:latin typeface="Times New Roman" panose="02020603050405020304" pitchFamily="18" charset="0"/>
                <a:ea typeface="+mn-ea"/>
                <a:cs typeface="Times New Roman" panose="02020603050405020304" pitchFamily="18" charset="0"/>
                <a:sym typeface="Helvetica Neue"/>
              </a:rPr>
              <a:t>5. Methodology (5-Phase Framework)</a:t>
            </a:r>
            <a:endParaRPr lang="en-PK" sz="3150" b="1" cap="none" dirty="0">
              <a:solidFill>
                <a:srgbClr val="003366"/>
              </a:solidFill>
              <a:latin typeface="Times New Roman" panose="02020603050405020304" pitchFamily="18" charset="0"/>
              <a:ea typeface="+mn-ea"/>
              <a:cs typeface="Times New Roman" panose="02020603050405020304" pitchFamily="18" charset="0"/>
            </a:endParaRPr>
          </a:p>
        </p:txBody>
      </p:sp>
      <p:sp>
        <p:nvSpPr>
          <p:cNvPr id="3" name="Content Placeholder 2">
            <a:extLst>
              <a:ext uri="{FF2B5EF4-FFF2-40B4-BE49-F238E27FC236}">
                <a16:creationId xmlns:a16="http://schemas.microsoft.com/office/drawing/2014/main" id="{8B904BE5-DC8C-22FD-2819-0429BF539EE6}"/>
              </a:ext>
            </a:extLst>
          </p:cNvPr>
          <p:cNvSpPr>
            <a:spLocks noGrp="1"/>
          </p:cNvSpPr>
          <p:nvPr>
            <p:ph idx="1"/>
          </p:nvPr>
        </p:nvSpPr>
        <p:spPr>
          <a:xfrm>
            <a:off x="457200" y="1600200"/>
            <a:ext cx="10368116" cy="4525963"/>
          </a:xfrm>
        </p:spPr>
        <p:txBody>
          <a:bodyPr>
            <a:normAutofit/>
          </a:bodyPr>
          <a:lstStyle/>
          <a:p>
            <a:pPr marL="514350" indent="-514350">
              <a:buFont typeface="+mj-lt"/>
              <a:buAutoNum type="arabicPeriod"/>
            </a:pPr>
            <a:r>
              <a:rPr lang="en-US" sz="2800" b="1" dirty="0">
                <a:solidFill>
                  <a:srgbClr val="000000"/>
                </a:solidFill>
                <a:latin typeface="Times New Roman" panose="02020603050405020304" pitchFamily="18" charset="0"/>
                <a:ea typeface="Helvetica Neue"/>
                <a:cs typeface="Times New Roman" panose="02020603050405020304" pitchFamily="18" charset="0"/>
                <a:sym typeface="Helvetica Neue"/>
              </a:rPr>
              <a:t>Multi-Source Dataset Collection: </a:t>
            </a:r>
            <a:r>
              <a:rPr lang="en-US" sz="2800" dirty="0">
                <a:solidFill>
                  <a:srgbClr val="000000"/>
                </a:solidFill>
                <a:latin typeface="Times New Roman" panose="02020603050405020304" pitchFamily="18" charset="0"/>
                <a:ea typeface="Helvetica Neue"/>
                <a:cs typeface="Times New Roman" panose="02020603050405020304" pitchFamily="18" charset="0"/>
                <a:sym typeface="Helvetica Neue"/>
              </a:rPr>
              <a:t>Aggregating logs from HDFS (block data), Spark (task execution), and Hadoop setups.</a:t>
            </a:r>
          </a:p>
          <a:p>
            <a:pPr marL="514350" indent="-514350">
              <a:buFont typeface="+mj-lt"/>
              <a:buAutoNum type="arabicPeriod"/>
            </a:pPr>
            <a:r>
              <a:rPr lang="en-US" sz="2800" b="1" dirty="0">
                <a:solidFill>
                  <a:srgbClr val="000000"/>
                </a:solidFill>
                <a:latin typeface="Times New Roman" panose="02020603050405020304" pitchFamily="18" charset="0"/>
                <a:ea typeface="Helvetica Neue"/>
                <a:cs typeface="Times New Roman" panose="02020603050405020304" pitchFamily="18" charset="0"/>
                <a:sym typeface="Helvetica Neue"/>
              </a:rPr>
              <a:t>Log Preprocessing &amp; Parsing:</a:t>
            </a:r>
            <a:r>
              <a:rPr lang="en-US" sz="2800" dirty="0">
                <a:solidFill>
                  <a:srgbClr val="000000"/>
                </a:solidFill>
                <a:latin typeface="Times New Roman" panose="02020603050405020304" pitchFamily="18" charset="0"/>
                <a:ea typeface="Helvetica Neue"/>
                <a:cs typeface="Times New Roman" panose="02020603050405020304" pitchFamily="18" charset="0"/>
                <a:sym typeface="Helvetica Neue"/>
              </a:rPr>
              <a:t> Utilizing Drain Parser for template extraction, event ID mapping, and timestamp normalization.</a:t>
            </a:r>
          </a:p>
          <a:p>
            <a:pPr marL="514350" indent="-514350">
              <a:buFont typeface="+mj-lt"/>
              <a:buAutoNum type="arabicPeriod"/>
            </a:pPr>
            <a:r>
              <a:rPr lang="en-US" sz="2800" b="1" dirty="0">
                <a:solidFill>
                  <a:srgbClr val="000000"/>
                </a:solidFill>
                <a:latin typeface="Times New Roman" panose="02020603050405020304" pitchFamily="18" charset="0"/>
                <a:ea typeface="Helvetica Neue"/>
                <a:cs typeface="Times New Roman" panose="02020603050405020304" pitchFamily="18" charset="0"/>
                <a:sym typeface="Helvetica Neue"/>
              </a:rPr>
              <a:t>Comparative Model Training: </a:t>
            </a:r>
            <a:r>
              <a:rPr lang="en-US" sz="2800" dirty="0">
                <a:solidFill>
                  <a:srgbClr val="000000"/>
                </a:solidFill>
                <a:latin typeface="Times New Roman" panose="02020603050405020304" pitchFamily="18" charset="0"/>
                <a:ea typeface="Helvetica Neue"/>
                <a:cs typeface="Times New Roman" panose="02020603050405020304" pitchFamily="18" charset="0"/>
                <a:sym typeface="Helvetica Neue"/>
              </a:rPr>
              <a:t>Executing 3 distinct pipelines: Traditional ML, Deep Learning, and Generative Al.</a:t>
            </a:r>
          </a:p>
          <a:p>
            <a:pPr marL="514350" indent="-514350">
              <a:buFont typeface="+mj-lt"/>
              <a:buAutoNum type="arabicPeriod"/>
            </a:pPr>
            <a:r>
              <a:rPr lang="en-US" sz="2800" b="1" dirty="0">
                <a:solidFill>
                  <a:srgbClr val="000000"/>
                </a:solidFill>
                <a:latin typeface="Times New Roman" panose="02020603050405020304" pitchFamily="18" charset="0"/>
                <a:ea typeface="Helvetica Neue"/>
                <a:cs typeface="Times New Roman" panose="02020603050405020304" pitchFamily="18" charset="0"/>
                <a:sym typeface="Helvetica Neue"/>
              </a:rPr>
              <a:t>Cross-Platform Testing: </a:t>
            </a:r>
            <a:r>
              <a:rPr lang="en-US" sz="2800" dirty="0">
                <a:solidFill>
                  <a:srgbClr val="000000"/>
                </a:solidFill>
                <a:latin typeface="Times New Roman" panose="02020603050405020304" pitchFamily="18" charset="0"/>
                <a:ea typeface="Helvetica Neue"/>
                <a:cs typeface="Times New Roman" panose="02020603050405020304" pitchFamily="18" charset="0"/>
                <a:sym typeface="Helvetica Neue"/>
              </a:rPr>
              <a:t>Applying an 80/20 train-test split; evaluating models independently on unseen architectures.</a:t>
            </a:r>
          </a:p>
          <a:p>
            <a:pPr marL="514350" indent="-514350">
              <a:buFont typeface="+mj-lt"/>
              <a:buAutoNum type="arabicPeriod"/>
            </a:pPr>
            <a:r>
              <a:rPr lang="en-US" sz="2800" b="1" dirty="0">
                <a:solidFill>
                  <a:srgbClr val="000000"/>
                </a:solidFill>
                <a:latin typeface="Times New Roman" panose="02020603050405020304" pitchFamily="18" charset="0"/>
                <a:ea typeface="Helvetica Neue"/>
                <a:cs typeface="Times New Roman" panose="02020603050405020304" pitchFamily="18" charset="0"/>
                <a:sym typeface="Helvetica Neue"/>
              </a:rPr>
              <a:t>Comparative Analysis: </a:t>
            </a:r>
            <a:r>
              <a:rPr lang="en-US" sz="2800" dirty="0">
                <a:solidFill>
                  <a:srgbClr val="000000"/>
                </a:solidFill>
                <a:latin typeface="Times New Roman" panose="02020603050405020304" pitchFamily="18" charset="0"/>
                <a:ea typeface="Helvetica Neue"/>
                <a:cs typeface="Times New Roman" panose="02020603050405020304" pitchFamily="18" charset="0"/>
                <a:sym typeface="Helvetica Neue"/>
              </a:rPr>
              <a:t>Evaluating quantitative metrics alongside functional automation and zero-day capabilities.</a:t>
            </a:r>
            <a:endParaRPr lang="en-PK" sz="2800" dirty="0">
              <a:latin typeface="Times New Roman" panose="02020603050405020304" pitchFamily="18" charset="0"/>
              <a:cs typeface="Times New Roman" panose="02020603050405020304" pitchFamily="18" charset="0"/>
            </a:endParaRPr>
          </a:p>
        </p:txBody>
      </p:sp>
      <p:sp>
        <p:nvSpPr>
          <p:cNvPr id="5" name="Google Shape;93;p14">
            <a:extLst>
              <a:ext uri="{FF2B5EF4-FFF2-40B4-BE49-F238E27FC236}">
                <a16:creationId xmlns:a16="http://schemas.microsoft.com/office/drawing/2014/main" id="{07727468-FE66-A38C-7EC6-F98C695376FE}"/>
              </a:ext>
            </a:extLst>
          </p:cNvPr>
          <p:cNvSpPr/>
          <p:nvPr/>
        </p:nvSpPr>
        <p:spPr>
          <a:xfrm>
            <a:off x="548640" y="1283017"/>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extLst>
      <p:ext uri="{BB962C8B-B14F-4D97-AF65-F5344CB8AC3E}">
        <p14:creationId xmlns:p14="http://schemas.microsoft.com/office/powerpoint/2010/main" val="233706901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2E68196-AEEC-ACC3-42B8-98A49971F5CB}"/>
              </a:ext>
            </a:extLst>
          </p:cNvPr>
          <p:cNvPicPr>
            <a:picLocks noChangeAspect="1"/>
          </p:cNvPicPr>
          <p:nvPr/>
        </p:nvPicPr>
        <p:blipFill>
          <a:blip r:embed="rId3"/>
          <a:stretch>
            <a:fillRect/>
          </a:stretch>
        </p:blipFill>
        <p:spPr>
          <a:xfrm>
            <a:off x="2310476" y="2241697"/>
            <a:ext cx="7400925" cy="3352800"/>
          </a:xfrm>
          <a:prstGeom prst="rect">
            <a:avLst/>
          </a:prstGeom>
        </p:spPr>
      </p:pic>
      <p:sp>
        <p:nvSpPr>
          <p:cNvPr id="3" name="TextBox 2">
            <a:extLst>
              <a:ext uri="{FF2B5EF4-FFF2-40B4-BE49-F238E27FC236}">
                <a16:creationId xmlns:a16="http://schemas.microsoft.com/office/drawing/2014/main" id="{8E70C6E6-22C8-88CB-6294-692241F7C588}"/>
              </a:ext>
            </a:extLst>
          </p:cNvPr>
          <p:cNvSpPr txBox="1"/>
          <p:nvPr/>
        </p:nvSpPr>
        <p:spPr>
          <a:xfrm>
            <a:off x="1145658" y="999462"/>
            <a:ext cx="6097772" cy="577081"/>
          </a:xfrm>
          <a:prstGeom prst="rect">
            <a:avLst/>
          </a:prstGeom>
          <a:noFill/>
        </p:spPr>
        <p:txBody>
          <a:bodyPr wrap="square">
            <a:spAutoFit/>
          </a:bodyPr>
          <a:lstStyle/>
          <a:p>
            <a:r>
              <a:rPr lang="en-US" sz="3150" b="1" cap="none" dirty="0">
                <a:solidFill>
                  <a:srgbClr val="003366"/>
                </a:solidFill>
                <a:latin typeface="Times New Roman" panose="02020603050405020304" pitchFamily="18" charset="0"/>
                <a:ea typeface="+mn-ea"/>
                <a:cs typeface="Times New Roman" panose="02020603050405020304" pitchFamily="18" charset="0"/>
                <a:sym typeface="Helvetica Neue"/>
              </a:rPr>
              <a:t>Methodology</a:t>
            </a:r>
            <a:endParaRPr lang="en-PK" dirty="0"/>
          </a:p>
        </p:txBody>
      </p:sp>
    </p:spTree>
    <p:extLst>
      <p:ext uri="{BB962C8B-B14F-4D97-AF65-F5344CB8AC3E}">
        <p14:creationId xmlns:p14="http://schemas.microsoft.com/office/powerpoint/2010/main" val="255400271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3806ED-3A7B-C07F-3472-D67B273B71DC}"/>
              </a:ext>
            </a:extLst>
          </p:cNvPr>
          <p:cNvPicPr>
            <a:picLocks noChangeAspect="1"/>
          </p:cNvPicPr>
          <p:nvPr/>
        </p:nvPicPr>
        <p:blipFill>
          <a:blip r:embed="rId2"/>
          <a:stretch>
            <a:fillRect/>
          </a:stretch>
        </p:blipFill>
        <p:spPr>
          <a:xfrm>
            <a:off x="2647507" y="1405006"/>
            <a:ext cx="7539001" cy="5111859"/>
          </a:xfrm>
          <a:prstGeom prst="rect">
            <a:avLst/>
          </a:prstGeom>
        </p:spPr>
      </p:pic>
      <p:sp>
        <p:nvSpPr>
          <p:cNvPr id="4" name="TextBox 3">
            <a:extLst>
              <a:ext uri="{FF2B5EF4-FFF2-40B4-BE49-F238E27FC236}">
                <a16:creationId xmlns:a16="http://schemas.microsoft.com/office/drawing/2014/main" id="{59CE4637-AE36-9A95-FC58-7B2ACC080A0F}"/>
              </a:ext>
            </a:extLst>
          </p:cNvPr>
          <p:cNvSpPr txBox="1"/>
          <p:nvPr/>
        </p:nvSpPr>
        <p:spPr>
          <a:xfrm>
            <a:off x="996802" y="584792"/>
            <a:ext cx="6097772" cy="577081"/>
          </a:xfrm>
          <a:prstGeom prst="rect">
            <a:avLst/>
          </a:prstGeom>
          <a:noFill/>
        </p:spPr>
        <p:txBody>
          <a:bodyPr wrap="square">
            <a:spAutoFit/>
          </a:bodyPr>
          <a:lstStyle/>
          <a:p>
            <a:r>
              <a:rPr lang="en-US" sz="3150" b="1" cap="none" dirty="0">
                <a:solidFill>
                  <a:srgbClr val="003366"/>
                </a:solidFill>
                <a:latin typeface="Times New Roman" panose="02020603050405020304" pitchFamily="18" charset="0"/>
                <a:ea typeface="+mn-ea"/>
                <a:cs typeface="Times New Roman" panose="02020603050405020304" pitchFamily="18" charset="0"/>
                <a:sym typeface="Helvetica Neue"/>
              </a:rPr>
              <a:t>Methodology</a:t>
            </a:r>
            <a:endParaRPr lang="en-PK" dirty="0"/>
          </a:p>
        </p:txBody>
      </p:sp>
    </p:spTree>
    <p:extLst>
      <p:ext uri="{BB962C8B-B14F-4D97-AF65-F5344CB8AC3E}">
        <p14:creationId xmlns:p14="http://schemas.microsoft.com/office/powerpoint/2010/main" val="64757279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FDF12D9-48FE-801F-CEC0-498F5498031F}"/>
              </a:ext>
            </a:extLst>
          </p:cNvPr>
          <p:cNvPicPr>
            <a:picLocks noChangeAspect="1"/>
          </p:cNvPicPr>
          <p:nvPr/>
        </p:nvPicPr>
        <p:blipFill>
          <a:blip r:embed="rId2"/>
          <a:stretch>
            <a:fillRect/>
          </a:stretch>
        </p:blipFill>
        <p:spPr>
          <a:xfrm>
            <a:off x="2824997" y="1288002"/>
            <a:ext cx="7818194" cy="5188062"/>
          </a:xfrm>
          <a:prstGeom prst="rect">
            <a:avLst/>
          </a:prstGeom>
        </p:spPr>
      </p:pic>
      <p:sp>
        <p:nvSpPr>
          <p:cNvPr id="4" name="TextBox 3">
            <a:extLst>
              <a:ext uri="{FF2B5EF4-FFF2-40B4-BE49-F238E27FC236}">
                <a16:creationId xmlns:a16="http://schemas.microsoft.com/office/drawing/2014/main" id="{107CDB5A-FF61-3C5C-EBDE-AA0A7750D650}"/>
              </a:ext>
            </a:extLst>
          </p:cNvPr>
          <p:cNvSpPr txBox="1"/>
          <p:nvPr/>
        </p:nvSpPr>
        <p:spPr>
          <a:xfrm>
            <a:off x="934034" y="381936"/>
            <a:ext cx="6097772" cy="577081"/>
          </a:xfrm>
          <a:prstGeom prst="rect">
            <a:avLst/>
          </a:prstGeom>
          <a:noFill/>
        </p:spPr>
        <p:txBody>
          <a:bodyPr wrap="square">
            <a:spAutoFit/>
          </a:bodyPr>
          <a:lstStyle/>
          <a:p>
            <a:r>
              <a:rPr lang="en-US" sz="3150" b="1" cap="none" dirty="0">
                <a:solidFill>
                  <a:srgbClr val="003366"/>
                </a:solidFill>
                <a:latin typeface="Times New Roman" panose="02020603050405020304" pitchFamily="18" charset="0"/>
                <a:ea typeface="+mn-ea"/>
                <a:cs typeface="Times New Roman" panose="02020603050405020304" pitchFamily="18" charset="0"/>
                <a:sym typeface="Helvetica Neue"/>
              </a:rPr>
              <a:t>Methodology</a:t>
            </a:r>
            <a:endParaRPr lang="en-PK" dirty="0"/>
          </a:p>
        </p:txBody>
      </p:sp>
    </p:spTree>
    <p:extLst>
      <p:ext uri="{BB962C8B-B14F-4D97-AF65-F5344CB8AC3E}">
        <p14:creationId xmlns:p14="http://schemas.microsoft.com/office/powerpoint/2010/main" val="252434387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E960574-FA3B-28D6-9A8D-788F82A57B34}"/>
              </a:ext>
            </a:extLst>
          </p:cNvPr>
          <p:cNvPicPr>
            <a:picLocks noChangeAspect="1"/>
          </p:cNvPicPr>
          <p:nvPr/>
        </p:nvPicPr>
        <p:blipFill>
          <a:blip r:embed="rId2"/>
          <a:stretch>
            <a:fillRect/>
          </a:stretch>
        </p:blipFill>
        <p:spPr>
          <a:xfrm>
            <a:off x="1955558" y="2023381"/>
            <a:ext cx="9259079" cy="4100097"/>
          </a:xfrm>
          <a:prstGeom prst="rect">
            <a:avLst/>
          </a:prstGeom>
        </p:spPr>
      </p:pic>
      <p:sp>
        <p:nvSpPr>
          <p:cNvPr id="4" name="TextBox 3">
            <a:extLst>
              <a:ext uri="{FF2B5EF4-FFF2-40B4-BE49-F238E27FC236}">
                <a16:creationId xmlns:a16="http://schemas.microsoft.com/office/drawing/2014/main" id="{CF03A0BB-3160-B66F-C7A3-253F652BA343}"/>
              </a:ext>
            </a:extLst>
          </p:cNvPr>
          <p:cNvSpPr txBox="1"/>
          <p:nvPr/>
        </p:nvSpPr>
        <p:spPr>
          <a:xfrm>
            <a:off x="1145658" y="935664"/>
            <a:ext cx="6097772" cy="577081"/>
          </a:xfrm>
          <a:prstGeom prst="rect">
            <a:avLst/>
          </a:prstGeom>
          <a:noFill/>
        </p:spPr>
        <p:txBody>
          <a:bodyPr wrap="square">
            <a:spAutoFit/>
          </a:bodyPr>
          <a:lstStyle/>
          <a:p>
            <a:r>
              <a:rPr lang="en-US" sz="3150" b="1" cap="none" dirty="0">
                <a:solidFill>
                  <a:srgbClr val="003366"/>
                </a:solidFill>
                <a:latin typeface="Times New Roman" panose="02020603050405020304" pitchFamily="18" charset="0"/>
                <a:ea typeface="+mn-ea"/>
                <a:cs typeface="Times New Roman" panose="02020603050405020304" pitchFamily="18" charset="0"/>
                <a:sym typeface="Helvetica Neue"/>
              </a:rPr>
              <a:t>Methodology</a:t>
            </a:r>
            <a:endParaRPr lang="en-PK" dirty="0"/>
          </a:p>
        </p:txBody>
      </p:sp>
    </p:spTree>
    <p:extLst>
      <p:ext uri="{BB962C8B-B14F-4D97-AF65-F5344CB8AC3E}">
        <p14:creationId xmlns:p14="http://schemas.microsoft.com/office/powerpoint/2010/main" val="142962014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Content Placeholder 3">
            <a:extLst>
              <a:ext uri="{FF2B5EF4-FFF2-40B4-BE49-F238E27FC236}">
                <a16:creationId xmlns:a16="http://schemas.microsoft.com/office/drawing/2014/main" id="{98F808DA-E5B4-4156-57B4-D2D0E2F7563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84206" y="122537"/>
            <a:ext cx="5447071" cy="626918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5463661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pic>
        <p:nvPicPr>
          <p:cNvPr id="295" name="Google Shape;295;p22" descr="image.png"/>
          <p:cNvPicPr preferRelativeResize="0"/>
          <p:nvPr/>
        </p:nvPicPr>
        <p:blipFill rotWithShape="1">
          <a:blip r:embed="rId3">
            <a:alphaModFix/>
          </a:blip>
          <a:srcRect/>
          <a:stretch/>
        </p:blipFill>
        <p:spPr>
          <a:xfrm>
            <a:off x="762000" y="1485900"/>
            <a:ext cx="3302049" cy="4800600"/>
          </a:xfrm>
          <a:prstGeom prst="rect">
            <a:avLst/>
          </a:prstGeom>
          <a:noFill/>
          <a:ln>
            <a:noFill/>
          </a:ln>
        </p:spPr>
      </p:pic>
      <p:pic>
        <p:nvPicPr>
          <p:cNvPr id="296" name="Google Shape;296;p22" descr="image.png"/>
          <p:cNvPicPr preferRelativeResize="0"/>
          <p:nvPr/>
        </p:nvPicPr>
        <p:blipFill rotWithShape="1">
          <a:blip r:embed="rId4">
            <a:alphaModFix/>
          </a:blip>
          <a:srcRect/>
          <a:stretch/>
        </p:blipFill>
        <p:spPr>
          <a:xfrm>
            <a:off x="4445049" y="1485900"/>
            <a:ext cx="3302049" cy="4800600"/>
          </a:xfrm>
          <a:prstGeom prst="rect">
            <a:avLst/>
          </a:prstGeom>
          <a:noFill/>
          <a:ln>
            <a:noFill/>
          </a:ln>
        </p:spPr>
      </p:pic>
      <p:pic>
        <p:nvPicPr>
          <p:cNvPr id="297" name="Google Shape;297;p22" descr="image.png"/>
          <p:cNvPicPr preferRelativeResize="0"/>
          <p:nvPr/>
        </p:nvPicPr>
        <p:blipFill rotWithShape="1">
          <a:blip r:embed="rId5">
            <a:alphaModFix/>
          </a:blip>
          <a:srcRect/>
          <a:stretch/>
        </p:blipFill>
        <p:spPr>
          <a:xfrm>
            <a:off x="8128099" y="1485900"/>
            <a:ext cx="3302049" cy="4800600"/>
          </a:xfrm>
          <a:prstGeom prst="rect">
            <a:avLst/>
          </a:prstGeom>
          <a:noFill/>
          <a:ln>
            <a:noFill/>
          </a:ln>
        </p:spPr>
      </p:pic>
      <p:sp>
        <p:nvSpPr>
          <p:cNvPr id="298" name="Google Shape;298;p22"/>
          <p:cNvSpPr txBox="1"/>
          <p:nvPr/>
        </p:nvSpPr>
        <p:spPr>
          <a:xfrm>
            <a:off x="762000" y="571500"/>
            <a:ext cx="11201400" cy="485775"/>
          </a:xfrm>
          <a:prstGeom prst="rect">
            <a:avLst/>
          </a:prstGeom>
          <a:noFill/>
          <a:ln>
            <a:noFill/>
          </a:ln>
        </p:spPr>
        <p:txBody>
          <a:bodyPr spcFirstLastPara="1" wrap="square" lIns="0" tIns="0" rIns="0" bIns="0" anchor="t" anchorCtr="0">
            <a:spAutoFit/>
          </a:bodyPr>
          <a:lstStyle/>
          <a:p>
            <a:pPr marR="0" lvl="0" indent="0">
              <a:spcBef>
                <a:spcPts val="0"/>
              </a:spcBef>
              <a:spcAft>
                <a:spcPts val="0"/>
              </a:spcAft>
              <a:buNone/>
              <a:defRPr sz="3000" b="1"/>
            </a:pPr>
            <a:r>
              <a:rPr lang="en-US" sz="3150" b="1" dirty="0">
                <a:solidFill>
                  <a:srgbClr val="003366"/>
                </a:solidFill>
                <a:latin typeface="Times New Roman" panose="02020603050405020304" pitchFamily="18" charset="0"/>
                <a:cs typeface="Times New Roman" panose="02020603050405020304" pitchFamily="18" charset="0"/>
                <a:sym typeface="Helvetica Neue"/>
              </a:rPr>
              <a:t>Dataset Strategy</a:t>
            </a:r>
            <a:endParaRPr sz="3150" b="1" dirty="0">
              <a:solidFill>
                <a:srgbClr val="003366"/>
              </a:solidFill>
              <a:latin typeface="Times New Roman" panose="02020603050405020304" pitchFamily="18" charset="0"/>
              <a:cs typeface="Times New Roman" panose="02020603050405020304" pitchFamily="18" charset="0"/>
            </a:endParaRPr>
          </a:p>
        </p:txBody>
      </p:sp>
      <p:sp>
        <p:nvSpPr>
          <p:cNvPr id="299" name="Google Shape;299;p22"/>
          <p:cNvSpPr/>
          <p:nvPr/>
        </p:nvSpPr>
        <p:spPr>
          <a:xfrm>
            <a:off x="762000" y="1171575"/>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02" name="Google Shape;302;p22"/>
          <p:cNvSpPr txBox="1"/>
          <p:nvPr/>
        </p:nvSpPr>
        <p:spPr>
          <a:xfrm>
            <a:off x="1038065" y="1724025"/>
            <a:ext cx="2807069"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03366"/>
                </a:solidFill>
                <a:latin typeface="Times New Roman" panose="02020603050405020304" pitchFamily="18" charset="0"/>
                <a:ea typeface="Helvetica Neue"/>
                <a:cs typeface="Times New Roman" panose="02020603050405020304" pitchFamily="18" charset="0"/>
                <a:sym typeface="Helvetica Neue"/>
              </a:rPr>
              <a:t>HDFS v1</a:t>
            </a:r>
            <a:endParaRPr>
              <a:latin typeface="Times New Roman" panose="02020603050405020304" pitchFamily="18" charset="0"/>
              <a:cs typeface="Times New Roman" panose="02020603050405020304" pitchFamily="18" charset="0"/>
            </a:endParaRPr>
          </a:p>
        </p:txBody>
      </p:sp>
      <p:sp>
        <p:nvSpPr>
          <p:cNvPr id="303" name="Google Shape;303;p22"/>
          <p:cNvSpPr txBox="1"/>
          <p:nvPr/>
        </p:nvSpPr>
        <p:spPr>
          <a:xfrm>
            <a:off x="1104900" y="2219325"/>
            <a:ext cx="2673399" cy="443198"/>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The "Gold Standard"</a:t>
            </a:r>
            <a:endParaRPr dirty="0">
              <a:latin typeface="Times New Roman" panose="02020603050405020304" pitchFamily="18" charset="0"/>
              <a:cs typeface="Times New Roman" panose="02020603050405020304" pitchFamily="18" charset="0"/>
            </a:endParaRPr>
          </a:p>
        </p:txBody>
      </p:sp>
      <p:sp>
        <p:nvSpPr>
          <p:cNvPr id="304" name="Google Shape;304;p22"/>
          <p:cNvSpPr txBox="1"/>
          <p:nvPr/>
        </p:nvSpPr>
        <p:spPr>
          <a:xfrm>
            <a:off x="1104900" y="2775495"/>
            <a:ext cx="2959149" cy="2659190"/>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Contains over 575,000 block logs with labeled "Normal" and "</a:t>
            </a:r>
            <a:r>
              <a:rPr lang="en-US" dirty="0" err="1">
                <a:solidFill>
                  <a:srgbClr val="333333"/>
                </a:solidFill>
                <a:latin typeface="Times New Roman" panose="02020603050405020304" pitchFamily="18" charset="0"/>
                <a:cs typeface="Times New Roman" panose="02020603050405020304" pitchFamily="18" charset="0"/>
                <a:sym typeface="Helvetica Neue"/>
              </a:rPr>
              <a:t>BlockCorrelation</a:t>
            </a: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 failures. Used to train and stringently benchmark all</a:t>
            </a:r>
          </a:p>
          <a:p>
            <a:pPr marL="0" marR="0" lvl="0" indent="0" algn="l" rtl="0">
              <a:lnSpc>
                <a:spcPct val="159944"/>
              </a:lnSpc>
              <a:spcBef>
                <a:spcPts val="0"/>
              </a:spcBef>
              <a:spcAft>
                <a:spcPts val="0"/>
              </a:spcAft>
              <a:buNone/>
            </a:pP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 initial model types.</a:t>
            </a:r>
            <a:endParaRPr dirty="0">
              <a:latin typeface="Times New Roman" panose="02020603050405020304" pitchFamily="18" charset="0"/>
              <a:cs typeface="Times New Roman" panose="02020603050405020304" pitchFamily="18" charset="0"/>
            </a:endParaRPr>
          </a:p>
        </p:txBody>
      </p:sp>
      <p:sp>
        <p:nvSpPr>
          <p:cNvPr id="305" name="Google Shape;305;p22"/>
          <p:cNvSpPr txBox="1"/>
          <p:nvPr/>
        </p:nvSpPr>
        <p:spPr>
          <a:xfrm>
            <a:off x="4721114" y="1724025"/>
            <a:ext cx="2807069"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03366"/>
                </a:solidFill>
                <a:latin typeface="Times New Roman" panose="02020603050405020304" pitchFamily="18" charset="0"/>
                <a:ea typeface="Helvetica Neue"/>
                <a:cs typeface="Times New Roman" panose="02020603050405020304" pitchFamily="18" charset="0"/>
                <a:sym typeface="Helvetica Neue"/>
              </a:rPr>
              <a:t>Apache Spark</a:t>
            </a:r>
            <a:endParaRPr>
              <a:latin typeface="Times New Roman" panose="02020603050405020304" pitchFamily="18" charset="0"/>
              <a:cs typeface="Times New Roman" panose="02020603050405020304" pitchFamily="18" charset="0"/>
            </a:endParaRPr>
          </a:p>
        </p:txBody>
      </p:sp>
      <p:sp>
        <p:nvSpPr>
          <p:cNvPr id="306" name="Google Shape;306;p22"/>
          <p:cNvSpPr txBox="1"/>
          <p:nvPr/>
        </p:nvSpPr>
        <p:spPr>
          <a:xfrm>
            <a:off x="4787949" y="2219325"/>
            <a:ext cx="2673399" cy="443198"/>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The Generalization Test</a:t>
            </a:r>
            <a:endParaRPr>
              <a:latin typeface="Times New Roman" panose="02020603050405020304" pitchFamily="18" charset="0"/>
              <a:cs typeface="Times New Roman" panose="02020603050405020304" pitchFamily="18" charset="0"/>
            </a:endParaRPr>
          </a:p>
        </p:txBody>
      </p:sp>
      <p:sp>
        <p:nvSpPr>
          <p:cNvPr id="307" name="Google Shape;307;p22"/>
          <p:cNvSpPr txBox="1"/>
          <p:nvPr/>
        </p:nvSpPr>
        <p:spPr>
          <a:xfrm>
            <a:off x="4787949" y="2775495"/>
            <a:ext cx="2959149" cy="2659190"/>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Contains 1.6 million highly complex, overlapping task execution logs. Used exclusively to evaluate inter-system transfer learning and architectural robustness.</a:t>
            </a:r>
            <a:endParaRPr dirty="0">
              <a:latin typeface="Times New Roman" panose="02020603050405020304" pitchFamily="18" charset="0"/>
              <a:cs typeface="Times New Roman" panose="02020603050405020304" pitchFamily="18" charset="0"/>
            </a:endParaRPr>
          </a:p>
        </p:txBody>
      </p:sp>
      <p:sp>
        <p:nvSpPr>
          <p:cNvPr id="308" name="Google Shape;308;p22"/>
          <p:cNvSpPr txBox="1"/>
          <p:nvPr/>
        </p:nvSpPr>
        <p:spPr>
          <a:xfrm>
            <a:off x="8404164" y="1724025"/>
            <a:ext cx="2807069" cy="32316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100" b="1" i="0" u="none" strike="noStrike" cap="none">
                <a:solidFill>
                  <a:srgbClr val="003366"/>
                </a:solidFill>
                <a:latin typeface="Times New Roman" panose="02020603050405020304" pitchFamily="18" charset="0"/>
                <a:ea typeface="Helvetica Neue"/>
                <a:cs typeface="Times New Roman" panose="02020603050405020304" pitchFamily="18" charset="0"/>
                <a:sym typeface="Helvetica Neue"/>
              </a:rPr>
              <a:t>Hadoop / OpenStack</a:t>
            </a:r>
            <a:endParaRPr>
              <a:latin typeface="Times New Roman" panose="02020603050405020304" pitchFamily="18" charset="0"/>
              <a:cs typeface="Times New Roman" panose="02020603050405020304" pitchFamily="18" charset="0"/>
            </a:endParaRPr>
          </a:p>
        </p:txBody>
      </p:sp>
      <p:sp>
        <p:nvSpPr>
          <p:cNvPr id="309" name="Google Shape;309;p22"/>
          <p:cNvSpPr txBox="1"/>
          <p:nvPr/>
        </p:nvSpPr>
        <p:spPr>
          <a:xfrm>
            <a:off x="8470999" y="2219325"/>
            <a:ext cx="2673399" cy="443198"/>
          </a:xfrm>
          <a:prstGeom prst="rect">
            <a:avLst/>
          </a:prstGeom>
          <a:noFill/>
          <a:ln>
            <a:noFill/>
          </a:ln>
        </p:spPr>
        <p:txBody>
          <a:bodyPr spcFirstLastPara="1" wrap="square" lIns="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Broader Validation</a:t>
            </a:r>
            <a:endParaRPr>
              <a:latin typeface="Times New Roman" panose="02020603050405020304" pitchFamily="18" charset="0"/>
              <a:cs typeface="Times New Roman" panose="02020603050405020304" pitchFamily="18" charset="0"/>
            </a:endParaRPr>
          </a:p>
        </p:txBody>
      </p:sp>
      <p:sp>
        <p:nvSpPr>
          <p:cNvPr id="310" name="Google Shape;310;p22"/>
          <p:cNvSpPr txBox="1"/>
          <p:nvPr/>
        </p:nvSpPr>
        <p:spPr>
          <a:xfrm>
            <a:off x="8470999" y="2775495"/>
            <a:ext cx="2807069" cy="1661993"/>
          </a:xfrm>
          <a:prstGeom prst="rect">
            <a:avLst/>
          </a:prstGeom>
          <a:noFill/>
          <a:ln>
            <a:noFill/>
          </a:ln>
        </p:spPr>
        <p:txBody>
          <a:bodyPr spcFirstLastPara="1" wrap="square" lIns="0" tIns="0" rIns="0" bIns="0" anchor="t" anchorCtr="0">
            <a:spAutoFit/>
          </a:bodyPr>
          <a:lstStyle/>
          <a:p>
            <a:pPr lvl="0"/>
            <a:r>
              <a:rPr lang="en-PK" dirty="0">
                <a:latin typeface="Times New Roman" panose="02020603050405020304" pitchFamily="18" charset="0"/>
                <a:cs typeface="Times New Roman" panose="02020603050405020304" pitchFamily="18" charset="0"/>
              </a:rPr>
              <a:t>393,433</a:t>
            </a:r>
            <a:r>
              <a:rPr lang="en-US" dirty="0">
                <a:latin typeface="Times New Roman" panose="02020603050405020304" pitchFamily="18" charset="0"/>
                <a:cs typeface="Times New Roman" panose="02020603050405020304" pitchFamily="18" charset="0"/>
              </a:rPr>
              <a:t> </a:t>
            </a: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Broader system-level logs utilized for final cross-platform validation to ensure selected models do not memorize application-specific syntaxes.</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960C6-D2CC-6CDE-39B1-6FB22D15FD52}"/>
              </a:ext>
            </a:extLst>
          </p:cNvPr>
          <p:cNvSpPr>
            <a:spLocks noGrp="1"/>
          </p:cNvSpPr>
          <p:nvPr>
            <p:ph type="title"/>
          </p:nvPr>
        </p:nvSpPr>
        <p:spPr/>
        <p:txBody>
          <a:bodyPr/>
          <a:lstStyle/>
          <a:p>
            <a:r>
              <a:rPr lang="en-US" sz="3150" b="1" cap="none" dirty="0">
                <a:solidFill>
                  <a:srgbClr val="003366"/>
                </a:solidFill>
                <a:latin typeface="Times New Roman" panose="02020603050405020304" pitchFamily="18" charset="0"/>
                <a:ea typeface="+mn-ea"/>
                <a:cs typeface="Times New Roman" panose="02020603050405020304" pitchFamily="18" charset="0"/>
                <a:sym typeface="Poppins SemiBold"/>
              </a:rPr>
              <a:t>Spark Dataset: Challenges</a:t>
            </a:r>
            <a:endParaRPr lang="en-PK" sz="3150" b="1" cap="none" dirty="0">
              <a:solidFill>
                <a:srgbClr val="003366"/>
              </a:solidFill>
              <a:latin typeface="Times New Roman" panose="02020603050405020304" pitchFamily="18" charset="0"/>
              <a:ea typeface="+mn-ea"/>
              <a:cs typeface="Times New Roman" panose="02020603050405020304" pitchFamily="18" charset="0"/>
            </a:endParaRPr>
          </a:p>
        </p:txBody>
      </p:sp>
      <p:sp>
        <p:nvSpPr>
          <p:cNvPr id="3" name="Content Placeholder 2">
            <a:extLst>
              <a:ext uri="{FF2B5EF4-FFF2-40B4-BE49-F238E27FC236}">
                <a16:creationId xmlns:a16="http://schemas.microsoft.com/office/drawing/2014/main" id="{99FD89AF-3600-4152-7D05-8DE424F81DC4}"/>
              </a:ext>
            </a:extLst>
          </p:cNvPr>
          <p:cNvSpPr>
            <a:spLocks noGrp="1"/>
          </p:cNvSpPr>
          <p:nvPr>
            <p:ph idx="1"/>
          </p:nvPr>
        </p:nvSpPr>
        <p:spPr>
          <a:xfrm>
            <a:off x="602986" y="1736176"/>
            <a:ext cx="10981137" cy="5550449"/>
          </a:xfrm>
        </p:spPr>
        <p:txBody>
          <a:bodyPr>
            <a:noAutofit/>
          </a:bodyPr>
          <a:lstStyle/>
          <a:p>
            <a:r>
              <a:rPr lang="en-US" sz="2000" b="1" dirty="0">
                <a:solidFill>
                  <a:srgbClr val="333333"/>
                </a:solidFill>
                <a:latin typeface="Times New Roman" panose="02020603050405020304" pitchFamily="18" charset="0"/>
                <a:cs typeface="Times New Roman" panose="02020603050405020304" pitchFamily="18" charset="0"/>
                <a:sym typeface="Poppins SemiBold"/>
              </a:rPr>
              <a:t>RAM Crash</a:t>
            </a:r>
            <a:endParaRPr lang="en-US" sz="2000" b="1" dirty="0">
              <a:solidFill>
                <a:srgbClr val="333333"/>
              </a:solidFill>
              <a:latin typeface="Times New Roman" panose="02020603050405020304" pitchFamily="18" charset="0"/>
              <a:cs typeface="Times New Roman" panose="02020603050405020304" pitchFamily="18" charset="0"/>
            </a:endParaRPr>
          </a:p>
          <a:p>
            <a:r>
              <a:rPr lang="en-US" sz="1800" dirty="0">
                <a:solidFill>
                  <a:srgbClr val="333333"/>
                </a:solidFill>
                <a:latin typeface="Times New Roman" panose="02020603050405020304" pitchFamily="18" charset="0"/>
                <a:cs typeface="Times New Roman" panose="02020603050405020304" pitchFamily="18" charset="0"/>
              </a:rPr>
              <a:t>Processing 33 Million rows (5GB CSV) crashed two distinct </a:t>
            </a:r>
            <a:r>
              <a:rPr lang="en-US" sz="1800" dirty="0" err="1">
                <a:solidFill>
                  <a:srgbClr val="333333"/>
                </a:solidFill>
                <a:latin typeface="Times New Roman" panose="02020603050405020304" pitchFamily="18" charset="0"/>
                <a:cs typeface="Times New Roman" panose="02020603050405020304" pitchFamily="18" charset="0"/>
              </a:rPr>
              <a:t>Colab</a:t>
            </a:r>
            <a:r>
              <a:rPr lang="en-US" sz="1800" dirty="0">
                <a:solidFill>
                  <a:srgbClr val="333333"/>
                </a:solidFill>
                <a:latin typeface="Times New Roman" panose="02020603050405020304" pitchFamily="18" charset="0"/>
                <a:cs typeface="Times New Roman" panose="02020603050405020304" pitchFamily="18" charset="0"/>
              </a:rPr>
              <a:t> sessions instantly.</a:t>
            </a:r>
            <a:br>
              <a:rPr lang="en-US" sz="1800" dirty="0">
                <a:solidFill>
                  <a:srgbClr val="333333"/>
                </a:solidFill>
                <a:latin typeface="Times New Roman" panose="02020603050405020304" pitchFamily="18" charset="0"/>
                <a:cs typeface="Times New Roman" panose="02020603050405020304" pitchFamily="18" charset="0"/>
              </a:rPr>
            </a:br>
            <a:r>
              <a:rPr lang="en-US" sz="1800" dirty="0">
                <a:solidFill>
                  <a:srgbClr val="333333"/>
                </a:solidFill>
                <a:latin typeface="Times New Roman" panose="02020603050405020304" pitchFamily="18" charset="0"/>
                <a:cs typeface="Times New Roman" panose="02020603050405020304" pitchFamily="18" charset="0"/>
              </a:rPr>
              <a:t>Solution: Implemented chunked processing, writing 200 files at once directly to CSV to bypass memory limits.</a:t>
            </a:r>
          </a:p>
          <a:p>
            <a:r>
              <a:rPr lang="en-US" sz="2000" b="1" dirty="0">
                <a:solidFill>
                  <a:srgbClr val="333333"/>
                </a:solidFill>
                <a:latin typeface="Times New Roman" panose="02020603050405020304" pitchFamily="18" charset="0"/>
                <a:cs typeface="Times New Roman" panose="02020603050405020304" pitchFamily="18" charset="0"/>
                <a:sym typeface="Poppins SemiBold"/>
              </a:rPr>
              <a:t>Extreme Imbalance</a:t>
            </a:r>
            <a:endParaRPr lang="en-US" sz="2000" b="1" dirty="0">
              <a:solidFill>
                <a:srgbClr val="333333"/>
              </a:solidFill>
              <a:latin typeface="Times New Roman" panose="02020603050405020304" pitchFamily="18" charset="0"/>
              <a:cs typeface="Times New Roman" panose="02020603050405020304" pitchFamily="18" charset="0"/>
            </a:endParaRPr>
          </a:p>
          <a:p>
            <a:r>
              <a:rPr lang="en-US" sz="1800" dirty="0">
                <a:solidFill>
                  <a:srgbClr val="333333"/>
                </a:solidFill>
                <a:latin typeface="Times New Roman" panose="02020603050405020304" pitchFamily="18" charset="0"/>
                <a:cs typeface="Times New Roman" panose="02020603050405020304" pitchFamily="18" charset="0"/>
                <a:sym typeface="Inter"/>
              </a:rPr>
              <a:t>The dataset contained only 0.14% anomalies. Models defaulted to predicting "Normal" for 99.86% accuracy without learning.</a:t>
            </a:r>
            <a:br>
              <a:rPr lang="en-US" sz="1800" dirty="0">
                <a:solidFill>
                  <a:srgbClr val="333333"/>
                </a:solidFill>
                <a:latin typeface="Times New Roman" panose="02020603050405020304" pitchFamily="18" charset="0"/>
                <a:cs typeface="Times New Roman" panose="02020603050405020304" pitchFamily="18" charset="0"/>
                <a:sym typeface="Calibri"/>
              </a:rPr>
            </a:br>
            <a:r>
              <a:rPr lang="en-US" sz="1800" dirty="0">
                <a:solidFill>
                  <a:srgbClr val="333333"/>
                </a:solidFill>
                <a:latin typeface="Times New Roman" panose="02020603050405020304" pitchFamily="18" charset="0"/>
                <a:cs typeface="Times New Roman" panose="02020603050405020304" pitchFamily="18" charset="0"/>
                <a:sym typeface="Inter"/>
              </a:rPr>
              <a:t>Solution: Applied SMOTE to increase anomalies from 1,820 to 1,327,644</a:t>
            </a:r>
          </a:p>
          <a:p>
            <a:r>
              <a:rPr lang="en-US" sz="2000" b="1" dirty="0">
                <a:solidFill>
                  <a:srgbClr val="333333"/>
                </a:solidFill>
                <a:latin typeface="Times New Roman" panose="02020603050405020304" pitchFamily="18" charset="0"/>
                <a:cs typeface="Times New Roman" panose="02020603050405020304" pitchFamily="18" charset="0"/>
                <a:sym typeface="Poppins SemiBold"/>
              </a:rPr>
              <a:t>Compute Limits</a:t>
            </a:r>
            <a:endParaRPr lang="en-US" sz="2000" b="1" dirty="0">
              <a:solidFill>
                <a:srgbClr val="333333"/>
              </a:solidFill>
              <a:latin typeface="Times New Roman" panose="02020603050405020304" pitchFamily="18" charset="0"/>
              <a:cs typeface="Times New Roman" panose="02020603050405020304" pitchFamily="18" charset="0"/>
            </a:endParaRPr>
          </a:p>
          <a:p>
            <a:r>
              <a:rPr lang="en-US" sz="1800" dirty="0">
                <a:solidFill>
                  <a:srgbClr val="333333"/>
                </a:solidFill>
                <a:latin typeface="Times New Roman" panose="02020603050405020304" pitchFamily="18" charset="0"/>
                <a:cs typeface="Times New Roman" panose="02020603050405020304" pitchFamily="18" charset="0"/>
                <a:sym typeface="Inter"/>
              </a:rPr>
              <a:t>Training generative models quickly exhausted Google </a:t>
            </a:r>
            <a:r>
              <a:rPr lang="en-US" sz="1800" dirty="0" err="1">
                <a:solidFill>
                  <a:srgbClr val="333333"/>
                </a:solidFill>
                <a:latin typeface="Times New Roman" panose="02020603050405020304" pitchFamily="18" charset="0"/>
                <a:cs typeface="Times New Roman" panose="02020603050405020304" pitchFamily="18" charset="0"/>
                <a:sym typeface="Inter"/>
              </a:rPr>
              <a:t>Colab</a:t>
            </a:r>
            <a:r>
              <a:rPr lang="en-US" sz="1800" dirty="0">
                <a:solidFill>
                  <a:srgbClr val="333333"/>
                </a:solidFill>
                <a:latin typeface="Times New Roman" panose="02020603050405020304" pitchFamily="18" charset="0"/>
                <a:cs typeface="Times New Roman" panose="02020603050405020304" pitchFamily="18" charset="0"/>
                <a:sym typeface="Inter"/>
              </a:rPr>
              <a:t> GPU limits.</a:t>
            </a:r>
            <a:br>
              <a:rPr lang="en-US" sz="1800" dirty="0">
                <a:solidFill>
                  <a:srgbClr val="333333"/>
                </a:solidFill>
                <a:latin typeface="Times New Roman" panose="02020603050405020304" pitchFamily="18" charset="0"/>
                <a:cs typeface="Times New Roman" panose="02020603050405020304" pitchFamily="18" charset="0"/>
                <a:sym typeface="Calibri"/>
              </a:rPr>
            </a:br>
            <a:r>
              <a:rPr lang="en-US" sz="1800" dirty="0">
                <a:solidFill>
                  <a:srgbClr val="333333"/>
                </a:solidFill>
                <a:latin typeface="Times New Roman" panose="02020603050405020304" pitchFamily="18" charset="0"/>
                <a:cs typeface="Times New Roman" panose="02020603050405020304" pitchFamily="18" charset="0"/>
                <a:sym typeface="Inter"/>
              </a:rPr>
              <a:t>Solution: Utilized multiple school accounts and meticulously organized pathways on Git for seamless environment swapping</a:t>
            </a:r>
            <a:r>
              <a:rPr lang="en-US" sz="1800" dirty="0">
                <a:solidFill>
                  <a:schemeClr val="tx1">
                    <a:lumMod val="90000"/>
                    <a:lumOff val="10000"/>
                  </a:schemeClr>
                </a:solidFill>
                <a:latin typeface="Times New Roman" panose="02020603050405020304" pitchFamily="18" charset="0"/>
                <a:ea typeface="Inter"/>
                <a:cs typeface="Times New Roman" panose="02020603050405020304" pitchFamily="18" charset="0"/>
                <a:sym typeface="Inter"/>
              </a:rPr>
              <a:t>.</a:t>
            </a:r>
            <a:endParaRPr lang="en-US" sz="1800" dirty="0">
              <a:solidFill>
                <a:schemeClr val="tx1">
                  <a:lumMod val="90000"/>
                  <a:lumOff val="10000"/>
                </a:schemeClr>
              </a:solidFill>
              <a:latin typeface="Times New Roman" panose="02020603050405020304" pitchFamily="18" charset="0"/>
              <a:cs typeface="Times New Roman" panose="02020603050405020304" pitchFamily="18" charset="0"/>
            </a:endParaRPr>
          </a:p>
          <a:p>
            <a:pPr marL="0" indent="0">
              <a:buNone/>
            </a:pPr>
            <a:endParaRPr lang="en-PK" sz="1800" dirty="0">
              <a:solidFill>
                <a:schemeClr val="tx1">
                  <a:lumMod val="90000"/>
                  <a:lumOff val="10000"/>
                </a:schemeClr>
              </a:solidFill>
              <a:latin typeface="Times New Roman" panose="02020603050405020304" pitchFamily="18" charset="0"/>
              <a:cs typeface="Times New Roman" panose="02020603050405020304" pitchFamily="18" charset="0"/>
            </a:endParaRPr>
          </a:p>
        </p:txBody>
      </p:sp>
      <p:sp>
        <p:nvSpPr>
          <p:cNvPr id="7" name="Google Shape;299;p22">
            <a:extLst>
              <a:ext uri="{FF2B5EF4-FFF2-40B4-BE49-F238E27FC236}">
                <a16:creationId xmlns:a16="http://schemas.microsoft.com/office/drawing/2014/main" id="{1EFD6051-2A25-F8AC-FA3B-A03F725B27AD}"/>
              </a:ext>
            </a:extLst>
          </p:cNvPr>
          <p:cNvSpPr/>
          <p:nvPr/>
        </p:nvSpPr>
        <p:spPr>
          <a:xfrm>
            <a:off x="602986" y="1620871"/>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extLst>
      <p:ext uri="{BB962C8B-B14F-4D97-AF65-F5344CB8AC3E}">
        <p14:creationId xmlns:p14="http://schemas.microsoft.com/office/powerpoint/2010/main" val="258052043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D6E93-8812-C41B-E4E4-C607BC5B1144}"/>
              </a:ext>
            </a:extLst>
          </p:cNvPr>
          <p:cNvSpPr>
            <a:spLocks noGrp="1"/>
          </p:cNvSpPr>
          <p:nvPr>
            <p:ph type="title"/>
          </p:nvPr>
        </p:nvSpPr>
        <p:spPr/>
        <p:txBody>
          <a:bodyPr/>
          <a:lstStyle/>
          <a:p>
            <a:r>
              <a:rPr lang="en-US" sz="3150" b="1" cap="none" dirty="0">
                <a:solidFill>
                  <a:srgbClr val="003366"/>
                </a:solidFill>
                <a:latin typeface="Times New Roman" panose="02020603050405020304" pitchFamily="18" charset="0"/>
                <a:ea typeface="+mn-ea"/>
                <a:cs typeface="Times New Roman" panose="02020603050405020304" pitchFamily="18" charset="0"/>
                <a:sym typeface="Poppins SemiBold"/>
              </a:rPr>
              <a:t>Hadoop Dataset: Challenges</a:t>
            </a:r>
            <a:endParaRPr lang="en-PK" sz="3150" b="1" cap="none" dirty="0">
              <a:solidFill>
                <a:srgbClr val="003366"/>
              </a:solidFill>
              <a:latin typeface="Times New Roman" panose="02020603050405020304" pitchFamily="18" charset="0"/>
              <a:ea typeface="+mn-ea"/>
              <a:cs typeface="Times New Roman" panose="02020603050405020304" pitchFamily="18" charset="0"/>
            </a:endParaRPr>
          </a:p>
        </p:txBody>
      </p:sp>
      <p:sp>
        <p:nvSpPr>
          <p:cNvPr id="3" name="Content Placeholder 2">
            <a:extLst>
              <a:ext uri="{FF2B5EF4-FFF2-40B4-BE49-F238E27FC236}">
                <a16:creationId xmlns:a16="http://schemas.microsoft.com/office/drawing/2014/main" id="{C9E234A0-A7C9-F0FB-C74E-8F3A5BEDE494}"/>
              </a:ext>
            </a:extLst>
          </p:cNvPr>
          <p:cNvSpPr>
            <a:spLocks noGrp="1"/>
          </p:cNvSpPr>
          <p:nvPr>
            <p:ph idx="1"/>
          </p:nvPr>
        </p:nvSpPr>
        <p:spPr/>
        <p:txBody>
          <a:bodyPr>
            <a:normAutofit/>
          </a:bodyPr>
          <a:lstStyle/>
          <a:p>
            <a:pPr>
              <a:lnSpc>
                <a:spcPct val="110000"/>
              </a:lnSpc>
            </a:pPr>
            <a:r>
              <a:rPr lang="en-US" sz="2000" b="1" dirty="0">
                <a:solidFill>
                  <a:srgbClr val="333333"/>
                </a:solidFill>
                <a:latin typeface="Times New Roman" panose="02020603050405020304" pitchFamily="18" charset="0"/>
                <a:cs typeface="Times New Roman" panose="02020603050405020304" pitchFamily="18" charset="0"/>
                <a:sym typeface="Poppins SemiBold"/>
              </a:rPr>
              <a:t>Ulta (Reverse) Class Imbalance</a:t>
            </a:r>
            <a:endParaRPr lang="en-US" sz="2000" b="1" dirty="0">
              <a:solidFill>
                <a:srgbClr val="333333"/>
              </a:solidFill>
              <a:latin typeface="Times New Roman" panose="02020603050405020304" pitchFamily="18" charset="0"/>
              <a:cs typeface="Times New Roman" panose="02020603050405020304" pitchFamily="18" charset="0"/>
            </a:endParaRPr>
          </a:p>
          <a:p>
            <a:pPr>
              <a:lnSpc>
                <a:spcPct val="110000"/>
              </a:lnSpc>
            </a:pPr>
            <a:r>
              <a:rPr lang="en-US" sz="1800" dirty="0">
                <a:solidFill>
                  <a:srgbClr val="333333"/>
                </a:solidFill>
                <a:latin typeface="Times New Roman" panose="02020603050405020304" pitchFamily="18" charset="0"/>
                <a:cs typeface="Times New Roman" panose="02020603050405020304" pitchFamily="18" charset="0"/>
                <a:sym typeface="Inter"/>
              </a:rPr>
              <a:t>Unlike Spark, 93.57% of the Hadoop dataset consisted of anomalies. If left untreated, the models would simply learn to output "anomaly" continuously to achieve high accuracy.</a:t>
            </a:r>
            <a:br>
              <a:rPr lang="en-US" sz="1800" dirty="0">
                <a:solidFill>
                  <a:srgbClr val="333333"/>
                </a:solidFill>
                <a:latin typeface="Times New Roman" panose="02020603050405020304" pitchFamily="18" charset="0"/>
                <a:cs typeface="Times New Roman" panose="02020603050405020304" pitchFamily="18" charset="0"/>
                <a:sym typeface="Calibri"/>
              </a:rPr>
            </a:br>
            <a:br>
              <a:rPr lang="en-US" sz="1800" dirty="0">
                <a:solidFill>
                  <a:srgbClr val="333333"/>
                </a:solidFill>
                <a:latin typeface="Times New Roman" panose="02020603050405020304" pitchFamily="18" charset="0"/>
                <a:cs typeface="Times New Roman" panose="02020603050405020304" pitchFamily="18" charset="0"/>
                <a:sym typeface="Calibri"/>
              </a:rPr>
            </a:br>
            <a:r>
              <a:rPr lang="en-US" sz="1800" dirty="0">
                <a:solidFill>
                  <a:srgbClr val="333333"/>
                </a:solidFill>
                <a:latin typeface="Times New Roman" panose="02020603050405020304" pitchFamily="18" charset="0"/>
                <a:cs typeface="Times New Roman" panose="02020603050405020304" pitchFamily="18" charset="0"/>
                <a:sym typeface="Inter"/>
              </a:rPr>
              <a:t>The Solution: We utilized SMOTE combined with targeted data pollution, fixing the ratio artificially at 0.5 to force the models to learn true distinguishing features.</a:t>
            </a:r>
            <a:endParaRPr lang="en-US" sz="1800" dirty="0">
              <a:solidFill>
                <a:srgbClr val="333333"/>
              </a:solidFill>
              <a:latin typeface="Times New Roman" panose="02020603050405020304" pitchFamily="18" charset="0"/>
              <a:cs typeface="Times New Roman" panose="02020603050405020304" pitchFamily="18" charset="0"/>
            </a:endParaRPr>
          </a:p>
          <a:p>
            <a:pPr>
              <a:lnSpc>
                <a:spcPct val="110000"/>
              </a:lnSpc>
            </a:pPr>
            <a:r>
              <a:rPr lang="en-US" sz="2000" b="1" dirty="0">
                <a:solidFill>
                  <a:srgbClr val="333333"/>
                </a:solidFill>
                <a:latin typeface="Times New Roman" panose="02020603050405020304" pitchFamily="18" charset="0"/>
                <a:cs typeface="Times New Roman" panose="02020603050405020304" pitchFamily="18" charset="0"/>
                <a:sym typeface="Poppins SemiBold"/>
              </a:rPr>
              <a:t>Model Timeout Issues</a:t>
            </a:r>
            <a:endParaRPr lang="en-US" sz="2000" b="1" dirty="0">
              <a:solidFill>
                <a:srgbClr val="333333"/>
              </a:solidFill>
              <a:latin typeface="Times New Roman" panose="02020603050405020304" pitchFamily="18" charset="0"/>
              <a:cs typeface="Times New Roman" panose="02020603050405020304" pitchFamily="18" charset="0"/>
            </a:endParaRPr>
          </a:p>
          <a:p>
            <a:pPr>
              <a:lnSpc>
                <a:spcPct val="110000"/>
              </a:lnSpc>
            </a:pPr>
            <a:r>
              <a:rPr lang="en-US" sz="1800" dirty="0">
                <a:solidFill>
                  <a:srgbClr val="333333"/>
                </a:solidFill>
                <a:latin typeface="Times New Roman" panose="02020603050405020304" pitchFamily="18" charset="0"/>
                <a:cs typeface="Times New Roman" panose="02020603050405020304" pitchFamily="18" charset="0"/>
                <a:sym typeface="Inter"/>
              </a:rPr>
              <a:t>Traditional algorithms struggled with the dimensionality and scale of the Hadoop logs. The standard One-Class SVM ran for over 29 minutes per iteration and would consistently fail to complete.</a:t>
            </a:r>
            <a:br>
              <a:rPr lang="en-US" sz="1800" dirty="0">
                <a:solidFill>
                  <a:srgbClr val="333333"/>
                </a:solidFill>
                <a:latin typeface="Times New Roman" panose="02020603050405020304" pitchFamily="18" charset="0"/>
                <a:cs typeface="Times New Roman" panose="02020603050405020304" pitchFamily="18" charset="0"/>
                <a:sym typeface="Calibri"/>
              </a:rPr>
            </a:br>
            <a:br>
              <a:rPr lang="en-US" sz="1800" dirty="0">
                <a:solidFill>
                  <a:srgbClr val="333333"/>
                </a:solidFill>
                <a:latin typeface="Times New Roman" panose="02020603050405020304" pitchFamily="18" charset="0"/>
                <a:cs typeface="Times New Roman" panose="02020603050405020304" pitchFamily="18" charset="0"/>
                <a:sym typeface="Calibri"/>
              </a:rPr>
            </a:br>
            <a:r>
              <a:rPr lang="en-US" sz="1800" dirty="0">
                <a:solidFill>
                  <a:srgbClr val="333333"/>
                </a:solidFill>
                <a:latin typeface="Times New Roman" panose="02020603050405020304" pitchFamily="18" charset="0"/>
                <a:cs typeface="Times New Roman" panose="02020603050405020304" pitchFamily="18" charset="0"/>
                <a:sym typeface="Inter"/>
              </a:rPr>
              <a:t>The Solution: We swapped the traditional implementation for SGDOneClassSVM. This Stochastic Gradient Descent variant completed the exact same task 100x faster.</a:t>
            </a:r>
            <a:endParaRPr lang="en-US" sz="1800" dirty="0">
              <a:solidFill>
                <a:srgbClr val="333333"/>
              </a:solidFill>
              <a:latin typeface="Times New Roman" panose="02020603050405020304" pitchFamily="18" charset="0"/>
              <a:cs typeface="Times New Roman" panose="02020603050405020304" pitchFamily="18" charset="0"/>
            </a:endParaRPr>
          </a:p>
        </p:txBody>
      </p:sp>
      <p:sp>
        <p:nvSpPr>
          <p:cNvPr id="5" name="Google Shape;299;p22">
            <a:extLst>
              <a:ext uri="{FF2B5EF4-FFF2-40B4-BE49-F238E27FC236}">
                <a16:creationId xmlns:a16="http://schemas.microsoft.com/office/drawing/2014/main" id="{C3E351DB-EA38-686A-66B2-F44AE7231A2E}"/>
              </a:ext>
            </a:extLst>
          </p:cNvPr>
          <p:cNvSpPr/>
          <p:nvPr/>
        </p:nvSpPr>
        <p:spPr>
          <a:xfrm>
            <a:off x="602986" y="1620871"/>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extLst>
      <p:ext uri="{BB962C8B-B14F-4D97-AF65-F5344CB8AC3E}">
        <p14:creationId xmlns:p14="http://schemas.microsoft.com/office/powerpoint/2010/main" val="244852607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6" name="Google Shape;316;p23"/>
          <p:cNvSpPr txBox="1"/>
          <p:nvPr/>
        </p:nvSpPr>
        <p:spPr>
          <a:xfrm>
            <a:off x="762000" y="571500"/>
            <a:ext cx="11201400" cy="485775"/>
          </a:xfrm>
          <a:prstGeom prst="rect">
            <a:avLst/>
          </a:prstGeom>
          <a:noFill/>
          <a:ln>
            <a:noFill/>
          </a:ln>
        </p:spPr>
        <p:txBody>
          <a:bodyPr spcFirstLastPara="1" wrap="square" lIns="0" tIns="0" rIns="0" bIns="0" anchor="t" anchorCtr="0">
            <a:spAutoFit/>
          </a:bodyPr>
          <a:lstStyle/>
          <a:p>
            <a:pPr marR="0" lvl="0" indent="0">
              <a:spcBef>
                <a:spcPts val="0"/>
              </a:spcBef>
              <a:spcAft>
                <a:spcPts val="0"/>
              </a:spcAft>
              <a:buNone/>
              <a:defRPr sz="3000" b="1"/>
            </a:pPr>
            <a:r>
              <a:rPr lang="en-US" sz="3150" b="1" dirty="0">
                <a:solidFill>
                  <a:srgbClr val="003366"/>
                </a:solidFill>
                <a:latin typeface="Times New Roman" panose="02020603050405020304" pitchFamily="18" charset="0"/>
                <a:cs typeface="Times New Roman" panose="02020603050405020304" pitchFamily="18" charset="0"/>
                <a:sym typeface="Helvetica Neue"/>
              </a:rPr>
              <a:t>Experimental Setting (Comparative Pipelines)</a:t>
            </a:r>
            <a:endParaRPr sz="3150" b="1" dirty="0">
              <a:solidFill>
                <a:srgbClr val="003366"/>
              </a:solidFill>
              <a:latin typeface="Times New Roman" panose="02020603050405020304" pitchFamily="18" charset="0"/>
              <a:cs typeface="Times New Roman" panose="02020603050405020304" pitchFamily="18" charset="0"/>
            </a:endParaRPr>
          </a:p>
        </p:txBody>
      </p:sp>
      <p:sp>
        <p:nvSpPr>
          <p:cNvPr id="317" name="Google Shape;317;p23"/>
          <p:cNvSpPr/>
          <p:nvPr/>
        </p:nvSpPr>
        <p:spPr>
          <a:xfrm>
            <a:off x="762000" y="1171575"/>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20" name="Google Shape;320;p23"/>
          <p:cNvSpPr txBox="1"/>
          <p:nvPr/>
        </p:nvSpPr>
        <p:spPr>
          <a:xfrm>
            <a:off x="762000" y="1485900"/>
            <a:ext cx="3467152" cy="30777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1" i="0" u="none" strike="noStrike" cap="none" dirty="0">
                <a:solidFill>
                  <a:srgbClr val="003366"/>
                </a:solidFill>
                <a:latin typeface="Times New Roman" panose="02020603050405020304" pitchFamily="18" charset="0"/>
                <a:ea typeface="Helvetica Neue"/>
                <a:cs typeface="Times New Roman" panose="02020603050405020304" pitchFamily="18" charset="0"/>
                <a:sym typeface="Helvetica Neue"/>
              </a:rPr>
              <a:t>Pipeline 1: Traditional ML</a:t>
            </a:r>
            <a:endParaRPr sz="2800" dirty="0">
              <a:latin typeface="Times New Roman" panose="02020603050405020304" pitchFamily="18" charset="0"/>
              <a:cs typeface="Times New Roman" panose="02020603050405020304" pitchFamily="18" charset="0"/>
            </a:endParaRPr>
          </a:p>
        </p:txBody>
      </p:sp>
      <p:sp>
        <p:nvSpPr>
          <p:cNvPr id="321" name="Google Shape;321;p23"/>
          <p:cNvSpPr txBox="1"/>
          <p:nvPr/>
        </p:nvSpPr>
        <p:spPr>
          <a:xfrm>
            <a:off x="4445049" y="1485900"/>
            <a:ext cx="3467152" cy="307777"/>
          </a:xfrm>
          <a:prstGeom prst="rect">
            <a:avLst/>
          </a:prstGeom>
          <a:noFill/>
          <a:ln>
            <a:noFill/>
          </a:ln>
        </p:spPr>
        <p:txBody>
          <a:bodyPr spcFirstLastPara="1" wrap="square" lIns="0" tIns="0" rIns="0" bIns="0" anchor="t" anchorCtr="0">
            <a:spAutoFit/>
          </a:bodyPr>
          <a:lstStyle/>
          <a:p>
            <a:r>
              <a:rPr lang="en-US" sz="2000" b="1" dirty="0">
                <a:solidFill>
                  <a:srgbClr val="003366"/>
                </a:solidFill>
                <a:latin typeface="Times New Roman" panose="02020603050405020304" pitchFamily="18" charset="0"/>
                <a:cs typeface="Times New Roman" panose="02020603050405020304" pitchFamily="18" charset="0"/>
                <a:sym typeface="Helvetica Neue"/>
              </a:rPr>
              <a:t>Pipeline 2: Deep Learning</a:t>
            </a:r>
            <a:endParaRPr sz="2000" b="1" dirty="0">
              <a:solidFill>
                <a:srgbClr val="003366"/>
              </a:solidFill>
              <a:latin typeface="Times New Roman" panose="02020603050405020304" pitchFamily="18" charset="0"/>
              <a:cs typeface="Times New Roman" panose="02020603050405020304" pitchFamily="18" charset="0"/>
            </a:endParaRPr>
          </a:p>
        </p:txBody>
      </p:sp>
      <p:sp>
        <p:nvSpPr>
          <p:cNvPr id="322" name="Google Shape;322;p23"/>
          <p:cNvSpPr txBox="1"/>
          <p:nvPr/>
        </p:nvSpPr>
        <p:spPr>
          <a:xfrm>
            <a:off x="8128098" y="1411015"/>
            <a:ext cx="3467152" cy="30777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1" dirty="0">
                <a:solidFill>
                  <a:srgbClr val="003366"/>
                </a:solidFill>
                <a:latin typeface="Times New Roman" panose="02020603050405020304" pitchFamily="18" charset="0"/>
                <a:cs typeface="Times New Roman" panose="02020603050405020304" pitchFamily="18" charset="0"/>
                <a:sym typeface="Helvetica Neue"/>
              </a:rPr>
              <a:t>Pipeline</a:t>
            </a:r>
            <a:r>
              <a:rPr lang="en-US" sz="2000" b="1" i="0" u="none" strike="noStrike" cap="none" dirty="0">
                <a:solidFill>
                  <a:srgbClr val="003366"/>
                </a:solidFill>
                <a:latin typeface="Times New Roman" panose="02020603050405020304" pitchFamily="18" charset="0"/>
                <a:ea typeface="Helvetica Neue"/>
                <a:cs typeface="Times New Roman" panose="02020603050405020304" pitchFamily="18" charset="0"/>
                <a:sym typeface="Helvetica Neue"/>
              </a:rPr>
              <a:t> 3: Generative AI</a:t>
            </a:r>
            <a:endParaRPr sz="2000" dirty="0">
              <a:latin typeface="Times New Roman" panose="02020603050405020304" pitchFamily="18" charset="0"/>
              <a:cs typeface="Times New Roman" panose="02020603050405020304" pitchFamily="18" charset="0"/>
            </a:endParaRPr>
          </a:p>
        </p:txBody>
      </p:sp>
      <p:sp>
        <p:nvSpPr>
          <p:cNvPr id="324" name="Google Shape;324;p23"/>
          <p:cNvSpPr txBox="1"/>
          <p:nvPr/>
        </p:nvSpPr>
        <p:spPr>
          <a:xfrm>
            <a:off x="682601" y="1863937"/>
            <a:ext cx="2968674" cy="4321183"/>
          </a:xfrm>
          <a:prstGeom prst="rect">
            <a:avLst/>
          </a:prstGeom>
          <a:noFill/>
          <a:ln>
            <a:noFill/>
          </a:ln>
        </p:spPr>
        <p:txBody>
          <a:bodyPr spcFirstLastPara="1" wrap="square" lIns="7620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Input:</a:t>
            </a: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 Parsed Log Templates.</a:t>
            </a:r>
          </a:p>
          <a:p>
            <a:pPr>
              <a:lnSpc>
                <a:spcPct val="159944"/>
              </a:lnSpc>
            </a:pPr>
            <a:r>
              <a:rPr lang="en-US" b="1" dirty="0">
                <a:solidFill>
                  <a:srgbClr val="333333"/>
                </a:solidFill>
                <a:latin typeface="Times New Roman" panose="02020603050405020304" pitchFamily="18" charset="0"/>
                <a:ea typeface="Helvetica Neue"/>
                <a:cs typeface="Times New Roman" panose="02020603050405020304" pitchFamily="18" charset="0"/>
                <a:sym typeface="Helvetica Neue"/>
              </a:rPr>
              <a:t>Feature Eng:</a:t>
            </a:r>
            <a:r>
              <a:rPr lang="en-US" dirty="0">
                <a:solidFill>
                  <a:srgbClr val="333333"/>
                </a:solidFill>
                <a:latin typeface="Times New Roman" panose="02020603050405020304" pitchFamily="18" charset="0"/>
                <a:ea typeface="Helvetica Neue"/>
                <a:cs typeface="Times New Roman" panose="02020603050405020304" pitchFamily="18" charset="0"/>
                <a:sym typeface="Helvetica Neue"/>
              </a:rPr>
              <a:t> Manual TF-IDF &amp; Event Count Matrices.</a:t>
            </a:r>
          </a:p>
          <a:p>
            <a:pPr>
              <a:lnSpc>
                <a:spcPct val="159944"/>
              </a:lnSpc>
            </a:pPr>
            <a:r>
              <a:rPr lang="en-US" b="1" dirty="0">
                <a:solidFill>
                  <a:srgbClr val="333333"/>
                </a:solidFill>
                <a:latin typeface="Times New Roman" panose="02020603050405020304" pitchFamily="18" charset="0"/>
                <a:ea typeface="Helvetica Neue"/>
                <a:cs typeface="Times New Roman" panose="02020603050405020304" pitchFamily="18" charset="0"/>
                <a:sym typeface="Helvetica Neue"/>
              </a:rPr>
              <a:t>Models:</a:t>
            </a:r>
            <a:r>
              <a:rPr lang="en-US" dirty="0">
                <a:solidFill>
                  <a:srgbClr val="333333"/>
                </a:solidFill>
                <a:latin typeface="Times New Roman" panose="02020603050405020304" pitchFamily="18" charset="0"/>
                <a:ea typeface="Helvetica Neue"/>
                <a:cs typeface="Times New Roman" panose="02020603050405020304" pitchFamily="18" charset="0"/>
                <a:sym typeface="Helvetica Neue"/>
              </a:rPr>
              <a:t> </a:t>
            </a:r>
            <a:r>
              <a:rPr lang="en-US" dirty="0" err="1">
                <a:solidFill>
                  <a:srgbClr val="333333"/>
                </a:solidFill>
                <a:latin typeface="Times New Roman" panose="02020603050405020304" pitchFamily="18" charset="0"/>
                <a:ea typeface="Helvetica Neue"/>
                <a:cs typeface="Times New Roman" panose="02020603050405020304" pitchFamily="18" charset="0"/>
                <a:sym typeface="Helvetica Neue"/>
              </a:rPr>
              <a:t>XGBoost</a:t>
            </a:r>
            <a:r>
              <a:rPr lang="en-US" dirty="0">
                <a:solidFill>
                  <a:srgbClr val="333333"/>
                </a:solidFill>
                <a:latin typeface="Times New Roman" panose="02020603050405020304" pitchFamily="18" charset="0"/>
                <a:ea typeface="Helvetica Neue"/>
                <a:cs typeface="Times New Roman" panose="02020603050405020304" pitchFamily="18" charset="0"/>
                <a:sym typeface="Helvetica Neue"/>
              </a:rPr>
              <a:t>, SVM, Random Forest, Isolation Forest.</a:t>
            </a:r>
            <a:endParaRPr lang="en-US" dirty="0">
              <a:latin typeface="Times New Roman" panose="02020603050405020304" pitchFamily="18" charset="0"/>
              <a:cs typeface="Times New Roman" panose="02020603050405020304" pitchFamily="18" charset="0"/>
            </a:endParaRPr>
          </a:p>
          <a:p>
            <a:pPr>
              <a:lnSpc>
                <a:spcPct val="100000"/>
              </a:lnSpc>
            </a:pPr>
            <a:r>
              <a:rPr lang="en-PK" b="1" dirty="0">
                <a:latin typeface="Times New Roman" panose="02020603050405020304" pitchFamily="18" charset="0"/>
                <a:cs typeface="Times New Roman" panose="02020603050405020304" pitchFamily="18" charset="0"/>
              </a:rPr>
              <a:t>Hyperparameters:</a:t>
            </a:r>
            <a:r>
              <a:rPr lang="en-PK" dirty="0">
                <a:latin typeface="Times New Roman" panose="02020603050405020304" pitchFamily="18" charset="0"/>
                <a:cs typeface="Times New Roman" panose="02020603050405020304" pitchFamily="18" charset="0"/>
              </a:rPr>
              <a:t> Base Estimators (Trees): 100, Max Depth: 6 </a:t>
            </a:r>
            <a:r>
              <a:rPr lang="en-PK" b="1" dirty="0">
                <a:latin typeface="Times New Roman" panose="02020603050405020304" pitchFamily="18" charset="0"/>
                <a:cs typeface="Times New Roman" panose="02020603050405020304" pitchFamily="18" charset="0"/>
              </a:rPr>
              <a:t>Training Parameters:</a:t>
            </a:r>
            <a:r>
              <a:rPr lang="en-PK" dirty="0">
                <a:latin typeface="Times New Roman" panose="02020603050405020304" pitchFamily="18" charset="0"/>
                <a:cs typeface="Times New Roman" panose="02020603050405020304" pitchFamily="18" charset="0"/>
              </a:rPr>
              <a:t> Learning Rate: 0.1, Subsample: 0.8 Iterations (Boosting Rounds): 100</a:t>
            </a:r>
            <a:endParaRPr dirty="0">
              <a:latin typeface="Times New Roman" panose="02020603050405020304" pitchFamily="18" charset="0"/>
              <a:cs typeface="Times New Roman" panose="02020603050405020304" pitchFamily="18" charset="0"/>
            </a:endParaRPr>
          </a:p>
        </p:txBody>
      </p:sp>
      <p:sp>
        <p:nvSpPr>
          <p:cNvPr id="330" name="Google Shape;330;p23"/>
          <p:cNvSpPr txBox="1"/>
          <p:nvPr/>
        </p:nvSpPr>
        <p:spPr>
          <a:xfrm>
            <a:off x="4445048" y="1955588"/>
            <a:ext cx="3683049" cy="5761577"/>
          </a:xfrm>
          <a:prstGeom prst="rect">
            <a:avLst/>
          </a:prstGeom>
          <a:noFill/>
          <a:ln>
            <a:noFill/>
          </a:ln>
        </p:spPr>
        <p:txBody>
          <a:bodyPr spcFirstLastPara="1" wrap="square" lIns="7620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Input:</a:t>
            </a: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 Tokenized Log Sequences.</a:t>
            </a:r>
          </a:p>
          <a:p>
            <a:pPr>
              <a:lnSpc>
                <a:spcPct val="159944"/>
              </a:lnSpc>
            </a:pPr>
            <a:r>
              <a:rPr lang="en-US" b="1" dirty="0">
                <a:solidFill>
                  <a:srgbClr val="333333"/>
                </a:solidFill>
                <a:latin typeface="Times New Roman" panose="02020603050405020304" pitchFamily="18" charset="0"/>
                <a:ea typeface="Helvetica Neue"/>
                <a:cs typeface="Times New Roman" panose="02020603050405020304" pitchFamily="18" charset="0"/>
                <a:sym typeface="Helvetica Neue"/>
              </a:rPr>
              <a:t>Method:</a:t>
            </a:r>
            <a:r>
              <a:rPr lang="en-US" dirty="0">
                <a:solidFill>
                  <a:srgbClr val="333333"/>
                </a:solidFill>
                <a:latin typeface="Times New Roman" panose="02020603050405020304" pitchFamily="18" charset="0"/>
                <a:ea typeface="Helvetica Neue"/>
                <a:cs typeface="Times New Roman" panose="02020603050405020304" pitchFamily="18" charset="0"/>
                <a:sym typeface="Helvetica Neue"/>
              </a:rPr>
              <a:t> Supervised learning on temporal execution paths.</a:t>
            </a:r>
          </a:p>
          <a:p>
            <a:pPr>
              <a:lnSpc>
                <a:spcPct val="159944"/>
              </a:lnSpc>
            </a:pPr>
            <a:r>
              <a:rPr lang="en-US" b="1" dirty="0">
                <a:solidFill>
                  <a:srgbClr val="333333"/>
                </a:solidFill>
                <a:latin typeface="Times New Roman" panose="02020603050405020304" pitchFamily="18" charset="0"/>
                <a:ea typeface="Helvetica Neue"/>
                <a:cs typeface="Times New Roman" panose="02020603050405020304" pitchFamily="18" charset="0"/>
                <a:sym typeface="Helvetica Neue"/>
              </a:rPr>
              <a:t>Models:</a:t>
            </a:r>
            <a:r>
              <a:rPr lang="en-US" dirty="0">
                <a:solidFill>
                  <a:srgbClr val="333333"/>
                </a:solidFill>
                <a:latin typeface="Times New Roman" panose="02020603050405020304" pitchFamily="18" charset="0"/>
                <a:ea typeface="Helvetica Neue"/>
                <a:cs typeface="Times New Roman" panose="02020603050405020304" pitchFamily="18" charset="0"/>
                <a:sym typeface="Helvetica Neue"/>
              </a:rPr>
              <a:t> LSTM, GRU, CNN, Bi-LSTM.</a:t>
            </a:r>
            <a:endParaRPr lang="en-US" dirty="0">
              <a:latin typeface="Times New Roman" panose="02020603050405020304" pitchFamily="18" charset="0"/>
              <a:cs typeface="Times New Roman" panose="02020603050405020304" pitchFamily="18" charset="0"/>
            </a:endParaRPr>
          </a:p>
          <a:p>
            <a:pPr>
              <a:lnSpc>
                <a:spcPct val="159944"/>
              </a:lnSpc>
            </a:pPr>
            <a:r>
              <a:rPr lang="en-US" b="1" dirty="0">
                <a:latin typeface="Times New Roman" panose="02020603050405020304" pitchFamily="18" charset="0"/>
                <a:cs typeface="Times New Roman" panose="02020603050405020304" pitchFamily="18" charset="0"/>
              </a:rPr>
              <a:t>Network Architecture:</a:t>
            </a:r>
          </a:p>
          <a:p>
            <a:pPr>
              <a:lnSpc>
                <a:spcPct val="159944"/>
              </a:lnSpc>
            </a:pPr>
            <a:r>
              <a:rPr lang="en-US" dirty="0">
                <a:latin typeface="Times New Roman" panose="02020603050405020304" pitchFamily="18" charset="0"/>
                <a:cs typeface="Times New Roman" panose="02020603050405020304" pitchFamily="18" charset="0"/>
              </a:rPr>
              <a:t>Input Layers: 1, Hidden Layers: 3, Output Layers: 1</a:t>
            </a:r>
          </a:p>
          <a:p>
            <a:pPr>
              <a:lnSpc>
                <a:spcPct val="159944"/>
              </a:lnSpc>
            </a:pPr>
            <a:r>
              <a:rPr lang="en-US" b="1" dirty="0">
                <a:latin typeface="Times New Roman" panose="02020603050405020304" pitchFamily="18" charset="0"/>
                <a:cs typeface="Times New Roman" panose="02020603050405020304" pitchFamily="18" charset="0"/>
              </a:rPr>
              <a:t>Training Parameters:</a:t>
            </a:r>
          </a:p>
          <a:p>
            <a:pPr>
              <a:lnSpc>
                <a:spcPct val="159944"/>
              </a:lnSpc>
            </a:pPr>
            <a:r>
              <a:rPr lang="en-US" dirty="0">
                <a:latin typeface="Times New Roman" panose="02020603050405020304" pitchFamily="18" charset="0"/>
                <a:cs typeface="Times New Roman" panose="02020603050405020304" pitchFamily="18" charset="0"/>
              </a:rPr>
              <a:t>Epochs: 100, Batch Size: 128</a:t>
            </a:r>
          </a:p>
          <a:p>
            <a:pPr>
              <a:lnSpc>
                <a:spcPct val="159944"/>
              </a:lnSpc>
            </a:pPr>
            <a:r>
              <a:rPr lang="en-US" dirty="0">
                <a:latin typeface="Times New Roman" panose="02020603050405020304" pitchFamily="18" charset="0"/>
                <a:cs typeface="Times New Roman" panose="02020603050405020304" pitchFamily="18" charset="0"/>
              </a:rPr>
              <a:t>Iterations: 10,372</a:t>
            </a:r>
          </a:p>
          <a:p>
            <a:pPr>
              <a:lnSpc>
                <a:spcPct val="159944"/>
              </a:lnSpc>
            </a:pPr>
            <a:endParaRPr lang="en-US" dirty="0">
              <a:latin typeface="Times New Roman" panose="02020603050405020304" pitchFamily="18" charset="0"/>
              <a:cs typeface="Times New Roman" panose="02020603050405020304" pitchFamily="18" charset="0"/>
            </a:endParaRPr>
          </a:p>
          <a:p>
            <a:pPr marL="0" marR="0" lvl="0" indent="0" algn="l" rtl="0">
              <a:lnSpc>
                <a:spcPct val="159944"/>
              </a:lnSpc>
              <a:spcBef>
                <a:spcPts val="0"/>
              </a:spcBef>
              <a:spcAft>
                <a:spcPts val="0"/>
              </a:spcAft>
              <a:buNone/>
            </a:pPr>
            <a:endParaRPr dirty="0">
              <a:latin typeface="Times New Roman" panose="02020603050405020304" pitchFamily="18" charset="0"/>
              <a:cs typeface="Times New Roman" panose="02020603050405020304" pitchFamily="18" charset="0"/>
            </a:endParaRPr>
          </a:p>
        </p:txBody>
      </p:sp>
      <p:sp>
        <p:nvSpPr>
          <p:cNvPr id="336" name="Google Shape;336;p23"/>
          <p:cNvSpPr txBox="1"/>
          <p:nvPr/>
        </p:nvSpPr>
        <p:spPr>
          <a:xfrm>
            <a:off x="8128099" y="1762899"/>
            <a:ext cx="2968674" cy="4764381"/>
          </a:xfrm>
          <a:prstGeom prst="rect">
            <a:avLst/>
          </a:prstGeom>
          <a:noFill/>
          <a:ln>
            <a:noFill/>
          </a:ln>
        </p:spPr>
        <p:txBody>
          <a:bodyPr spcFirstLastPara="1" wrap="square" lIns="7620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Input:</a:t>
            </a: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 Raw Log Embeddings.</a:t>
            </a:r>
          </a:p>
          <a:p>
            <a:pPr>
              <a:lnSpc>
                <a:spcPct val="159944"/>
              </a:lnSpc>
            </a:pPr>
            <a:r>
              <a:rPr lang="en-US" b="1" dirty="0">
                <a:solidFill>
                  <a:srgbClr val="333333"/>
                </a:solidFill>
                <a:latin typeface="Times New Roman" panose="02020603050405020304" pitchFamily="18" charset="0"/>
                <a:ea typeface="Helvetica Neue"/>
                <a:cs typeface="Times New Roman" panose="02020603050405020304" pitchFamily="18" charset="0"/>
                <a:sym typeface="Helvetica Neue"/>
              </a:rPr>
              <a:t>Method:</a:t>
            </a:r>
            <a:r>
              <a:rPr lang="en-US" dirty="0">
                <a:solidFill>
                  <a:srgbClr val="333333"/>
                </a:solidFill>
                <a:latin typeface="Times New Roman" panose="02020603050405020304" pitchFamily="18" charset="0"/>
                <a:ea typeface="Helvetica Neue"/>
                <a:cs typeface="Times New Roman" panose="02020603050405020304" pitchFamily="18" charset="0"/>
                <a:sym typeface="Helvetica Neue"/>
              </a:rPr>
              <a:t> Unsupervised. Learns "normal" distribution only; flags deviations.</a:t>
            </a:r>
          </a:p>
          <a:p>
            <a:pPr>
              <a:lnSpc>
                <a:spcPct val="159944"/>
              </a:lnSpc>
            </a:pPr>
            <a:r>
              <a:rPr lang="en-US" b="1" dirty="0">
                <a:solidFill>
                  <a:srgbClr val="333333"/>
                </a:solidFill>
                <a:latin typeface="Times New Roman" panose="02020603050405020304" pitchFamily="18" charset="0"/>
                <a:ea typeface="Helvetica Neue"/>
                <a:cs typeface="Times New Roman" panose="02020603050405020304" pitchFamily="18" charset="0"/>
                <a:sym typeface="Helvetica Neue"/>
              </a:rPr>
              <a:t>Models:</a:t>
            </a:r>
            <a:r>
              <a:rPr lang="en-US" dirty="0">
                <a:solidFill>
                  <a:srgbClr val="333333"/>
                </a:solidFill>
                <a:latin typeface="Times New Roman" panose="02020603050405020304" pitchFamily="18" charset="0"/>
                <a:ea typeface="Helvetica Neue"/>
                <a:cs typeface="Times New Roman" panose="02020603050405020304" pitchFamily="18" charset="0"/>
                <a:sym typeface="Helvetica Neue"/>
              </a:rPr>
              <a:t> LSTM-Autoencoder, VAE, GAN.</a:t>
            </a:r>
            <a:endParaRPr lang="en-US" dirty="0">
              <a:latin typeface="Times New Roman" panose="02020603050405020304" pitchFamily="18" charset="0"/>
              <a:cs typeface="Times New Roman" panose="02020603050405020304" pitchFamily="18" charset="0"/>
            </a:endParaRPr>
          </a:p>
          <a:p>
            <a:pPr>
              <a:lnSpc>
                <a:spcPct val="100000"/>
              </a:lnSpc>
            </a:pPr>
            <a:r>
              <a:rPr lang="en-PK" b="1" dirty="0">
                <a:latin typeface="Times New Roman" panose="02020603050405020304" pitchFamily="18" charset="0"/>
                <a:cs typeface="Times New Roman" panose="02020603050405020304" pitchFamily="18" charset="0"/>
              </a:rPr>
              <a:t>Network Architecture:</a:t>
            </a:r>
            <a:r>
              <a:rPr lang="en-PK" dirty="0">
                <a:latin typeface="Times New Roman" panose="02020603050405020304" pitchFamily="18" charset="0"/>
                <a:cs typeface="Times New Roman" panose="02020603050405020304" pitchFamily="18" charset="0"/>
              </a:rPr>
              <a:t> Encoder Layers: 3, Latent Space: 1, Decoder Layers: 3 </a:t>
            </a:r>
            <a:r>
              <a:rPr lang="en-PK" b="1" dirty="0">
                <a:latin typeface="Times New Roman" panose="02020603050405020304" pitchFamily="18" charset="0"/>
                <a:cs typeface="Times New Roman" panose="02020603050405020304" pitchFamily="18" charset="0"/>
              </a:rPr>
              <a:t>Training Parameters:</a:t>
            </a:r>
            <a:r>
              <a:rPr lang="en-PK" dirty="0">
                <a:latin typeface="Times New Roman" panose="02020603050405020304" pitchFamily="18" charset="0"/>
                <a:cs typeface="Times New Roman" panose="02020603050405020304" pitchFamily="18" charset="0"/>
              </a:rPr>
              <a:t> Epochs: 100, Batch Size: 128 Iterations: 10,372</a:t>
            </a:r>
            <a:endParaRPr lang="en-US" dirty="0">
              <a:latin typeface="Times New Roman" panose="02020603050405020304" pitchFamily="18" charset="0"/>
              <a:cs typeface="Times New Roman" panose="02020603050405020304" pitchFamily="18" charset="0"/>
            </a:endParaRPr>
          </a:p>
          <a:p>
            <a:pPr marL="0" marR="0" lvl="0" indent="0" algn="l" rtl="0">
              <a:lnSpc>
                <a:spcPct val="159944"/>
              </a:lnSpc>
              <a:spcBef>
                <a:spcPts val="0"/>
              </a:spcBef>
              <a:spcAft>
                <a:spcPts val="0"/>
              </a:spcAft>
              <a:buNone/>
            </a:pP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A9ECC-E1A7-9671-5C59-F6A5AAE86BCC}"/>
              </a:ext>
            </a:extLst>
          </p:cNvPr>
          <p:cNvSpPr>
            <a:spLocks noGrp="1"/>
          </p:cNvSpPr>
          <p:nvPr>
            <p:ph type="title"/>
          </p:nvPr>
        </p:nvSpPr>
        <p:spPr>
          <a:xfrm>
            <a:off x="602986" y="265728"/>
            <a:ext cx="10981137" cy="746995"/>
          </a:xfrm>
        </p:spPr>
        <p:txBody>
          <a:bodyPr/>
          <a:lstStyle/>
          <a:p>
            <a:r>
              <a:rPr lang="en-US" sz="3150" b="1" cap="none" dirty="0">
                <a:solidFill>
                  <a:srgbClr val="003366"/>
                </a:solidFill>
                <a:latin typeface="Times New Roman" panose="02020603050405020304" pitchFamily="18" charset="0"/>
                <a:ea typeface="+mn-ea"/>
                <a:cs typeface="Times New Roman" panose="02020603050405020304" pitchFamily="18" charset="0"/>
                <a:sym typeface="Poppins SemiBold"/>
              </a:rPr>
              <a:t>Deconstructing Metrics</a:t>
            </a:r>
            <a:endParaRPr lang="en-PK" sz="3150" b="1" cap="none" dirty="0">
              <a:solidFill>
                <a:srgbClr val="003366"/>
              </a:solidFill>
              <a:latin typeface="Times New Roman" panose="02020603050405020304" pitchFamily="18" charset="0"/>
              <a:ea typeface="+mn-ea"/>
              <a:cs typeface="Times New Roman" panose="02020603050405020304" pitchFamily="18" charset="0"/>
            </a:endParaRPr>
          </a:p>
        </p:txBody>
      </p:sp>
      <p:sp>
        <p:nvSpPr>
          <p:cNvPr id="3" name="Content Placeholder 2">
            <a:extLst>
              <a:ext uri="{FF2B5EF4-FFF2-40B4-BE49-F238E27FC236}">
                <a16:creationId xmlns:a16="http://schemas.microsoft.com/office/drawing/2014/main" id="{76281680-3BE3-537B-E44C-98B1D00B3AC7}"/>
              </a:ext>
            </a:extLst>
          </p:cNvPr>
          <p:cNvSpPr>
            <a:spLocks noGrp="1"/>
          </p:cNvSpPr>
          <p:nvPr>
            <p:ph idx="1"/>
          </p:nvPr>
        </p:nvSpPr>
        <p:spPr>
          <a:xfrm>
            <a:off x="176981" y="1069873"/>
            <a:ext cx="11484077" cy="6075205"/>
          </a:xfrm>
        </p:spPr>
        <p:txBody>
          <a:bodyPr>
            <a:noAutofit/>
          </a:bodyPr>
          <a:lstStyle/>
          <a:p>
            <a:pPr marL="0" indent="0">
              <a:lnSpc>
                <a:spcPct val="130000"/>
              </a:lnSpc>
              <a:buNone/>
            </a:pPr>
            <a:r>
              <a:rPr lang="en-PK" sz="2000" b="1" dirty="0">
                <a:solidFill>
                  <a:srgbClr val="003366"/>
                </a:solidFill>
                <a:latin typeface="Times New Roman" panose="02020603050405020304" pitchFamily="18" charset="0"/>
                <a:cs typeface="Times New Roman" panose="02020603050405020304" pitchFamily="18" charset="0"/>
              </a:rPr>
              <a:t>Precision</a:t>
            </a:r>
            <a:endParaRPr lang="en-US" sz="2000" b="1" dirty="0">
              <a:solidFill>
                <a:srgbClr val="003366"/>
              </a:solidFill>
              <a:latin typeface="Times New Roman" panose="02020603050405020304" pitchFamily="18" charset="0"/>
              <a:cs typeface="Times New Roman" panose="02020603050405020304" pitchFamily="18" charset="0"/>
            </a:endParaRPr>
          </a:p>
          <a:p>
            <a:pPr marL="0" indent="0">
              <a:lnSpc>
                <a:spcPct val="130000"/>
              </a:lnSpc>
              <a:buNone/>
            </a:pPr>
            <a:r>
              <a:rPr lang="en-PK" sz="1800" dirty="0">
                <a:solidFill>
                  <a:srgbClr val="333333"/>
                </a:solidFill>
                <a:latin typeface="Times New Roman" panose="02020603050405020304" pitchFamily="18" charset="0"/>
                <a:cs typeface="Times New Roman" panose="02020603050405020304" pitchFamily="18" charset="0"/>
              </a:rPr>
              <a:t>Precision measures how many of the model's positive predictions were actually correct.</a:t>
            </a:r>
          </a:p>
          <a:p>
            <a:pPr marL="0" lvl="0" indent="0">
              <a:buNone/>
            </a:pPr>
            <a:r>
              <a:rPr lang="en-PK" sz="2000" dirty="0">
                <a:solidFill>
                  <a:srgbClr val="333333"/>
                </a:solidFill>
                <a:latin typeface="Times New Roman" panose="02020603050405020304" pitchFamily="18" charset="0"/>
                <a:cs typeface="Times New Roman" panose="02020603050405020304" pitchFamily="18" charset="0"/>
              </a:rPr>
              <a:t>Formula</a:t>
            </a:r>
            <a:r>
              <a:rPr lang="en-US" sz="2000" dirty="0">
                <a:solidFill>
                  <a:srgbClr val="333333"/>
                </a:solidFill>
                <a:latin typeface="Times New Roman" panose="02020603050405020304" pitchFamily="18" charset="0"/>
                <a:cs typeface="Times New Roman" panose="02020603050405020304" pitchFamily="18" charset="0"/>
              </a:rPr>
              <a:t> </a:t>
            </a:r>
            <a:endParaRPr lang="en-PK" sz="2000" dirty="0">
              <a:solidFill>
                <a:srgbClr val="333333"/>
              </a:solidFill>
              <a:latin typeface="Times New Roman" panose="02020603050405020304" pitchFamily="18" charset="0"/>
              <a:cs typeface="Times New Roman" panose="02020603050405020304" pitchFamily="18" charset="0"/>
            </a:endParaRPr>
          </a:p>
          <a:p>
            <a:pPr marL="0" lvl="0" indent="0">
              <a:lnSpc>
                <a:spcPct val="130000"/>
              </a:lnSpc>
              <a:buNone/>
            </a:pPr>
            <a:r>
              <a:rPr lang="en-PK" sz="1800" dirty="0">
                <a:solidFill>
                  <a:srgbClr val="333333"/>
                </a:solidFill>
                <a:latin typeface="Times New Roman" panose="02020603050405020304" pitchFamily="18" charset="0"/>
                <a:cs typeface="Times New Roman" panose="02020603050405020304" pitchFamily="18" charset="0"/>
              </a:rPr>
              <a:t>Use case: Important when false positives are costly, such as in </a:t>
            </a:r>
            <a:r>
              <a:rPr lang="en-PK" sz="1800" dirty="0">
                <a:solidFill>
                  <a:srgbClr val="333333"/>
                </a:solidFill>
                <a:latin typeface="Times New Roman" panose="02020603050405020304" pitchFamily="18" charset="0"/>
                <a:cs typeface="Times New Roman" panose="02020603050405020304" pitchFamily="18" charset="0"/>
                <a:hlinkClick r:id="rId2">
                  <a:extLst>
                    <a:ext uri="{A12FA001-AC4F-418D-AE19-62706E023703}">
                      <ahyp:hlinkClr xmlns:ahyp="http://schemas.microsoft.com/office/drawing/2018/hyperlinkcolor" val="tx"/>
                    </a:ext>
                  </a:extLst>
                </a:hlinkClick>
              </a:rPr>
              <a:t>email spam detection</a:t>
            </a:r>
            <a:r>
              <a:rPr lang="en-PK" sz="1800" dirty="0">
                <a:solidFill>
                  <a:srgbClr val="333333"/>
                </a:solidFill>
                <a:latin typeface="Times New Roman" panose="02020603050405020304" pitchFamily="18" charset="0"/>
                <a:cs typeface="Times New Roman" panose="02020603050405020304" pitchFamily="18" charset="0"/>
              </a:rPr>
              <a:t>. </a:t>
            </a:r>
            <a:endParaRPr lang="en-US" sz="1800" dirty="0">
              <a:solidFill>
                <a:srgbClr val="333333"/>
              </a:solidFill>
              <a:latin typeface="Times New Roman" panose="02020603050405020304" pitchFamily="18" charset="0"/>
              <a:cs typeface="Times New Roman" panose="02020603050405020304" pitchFamily="18" charset="0"/>
            </a:endParaRPr>
          </a:p>
          <a:p>
            <a:pPr marL="0" indent="0">
              <a:lnSpc>
                <a:spcPct val="130000"/>
              </a:lnSpc>
              <a:buNone/>
            </a:pPr>
            <a:r>
              <a:rPr lang="en-PK" sz="2000" b="1" dirty="0">
                <a:solidFill>
                  <a:srgbClr val="003366"/>
                </a:solidFill>
                <a:latin typeface="Times New Roman" panose="02020603050405020304" pitchFamily="18" charset="0"/>
                <a:cs typeface="Times New Roman" panose="02020603050405020304" pitchFamily="18" charset="0"/>
              </a:rPr>
              <a:t>Recall</a:t>
            </a:r>
          </a:p>
          <a:p>
            <a:pPr marL="0" indent="0">
              <a:lnSpc>
                <a:spcPct val="130000"/>
              </a:lnSpc>
              <a:buNone/>
            </a:pPr>
            <a:r>
              <a:rPr lang="en-PK" sz="1800" dirty="0">
                <a:solidFill>
                  <a:srgbClr val="333333"/>
                </a:solidFill>
                <a:latin typeface="Times New Roman" panose="02020603050405020304" pitchFamily="18" charset="0"/>
                <a:cs typeface="Times New Roman" panose="02020603050405020304" pitchFamily="18" charset="0"/>
              </a:rPr>
              <a:t>Recall measures how many of the actual positive cases the model managed to find. </a:t>
            </a:r>
          </a:p>
          <a:p>
            <a:pPr marL="0" lvl="0" indent="0">
              <a:lnSpc>
                <a:spcPct val="130000"/>
              </a:lnSpc>
              <a:buNone/>
            </a:pPr>
            <a:r>
              <a:rPr lang="en-PK" sz="2000" dirty="0">
                <a:solidFill>
                  <a:srgbClr val="333333"/>
                </a:solidFill>
                <a:latin typeface="Times New Roman" panose="02020603050405020304" pitchFamily="18" charset="0"/>
                <a:cs typeface="Times New Roman" panose="02020603050405020304" pitchFamily="18" charset="0"/>
              </a:rPr>
              <a:t>Formula: </a:t>
            </a:r>
            <a:r>
              <a:rPr lang="en-US" sz="2000" dirty="0">
                <a:solidFill>
                  <a:srgbClr val="333333"/>
                </a:solidFill>
                <a:latin typeface="Times New Roman" panose="02020603050405020304" pitchFamily="18" charset="0"/>
                <a:cs typeface="Times New Roman" panose="02020603050405020304" pitchFamily="18" charset="0"/>
              </a:rPr>
              <a:t> </a:t>
            </a:r>
          </a:p>
          <a:p>
            <a:pPr marL="0" lvl="0" indent="0">
              <a:lnSpc>
                <a:spcPct val="130000"/>
              </a:lnSpc>
              <a:buNone/>
            </a:pPr>
            <a:r>
              <a:rPr lang="en-PK" sz="1800" dirty="0">
                <a:solidFill>
                  <a:srgbClr val="333333"/>
                </a:solidFill>
                <a:latin typeface="Times New Roman" panose="02020603050405020304" pitchFamily="18" charset="0"/>
                <a:cs typeface="Times New Roman" panose="02020603050405020304" pitchFamily="18" charset="0"/>
              </a:rPr>
              <a:t>Use case: Important when missing a positive case is dangerous, such as in </a:t>
            </a:r>
            <a:r>
              <a:rPr lang="en-PK" sz="1800" dirty="0">
                <a:solidFill>
                  <a:srgbClr val="333333"/>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medical testing</a:t>
            </a:r>
            <a:r>
              <a:rPr lang="en-PK" sz="1800" dirty="0">
                <a:solidFill>
                  <a:srgbClr val="333333"/>
                </a:solidFill>
                <a:latin typeface="Times New Roman" panose="02020603050405020304" pitchFamily="18" charset="0"/>
                <a:cs typeface="Times New Roman" panose="02020603050405020304" pitchFamily="18" charset="0"/>
              </a:rPr>
              <a:t>.</a:t>
            </a:r>
          </a:p>
          <a:p>
            <a:pPr marL="0" indent="0">
              <a:buNone/>
            </a:pPr>
            <a:endParaRPr lang="en-PK" sz="1800" dirty="0"/>
          </a:p>
        </p:txBody>
      </p:sp>
      <p:sp>
        <p:nvSpPr>
          <p:cNvPr id="11" name="Google Shape;299;p22">
            <a:extLst>
              <a:ext uri="{FF2B5EF4-FFF2-40B4-BE49-F238E27FC236}">
                <a16:creationId xmlns:a16="http://schemas.microsoft.com/office/drawing/2014/main" id="{1CD3271E-DFE7-18F8-4F21-6AECB7BAC245}"/>
              </a:ext>
            </a:extLst>
          </p:cNvPr>
          <p:cNvSpPr/>
          <p:nvPr/>
        </p:nvSpPr>
        <p:spPr>
          <a:xfrm>
            <a:off x="602986" y="1012723"/>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pic>
        <p:nvPicPr>
          <p:cNvPr id="13" name="Picture 12">
            <a:extLst>
              <a:ext uri="{FF2B5EF4-FFF2-40B4-BE49-F238E27FC236}">
                <a16:creationId xmlns:a16="http://schemas.microsoft.com/office/drawing/2014/main" id="{4ED1ACC3-37DF-38CA-6311-EBDE7F6B2E89}"/>
              </a:ext>
            </a:extLst>
          </p:cNvPr>
          <p:cNvPicPr>
            <a:picLocks noChangeAspect="1"/>
          </p:cNvPicPr>
          <p:nvPr/>
        </p:nvPicPr>
        <p:blipFill>
          <a:blip r:embed="rId4"/>
          <a:stretch>
            <a:fillRect/>
          </a:stretch>
        </p:blipFill>
        <p:spPr>
          <a:xfrm>
            <a:off x="1686949" y="2022216"/>
            <a:ext cx="3448576" cy="503441"/>
          </a:xfrm>
          <a:prstGeom prst="rect">
            <a:avLst/>
          </a:prstGeom>
        </p:spPr>
      </p:pic>
      <p:pic>
        <p:nvPicPr>
          <p:cNvPr id="15" name="Picture 14">
            <a:extLst>
              <a:ext uri="{FF2B5EF4-FFF2-40B4-BE49-F238E27FC236}">
                <a16:creationId xmlns:a16="http://schemas.microsoft.com/office/drawing/2014/main" id="{1E5720FE-7876-5869-D6D3-FBBEDC0B758F}"/>
              </a:ext>
            </a:extLst>
          </p:cNvPr>
          <p:cNvPicPr>
            <a:picLocks noChangeAspect="1"/>
          </p:cNvPicPr>
          <p:nvPr/>
        </p:nvPicPr>
        <p:blipFill>
          <a:blip r:embed="rId5"/>
          <a:stretch>
            <a:fillRect/>
          </a:stretch>
        </p:blipFill>
        <p:spPr>
          <a:xfrm>
            <a:off x="1803907" y="3981441"/>
            <a:ext cx="3544269" cy="548083"/>
          </a:xfrm>
          <a:prstGeom prst="rect">
            <a:avLst/>
          </a:prstGeom>
        </p:spPr>
      </p:pic>
    </p:spTree>
    <p:extLst>
      <p:ext uri="{BB962C8B-B14F-4D97-AF65-F5344CB8AC3E}">
        <p14:creationId xmlns:p14="http://schemas.microsoft.com/office/powerpoint/2010/main" val="124633409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7624D6-80D0-3C0D-FAB4-C78FCBEDBC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FC1A74-448C-67C6-5B98-AD0D5E17A094}"/>
              </a:ext>
            </a:extLst>
          </p:cNvPr>
          <p:cNvSpPr>
            <a:spLocks noGrp="1"/>
          </p:cNvSpPr>
          <p:nvPr>
            <p:ph type="title"/>
          </p:nvPr>
        </p:nvSpPr>
        <p:spPr>
          <a:xfrm>
            <a:off x="602986" y="265728"/>
            <a:ext cx="10981137" cy="746995"/>
          </a:xfrm>
        </p:spPr>
        <p:txBody>
          <a:bodyPr/>
          <a:lstStyle/>
          <a:p>
            <a:r>
              <a:rPr lang="en-US" sz="3150" b="1" cap="none" dirty="0">
                <a:solidFill>
                  <a:srgbClr val="003366"/>
                </a:solidFill>
                <a:latin typeface="Times New Roman" panose="02020603050405020304" pitchFamily="18" charset="0"/>
                <a:ea typeface="+mn-ea"/>
                <a:cs typeface="Times New Roman" panose="02020603050405020304" pitchFamily="18" charset="0"/>
                <a:sym typeface="Poppins SemiBold"/>
              </a:rPr>
              <a:t>Deconstructing Metrics</a:t>
            </a:r>
            <a:endParaRPr lang="en-PK" sz="3150" b="1" cap="none" dirty="0">
              <a:solidFill>
                <a:srgbClr val="003366"/>
              </a:solidFill>
              <a:latin typeface="Times New Roman" panose="02020603050405020304" pitchFamily="18" charset="0"/>
              <a:ea typeface="+mn-ea"/>
              <a:cs typeface="Times New Roman" panose="02020603050405020304" pitchFamily="18" charset="0"/>
            </a:endParaRPr>
          </a:p>
        </p:txBody>
      </p:sp>
      <p:sp>
        <p:nvSpPr>
          <p:cNvPr id="3" name="Content Placeholder 2">
            <a:extLst>
              <a:ext uri="{FF2B5EF4-FFF2-40B4-BE49-F238E27FC236}">
                <a16:creationId xmlns:a16="http://schemas.microsoft.com/office/drawing/2014/main" id="{B8FDEC2C-31DE-B754-AB9E-74D426CE3773}"/>
              </a:ext>
            </a:extLst>
          </p:cNvPr>
          <p:cNvSpPr>
            <a:spLocks noGrp="1"/>
          </p:cNvSpPr>
          <p:nvPr>
            <p:ph idx="1"/>
          </p:nvPr>
        </p:nvSpPr>
        <p:spPr>
          <a:xfrm>
            <a:off x="351515" y="1356952"/>
            <a:ext cx="11484077" cy="6075205"/>
          </a:xfrm>
        </p:spPr>
        <p:txBody>
          <a:bodyPr>
            <a:noAutofit/>
          </a:bodyPr>
          <a:lstStyle/>
          <a:p>
            <a:pPr marL="0" indent="0">
              <a:lnSpc>
                <a:spcPct val="140000"/>
              </a:lnSpc>
              <a:buNone/>
            </a:pPr>
            <a:r>
              <a:rPr lang="en-PK" sz="1800" b="1" dirty="0">
                <a:solidFill>
                  <a:srgbClr val="003366"/>
                </a:solidFill>
                <a:latin typeface="Times New Roman" panose="02020603050405020304" pitchFamily="18" charset="0"/>
                <a:cs typeface="Times New Roman" panose="02020603050405020304" pitchFamily="18" charset="0"/>
              </a:rPr>
              <a:t>F1 Score</a:t>
            </a:r>
          </a:p>
          <a:p>
            <a:pPr marL="0" indent="0">
              <a:lnSpc>
                <a:spcPct val="130000"/>
              </a:lnSpc>
              <a:buNone/>
            </a:pPr>
            <a:r>
              <a:rPr lang="en-PK" sz="1800" dirty="0">
                <a:solidFill>
                  <a:srgbClr val="333333"/>
                </a:solidFill>
                <a:latin typeface="Times New Roman" panose="02020603050405020304" pitchFamily="18" charset="0"/>
                <a:cs typeface="Times New Roman" panose="02020603050405020304" pitchFamily="18" charset="0"/>
              </a:rPr>
              <a:t>The F1 score is the harmonic mean of precision and recall, combining both into a single score. </a:t>
            </a:r>
          </a:p>
          <a:p>
            <a:pPr marL="0" lvl="0" indent="0">
              <a:lnSpc>
                <a:spcPct val="130000"/>
              </a:lnSpc>
              <a:buNone/>
            </a:pPr>
            <a:r>
              <a:rPr lang="en-PK" sz="1800" dirty="0">
                <a:solidFill>
                  <a:srgbClr val="333333"/>
                </a:solidFill>
                <a:latin typeface="Times New Roman" panose="02020603050405020304" pitchFamily="18" charset="0"/>
                <a:cs typeface="Times New Roman" panose="02020603050405020304" pitchFamily="18" charset="0"/>
              </a:rPr>
              <a:t>Formula</a:t>
            </a:r>
            <a:r>
              <a:rPr lang="en-US" sz="1800" dirty="0">
                <a:solidFill>
                  <a:srgbClr val="333333"/>
                </a:solidFill>
                <a:latin typeface="Times New Roman" panose="02020603050405020304" pitchFamily="18" charset="0"/>
                <a:cs typeface="Times New Roman" panose="02020603050405020304" pitchFamily="18" charset="0"/>
              </a:rPr>
              <a:t>: </a:t>
            </a:r>
            <a:endParaRPr lang="en-PK" sz="1800" dirty="0">
              <a:solidFill>
                <a:srgbClr val="333333"/>
              </a:solidFill>
              <a:latin typeface="Times New Roman" panose="02020603050405020304" pitchFamily="18" charset="0"/>
              <a:cs typeface="Times New Roman" panose="02020603050405020304" pitchFamily="18" charset="0"/>
            </a:endParaRPr>
          </a:p>
          <a:p>
            <a:pPr marL="0" lvl="0" indent="0">
              <a:lnSpc>
                <a:spcPct val="130000"/>
              </a:lnSpc>
              <a:buNone/>
            </a:pPr>
            <a:r>
              <a:rPr lang="en-PK" sz="1800" dirty="0">
                <a:solidFill>
                  <a:srgbClr val="333333"/>
                </a:solidFill>
                <a:latin typeface="Times New Roman" panose="02020603050405020304" pitchFamily="18" charset="0"/>
                <a:cs typeface="Times New Roman" panose="02020603050405020304" pitchFamily="18" charset="0"/>
              </a:rPr>
              <a:t>Use case: Useful when you need a balance between precision and recall, especially with </a:t>
            </a:r>
            <a:r>
              <a:rPr lang="en-PK" sz="1800" dirty="0">
                <a:solidFill>
                  <a:srgbClr val="333333"/>
                </a:solidFill>
                <a:latin typeface="Times New Roman" panose="02020603050405020304" pitchFamily="18" charset="0"/>
                <a:cs typeface="Times New Roman" panose="02020603050405020304" pitchFamily="18" charset="0"/>
                <a:hlinkClick r:id="rId2">
                  <a:extLst>
                    <a:ext uri="{A12FA001-AC4F-418D-AE19-62706E023703}">
                      <ahyp:hlinkClr xmlns:ahyp="http://schemas.microsoft.com/office/drawing/2018/hyperlinkcolor" val="tx"/>
                    </a:ext>
                  </a:extLst>
                </a:hlinkClick>
              </a:rPr>
              <a:t>imbalanced datasets</a:t>
            </a:r>
            <a:r>
              <a:rPr lang="en-PK" sz="1800" dirty="0">
                <a:solidFill>
                  <a:srgbClr val="333333"/>
                </a:solidFill>
                <a:latin typeface="Times New Roman" panose="02020603050405020304" pitchFamily="18" charset="0"/>
                <a:cs typeface="Times New Roman" panose="02020603050405020304" pitchFamily="18" charset="0"/>
              </a:rPr>
              <a:t>.</a:t>
            </a:r>
          </a:p>
          <a:p>
            <a:pPr marL="0" lvl="0" indent="0">
              <a:buNone/>
            </a:pPr>
            <a:endParaRPr lang="en-PK" sz="1800" dirty="0">
              <a:solidFill>
                <a:srgbClr val="333333"/>
              </a:solidFill>
              <a:latin typeface="Times New Roman" panose="02020603050405020304" pitchFamily="18" charset="0"/>
              <a:cs typeface="Times New Roman" panose="02020603050405020304" pitchFamily="18" charset="0"/>
            </a:endParaRPr>
          </a:p>
          <a:p>
            <a:pPr marL="0" indent="0">
              <a:buNone/>
            </a:pPr>
            <a:endParaRPr lang="en-PK" sz="1800" dirty="0"/>
          </a:p>
        </p:txBody>
      </p:sp>
      <p:sp>
        <p:nvSpPr>
          <p:cNvPr id="11" name="Google Shape;299;p22">
            <a:extLst>
              <a:ext uri="{FF2B5EF4-FFF2-40B4-BE49-F238E27FC236}">
                <a16:creationId xmlns:a16="http://schemas.microsoft.com/office/drawing/2014/main" id="{599A9DEB-4363-D357-CDB5-1AAE453650A7}"/>
              </a:ext>
            </a:extLst>
          </p:cNvPr>
          <p:cNvSpPr/>
          <p:nvPr/>
        </p:nvSpPr>
        <p:spPr>
          <a:xfrm>
            <a:off x="602986" y="1012723"/>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pic>
        <p:nvPicPr>
          <p:cNvPr id="17" name="Picture 16">
            <a:extLst>
              <a:ext uri="{FF2B5EF4-FFF2-40B4-BE49-F238E27FC236}">
                <a16:creationId xmlns:a16="http://schemas.microsoft.com/office/drawing/2014/main" id="{CAD14D82-085B-0C1F-A220-D804BABBFE4F}"/>
              </a:ext>
            </a:extLst>
          </p:cNvPr>
          <p:cNvPicPr>
            <a:picLocks noChangeAspect="1"/>
          </p:cNvPicPr>
          <p:nvPr/>
        </p:nvPicPr>
        <p:blipFill>
          <a:blip r:embed="rId3"/>
          <a:stretch>
            <a:fillRect/>
          </a:stretch>
        </p:blipFill>
        <p:spPr>
          <a:xfrm>
            <a:off x="2941672" y="3308024"/>
            <a:ext cx="2555361" cy="686683"/>
          </a:xfrm>
          <a:prstGeom prst="rect">
            <a:avLst/>
          </a:prstGeom>
        </p:spPr>
      </p:pic>
    </p:spTree>
    <p:extLst>
      <p:ext uri="{BB962C8B-B14F-4D97-AF65-F5344CB8AC3E}">
        <p14:creationId xmlns:p14="http://schemas.microsoft.com/office/powerpoint/2010/main" val="313391466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6" name="Google Shape;346;p24"/>
          <p:cNvSpPr txBox="1"/>
          <p:nvPr/>
        </p:nvSpPr>
        <p:spPr>
          <a:xfrm>
            <a:off x="762000" y="571500"/>
            <a:ext cx="1120140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dirty="0">
                <a:solidFill>
                  <a:srgbClr val="003366"/>
                </a:solidFill>
                <a:latin typeface="Times New Roman" panose="02020603050405020304" pitchFamily="18" charset="0"/>
                <a:ea typeface="Helvetica Neue"/>
                <a:cs typeface="Times New Roman" panose="02020603050405020304" pitchFamily="18" charset="0"/>
                <a:sym typeface="Helvetica Neue"/>
              </a:rPr>
              <a:t>Results: HDFS Baseline Evaluation</a:t>
            </a:r>
            <a:endParaRPr dirty="0">
              <a:latin typeface="Times New Roman" panose="02020603050405020304" pitchFamily="18" charset="0"/>
              <a:cs typeface="Times New Roman" panose="02020603050405020304" pitchFamily="18" charset="0"/>
            </a:endParaRPr>
          </a:p>
        </p:txBody>
      </p:sp>
      <p:sp>
        <p:nvSpPr>
          <p:cNvPr id="347" name="Google Shape;347;p24"/>
          <p:cNvSpPr/>
          <p:nvPr/>
        </p:nvSpPr>
        <p:spPr>
          <a:xfrm>
            <a:off x="762000" y="1171575"/>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graphicFrame>
        <p:nvGraphicFramePr>
          <p:cNvPr id="349" name="Google Shape;349;p24"/>
          <p:cNvGraphicFramePr/>
          <p:nvPr>
            <p:extLst>
              <p:ext uri="{D42A27DB-BD31-4B8C-83A1-F6EECF244321}">
                <p14:modId xmlns:p14="http://schemas.microsoft.com/office/powerpoint/2010/main" val="3982210349"/>
              </p:ext>
            </p:extLst>
          </p:nvPr>
        </p:nvGraphicFramePr>
        <p:xfrm>
          <a:off x="762050" y="1654468"/>
          <a:ext cx="10667950" cy="3934975"/>
        </p:xfrm>
        <a:graphic>
          <a:graphicData uri="http://schemas.openxmlformats.org/drawingml/2006/table">
            <a:tbl>
              <a:tblPr firstRow="1" bandRow="1">
                <a:tableStyleId>{B301B821-A1FF-4177-AEE7-76D212191A09}</a:tableStyleId>
              </a:tblPr>
              <a:tblGrid>
                <a:gridCol w="1584425">
                  <a:extLst>
                    <a:ext uri="{9D8B030D-6E8A-4147-A177-3AD203B41FA5}">
                      <a16:colId xmlns:a16="http://schemas.microsoft.com/office/drawing/2014/main" val="20000"/>
                    </a:ext>
                  </a:extLst>
                </a:gridCol>
                <a:gridCol w="2859125">
                  <a:extLst>
                    <a:ext uri="{9D8B030D-6E8A-4147-A177-3AD203B41FA5}">
                      <a16:colId xmlns:a16="http://schemas.microsoft.com/office/drawing/2014/main" val="20001"/>
                    </a:ext>
                  </a:extLst>
                </a:gridCol>
                <a:gridCol w="1627575">
                  <a:extLst>
                    <a:ext uri="{9D8B030D-6E8A-4147-A177-3AD203B41FA5}">
                      <a16:colId xmlns:a16="http://schemas.microsoft.com/office/drawing/2014/main" val="20002"/>
                    </a:ext>
                  </a:extLst>
                </a:gridCol>
                <a:gridCol w="1341675">
                  <a:extLst>
                    <a:ext uri="{9D8B030D-6E8A-4147-A177-3AD203B41FA5}">
                      <a16:colId xmlns:a16="http://schemas.microsoft.com/office/drawing/2014/main" val="20003"/>
                    </a:ext>
                  </a:extLst>
                </a:gridCol>
                <a:gridCol w="1570275">
                  <a:extLst>
                    <a:ext uri="{9D8B030D-6E8A-4147-A177-3AD203B41FA5}">
                      <a16:colId xmlns:a16="http://schemas.microsoft.com/office/drawing/2014/main" val="20004"/>
                    </a:ext>
                  </a:extLst>
                </a:gridCol>
                <a:gridCol w="1684875">
                  <a:extLst>
                    <a:ext uri="{9D8B030D-6E8A-4147-A177-3AD203B41FA5}">
                      <a16:colId xmlns:a16="http://schemas.microsoft.com/office/drawing/2014/main" val="20005"/>
                    </a:ext>
                  </a:extLst>
                </a:gridCol>
              </a:tblGrid>
              <a:tr h="655825">
                <a:tc>
                  <a:txBody>
                    <a:bodyPr/>
                    <a:lstStyle/>
                    <a:p>
                      <a:pPr marL="0" marR="0" lvl="0" indent="0" algn="l" rtl="0">
                        <a:spcBef>
                          <a:spcPts val="0"/>
                        </a:spcBef>
                        <a:spcAft>
                          <a:spcPts val="0"/>
                        </a:spcAft>
                        <a:buNone/>
                      </a:pPr>
                      <a:r>
                        <a:rPr lang="en-US" sz="1800" b="1" u="none" strike="noStrike" cap="none" dirty="0">
                          <a:solidFill>
                            <a:srgbClr val="003366"/>
                          </a:solidFill>
                          <a:sym typeface="Helvetica Neue"/>
                        </a:rPr>
                        <a:t>Model</a:t>
                      </a:r>
                      <a:endParaRPr sz="2000" dirty="0"/>
                    </a:p>
                  </a:txBody>
                  <a:tcPr marL="63500" marR="63500" marT="25400" marB="25400" anchor="ctr"/>
                </a:tc>
                <a:tc>
                  <a:txBody>
                    <a:bodyPr/>
                    <a:lstStyle/>
                    <a:p>
                      <a:pPr marL="0" marR="0" lvl="0" indent="0" algn="l" rtl="0">
                        <a:spcBef>
                          <a:spcPts val="0"/>
                        </a:spcBef>
                        <a:spcAft>
                          <a:spcPts val="0"/>
                        </a:spcAft>
                        <a:buNone/>
                      </a:pPr>
                      <a:r>
                        <a:rPr lang="en-US" sz="1800" b="1" u="none" strike="noStrike" cap="none" dirty="0">
                          <a:solidFill>
                            <a:srgbClr val="003366"/>
                          </a:solidFill>
                          <a:sym typeface="Helvetica Neue"/>
                        </a:rPr>
                        <a:t>Category</a:t>
                      </a:r>
                      <a:endParaRPr sz="2000" dirty="0"/>
                    </a:p>
                  </a:txBody>
                  <a:tcPr marL="63500" marR="63500" marT="25400" marB="25400" anchor="ctr"/>
                </a:tc>
                <a:tc>
                  <a:txBody>
                    <a:bodyPr/>
                    <a:lstStyle/>
                    <a:p>
                      <a:pPr marL="0" marR="0" lvl="0" indent="0" algn="l" rtl="0">
                        <a:spcBef>
                          <a:spcPts val="0"/>
                        </a:spcBef>
                        <a:spcAft>
                          <a:spcPts val="0"/>
                        </a:spcAft>
                        <a:buNone/>
                      </a:pPr>
                      <a:r>
                        <a:rPr lang="en-US" sz="1800" b="1" u="none" strike="noStrike" cap="none">
                          <a:solidFill>
                            <a:srgbClr val="003366"/>
                          </a:solidFill>
                          <a:sym typeface="Helvetica Neue"/>
                        </a:rPr>
                        <a:t>Precision</a:t>
                      </a:r>
                      <a:endParaRPr sz="2000"/>
                    </a:p>
                  </a:txBody>
                  <a:tcPr marL="63500" marR="63500" marT="25400" marB="25400" anchor="ctr"/>
                </a:tc>
                <a:tc>
                  <a:txBody>
                    <a:bodyPr/>
                    <a:lstStyle/>
                    <a:p>
                      <a:pPr marL="0" marR="0" lvl="0" indent="0" algn="l" rtl="0">
                        <a:spcBef>
                          <a:spcPts val="0"/>
                        </a:spcBef>
                        <a:spcAft>
                          <a:spcPts val="0"/>
                        </a:spcAft>
                        <a:buNone/>
                      </a:pPr>
                      <a:r>
                        <a:rPr lang="en-US" sz="1800" b="1" u="none" strike="noStrike" cap="none">
                          <a:solidFill>
                            <a:srgbClr val="003366"/>
                          </a:solidFill>
                          <a:sym typeface="Helvetica Neue"/>
                        </a:rPr>
                        <a:t>Recall</a:t>
                      </a:r>
                      <a:endParaRPr sz="2000"/>
                    </a:p>
                  </a:txBody>
                  <a:tcPr marL="63500" marR="63500" marT="25400" marB="25400" anchor="ctr"/>
                </a:tc>
                <a:tc>
                  <a:txBody>
                    <a:bodyPr/>
                    <a:lstStyle/>
                    <a:p>
                      <a:pPr marL="0" marR="0" lvl="0" indent="0" algn="l" rtl="0">
                        <a:spcBef>
                          <a:spcPts val="0"/>
                        </a:spcBef>
                        <a:spcAft>
                          <a:spcPts val="0"/>
                        </a:spcAft>
                        <a:buNone/>
                      </a:pPr>
                      <a:r>
                        <a:rPr lang="en-US" sz="1800" b="1" u="none" strike="noStrike" cap="none">
                          <a:solidFill>
                            <a:srgbClr val="003366"/>
                          </a:solidFill>
                          <a:sym typeface="Helvetica Neue"/>
                        </a:rPr>
                        <a:t>F1-Score</a:t>
                      </a:r>
                      <a:endParaRPr sz="2000"/>
                    </a:p>
                  </a:txBody>
                  <a:tcPr marL="63500" marR="63500" marT="25400" marB="25400" anchor="ctr"/>
                </a:tc>
                <a:tc>
                  <a:txBody>
                    <a:bodyPr/>
                    <a:lstStyle/>
                    <a:p>
                      <a:pPr marL="0" marR="0" lvl="0" indent="0" algn="l" rtl="0">
                        <a:spcBef>
                          <a:spcPts val="0"/>
                        </a:spcBef>
                        <a:spcAft>
                          <a:spcPts val="0"/>
                        </a:spcAft>
                        <a:buNone/>
                      </a:pPr>
                      <a:r>
                        <a:rPr lang="en-US" sz="1800" b="1" u="none" strike="noStrike" cap="none">
                          <a:solidFill>
                            <a:srgbClr val="003366"/>
                          </a:solidFill>
                          <a:sym typeface="Helvetica Neue"/>
                        </a:rPr>
                        <a:t>ROC-AUC</a:t>
                      </a:r>
                      <a:endParaRPr sz="2000"/>
                    </a:p>
                  </a:txBody>
                  <a:tcPr marL="63500" marR="63500" marT="25400" marB="25400" anchor="ctr"/>
                </a:tc>
                <a:extLst>
                  <a:ext uri="{0D108BD9-81ED-4DB2-BD59-A6C34878D82A}">
                    <a16:rowId xmlns:a16="http://schemas.microsoft.com/office/drawing/2014/main" val="10000"/>
                  </a:ext>
                </a:extLst>
              </a:tr>
              <a:tr h="655825">
                <a:tc>
                  <a:txBody>
                    <a:bodyPr/>
                    <a:lstStyle/>
                    <a:p>
                      <a:pPr marL="0" marR="0" lvl="0" indent="0" algn="l" rtl="0">
                        <a:spcBef>
                          <a:spcPts val="0"/>
                        </a:spcBef>
                        <a:spcAft>
                          <a:spcPts val="0"/>
                        </a:spcAft>
                        <a:buNone/>
                      </a:pPr>
                      <a:r>
                        <a:rPr lang="en-US" sz="1800" b="0" u="none" strike="noStrike" cap="none" dirty="0" err="1">
                          <a:solidFill>
                            <a:srgbClr val="333333"/>
                          </a:solidFill>
                          <a:sym typeface="Helvetica Neue"/>
                        </a:rPr>
                        <a:t>XGBoost</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dirty="0">
                          <a:solidFill>
                            <a:srgbClr val="333333"/>
                          </a:solidFill>
                          <a:sym typeface="Helvetica Neue"/>
                        </a:rPr>
                        <a:t>Traditional ML (Sup)</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99.85%</a:t>
                      </a:r>
                      <a:endParaRPr sz="200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99.97%</a:t>
                      </a:r>
                      <a:endParaRPr sz="2000"/>
                    </a:p>
                  </a:txBody>
                  <a:tcPr marL="63500" marR="63500" marT="25400" marB="25400" anchor="ctr"/>
                </a:tc>
                <a:tc>
                  <a:txBody>
                    <a:bodyPr/>
                    <a:lstStyle/>
                    <a:p>
                      <a:pPr marL="0" marR="0" lvl="0" indent="0" algn="l" rtl="0">
                        <a:spcBef>
                          <a:spcPts val="0"/>
                        </a:spcBef>
                        <a:spcAft>
                          <a:spcPts val="0"/>
                        </a:spcAft>
                        <a:buNone/>
                      </a:pPr>
                      <a:r>
                        <a:rPr lang="en-US" sz="1800" b="1" u="none" strike="noStrike" cap="none" dirty="0">
                          <a:solidFill>
                            <a:srgbClr val="333333"/>
                          </a:solidFill>
                          <a:sym typeface="Helvetica Neue"/>
                        </a:rPr>
                        <a:t>99.91%</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a:t>
                      </a:r>
                      <a:endParaRPr sz="2000"/>
                    </a:p>
                  </a:txBody>
                  <a:tcPr marL="63500" marR="63500" marT="25400" marB="25400" anchor="ctr"/>
                </a:tc>
                <a:extLst>
                  <a:ext uri="{0D108BD9-81ED-4DB2-BD59-A6C34878D82A}">
                    <a16:rowId xmlns:a16="http://schemas.microsoft.com/office/drawing/2014/main" val="10001"/>
                  </a:ext>
                </a:extLst>
              </a:tr>
              <a:tr h="655825">
                <a:tc>
                  <a:txBody>
                    <a:bodyPr/>
                    <a:lstStyle/>
                    <a:p>
                      <a:pPr marL="0" marR="0" lvl="0" indent="0" algn="l" rtl="0">
                        <a:spcBef>
                          <a:spcPts val="0"/>
                        </a:spcBef>
                        <a:spcAft>
                          <a:spcPts val="0"/>
                        </a:spcAft>
                        <a:buNone/>
                      </a:pPr>
                      <a:r>
                        <a:rPr lang="en-US" sz="2000" b="0" u="none" strike="noStrike" cap="none" dirty="0">
                          <a:solidFill>
                            <a:srgbClr val="333333"/>
                          </a:solidFill>
                          <a:sym typeface="Helvetica Neue"/>
                        </a:rPr>
                        <a:t>SVM</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dirty="0">
                          <a:solidFill>
                            <a:srgbClr val="333333"/>
                          </a:solidFill>
                          <a:sym typeface="Helvetica Neue"/>
                        </a:rPr>
                        <a:t>Traditional ML (Sup)</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dirty="0">
                          <a:solidFill>
                            <a:srgbClr val="333333"/>
                          </a:solidFill>
                          <a:sym typeface="Helvetica Neue"/>
                        </a:rPr>
                        <a:t>96.34%</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dirty="0">
                          <a:solidFill>
                            <a:srgbClr val="333333"/>
                          </a:solidFill>
                          <a:sym typeface="Helvetica Neue"/>
                        </a:rPr>
                        <a:t>99.94%</a:t>
                      </a:r>
                      <a:endParaRPr sz="2000" dirty="0"/>
                    </a:p>
                  </a:txBody>
                  <a:tcPr marL="63500" marR="63500" marT="25400" marB="25400" anchor="ctr"/>
                </a:tc>
                <a:tc>
                  <a:txBody>
                    <a:bodyPr/>
                    <a:lstStyle/>
                    <a:p>
                      <a:pPr marL="0" marR="0" lvl="0" indent="0" algn="l" rtl="0">
                        <a:spcBef>
                          <a:spcPts val="0"/>
                        </a:spcBef>
                        <a:spcAft>
                          <a:spcPts val="0"/>
                        </a:spcAft>
                        <a:buNone/>
                      </a:pPr>
                      <a:r>
                        <a:rPr lang="en-US" sz="1800" b="1" u="none" strike="noStrike" cap="none">
                          <a:solidFill>
                            <a:srgbClr val="333333"/>
                          </a:solidFill>
                          <a:sym typeface="Helvetica Neue"/>
                        </a:rPr>
                        <a:t>98.11%</a:t>
                      </a:r>
                      <a:endParaRPr sz="200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a:t>
                      </a:r>
                      <a:endParaRPr sz="2000"/>
                    </a:p>
                  </a:txBody>
                  <a:tcPr marL="63500" marR="63500" marT="25400" marB="25400" anchor="ctr"/>
                </a:tc>
                <a:extLst>
                  <a:ext uri="{0D108BD9-81ED-4DB2-BD59-A6C34878D82A}">
                    <a16:rowId xmlns:a16="http://schemas.microsoft.com/office/drawing/2014/main" val="10002"/>
                  </a:ext>
                </a:extLst>
              </a:tr>
              <a:tr h="655825">
                <a:tc>
                  <a:txBody>
                    <a:bodyPr/>
                    <a:lstStyle/>
                    <a:p>
                      <a:pPr marL="0" marR="0" lvl="0" indent="0" algn="l" rtl="0">
                        <a:spcBef>
                          <a:spcPts val="0"/>
                        </a:spcBef>
                        <a:spcAft>
                          <a:spcPts val="0"/>
                        </a:spcAft>
                        <a:buNone/>
                      </a:pPr>
                      <a:r>
                        <a:rPr lang="en-US" sz="1800" b="0" u="none" strike="noStrike" cap="none" dirty="0">
                          <a:solidFill>
                            <a:srgbClr val="333333"/>
                          </a:solidFill>
                          <a:sym typeface="Helvetica Neue"/>
                        </a:rPr>
                        <a:t>LSTM</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dirty="0">
                          <a:solidFill>
                            <a:srgbClr val="333333"/>
                          </a:solidFill>
                          <a:sym typeface="Helvetica Neue"/>
                        </a:rPr>
                        <a:t>Deep Learning (Sup)</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98.08%</a:t>
                      </a:r>
                      <a:endParaRPr sz="2000"/>
                    </a:p>
                  </a:txBody>
                  <a:tcPr marL="63500" marR="63500" marT="25400" marB="25400" anchor="ctr"/>
                </a:tc>
                <a:tc>
                  <a:txBody>
                    <a:bodyPr/>
                    <a:lstStyle/>
                    <a:p>
                      <a:pPr marL="0" marR="0" lvl="0" indent="0" algn="l" rtl="0">
                        <a:spcBef>
                          <a:spcPts val="0"/>
                        </a:spcBef>
                        <a:spcAft>
                          <a:spcPts val="0"/>
                        </a:spcAft>
                        <a:buNone/>
                      </a:pPr>
                      <a:r>
                        <a:rPr lang="en-US" sz="1800" b="0" u="none" strike="noStrike" cap="none" dirty="0">
                          <a:solidFill>
                            <a:srgbClr val="333333"/>
                          </a:solidFill>
                          <a:sym typeface="Helvetica Neue"/>
                        </a:rPr>
                        <a:t>99.88%</a:t>
                      </a:r>
                      <a:endParaRPr sz="2000" dirty="0"/>
                    </a:p>
                  </a:txBody>
                  <a:tcPr marL="63500" marR="63500" marT="25400" marB="25400" anchor="ctr"/>
                </a:tc>
                <a:tc>
                  <a:txBody>
                    <a:bodyPr/>
                    <a:lstStyle/>
                    <a:p>
                      <a:pPr marL="0" marR="0" lvl="0" indent="0" algn="l" rtl="0">
                        <a:spcBef>
                          <a:spcPts val="0"/>
                        </a:spcBef>
                        <a:spcAft>
                          <a:spcPts val="0"/>
                        </a:spcAft>
                        <a:buNone/>
                      </a:pPr>
                      <a:r>
                        <a:rPr lang="en-US" sz="1800" b="1" u="none" strike="noStrike" cap="none" dirty="0">
                          <a:solidFill>
                            <a:srgbClr val="333333"/>
                          </a:solidFill>
                          <a:sym typeface="Helvetica Neue"/>
                        </a:rPr>
                        <a:t>98.97%</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100%</a:t>
                      </a:r>
                      <a:endParaRPr sz="2000"/>
                    </a:p>
                  </a:txBody>
                  <a:tcPr marL="63500" marR="63500" marT="25400" marB="25400" anchor="ctr"/>
                </a:tc>
                <a:extLst>
                  <a:ext uri="{0D108BD9-81ED-4DB2-BD59-A6C34878D82A}">
                    <a16:rowId xmlns:a16="http://schemas.microsoft.com/office/drawing/2014/main" val="10003"/>
                  </a:ext>
                </a:extLst>
              </a:tr>
              <a:tr h="655825">
                <a:tc>
                  <a:txBody>
                    <a:bodyPr/>
                    <a:lstStyle/>
                    <a:p>
                      <a:pPr marL="0" marR="0" lvl="0" indent="0" algn="l" rtl="0">
                        <a:spcBef>
                          <a:spcPts val="0"/>
                        </a:spcBef>
                        <a:spcAft>
                          <a:spcPts val="0"/>
                        </a:spcAft>
                        <a:buNone/>
                      </a:pPr>
                      <a:r>
                        <a:rPr lang="en-US" sz="1800" b="0" u="none" strike="noStrike" cap="none" dirty="0">
                          <a:solidFill>
                            <a:srgbClr val="333333"/>
                          </a:solidFill>
                          <a:sym typeface="Helvetica Neue"/>
                        </a:rPr>
                        <a:t>LSTM-AE</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Generative (Unsup)</a:t>
                      </a:r>
                      <a:endParaRPr sz="200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72.32%</a:t>
                      </a:r>
                      <a:endParaRPr sz="200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88.18%</a:t>
                      </a:r>
                      <a:endParaRPr sz="2000"/>
                    </a:p>
                  </a:txBody>
                  <a:tcPr marL="63500" marR="63500" marT="25400" marB="25400" anchor="ctr"/>
                </a:tc>
                <a:tc>
                  <a:txBody>
                    <a:bodyPr/>
                    <a:lstStyle/>
                    <a:p>
                      <a:pPr marL="0" marR="0" lvl="0" indent="0" algn="l" rtl="0">
                        <a:spcBef>
                          <a:spcPts val="0"/>
                        </a:spcBef>
                        <a:spcAft>
                          <a:spcPts val="0"/>
                        </a:spcAft>
                        <a:buNone/>
                      </a:pPr>
                      <a:r>
                        <a:rPr lang="en-US" sz="1800" b="1" u="none" strike="noStrike" cap="none" dirty="0">
                          <a:solidFill>
                            <a:srgbClr val="333333"/>
                          </a:solidFill>
                          <a:sym typeface="Helvetica Neue"/>
                        </a:rPr>
                        <a:t>79.46%</a:t>
                      </a:r>
                      <a:endParaRPr sz="2000" dirty="0"/>
                    </a:p>
                  </a:txBody>
                  <a:tcPr marL="63500" marR="63500" marT="25400" marB="25400" anchor="ctr"/>
                </a:tc>
                <a:tc>
                  <a:txBody>
                    <a:bodyPr/>
                    <a:lstStyle/>
                    <a:p>
                      <a:pPr marL="0" marR="0" lvl="0" indent="0" algn="l" rtl="0">
                        <a:spcBef>
                          <a:spcPts val="0"/>
                        </a:spcBef>
                        <a:spcAft>
                          <a:spcPts val="0"/>
                        </a:spcAft>
                        <a:buNone/>
                      </a:pPr>
                      <a:r>
                        <a:rPr lang="en-US" sz="1800" b="0" u="none" strike="noStrike" cap="none" dirty="0">
                          <a:solidFill>
                            <a:srgbClr val="333333"/>
                          </a:solidFill>
                          <a:sym typeface="Helvetica Neue"/>
                        </a:rPr>
                        <a:t>99.64%</a:t>
                      </a:r>
                      <a:endParaRPr sz="2000" dirty="0"/>
                    </a:p>
                  </a:txBody>
                  <a:tcPr marL="63500" marR="63500" marT="25400" marB="25400" anchor="ctr"/>
                </a:tc>
                <a:extLst>
                  <a:ext uri="{0D108BD9-81ED-4DB2-BD59-A6C34878D82A}">
                    <a16:rowId xmlns:a16="http://schemas.microsoft.com/office/drawing/2014/main" val="10004"/>
                  </a:ext>
                </a:extLst>
              </a:tr>
              <a:tr h="655850">
                <a:tc>
                  <a:txBody>
                    <a:bodyPr/>
                    <a:lstStyle/>
                    <a:p>
                      <a:pPr marL="0" marR="0" lvl="0" indent="0" algn="l" rtl="0">
                        <a:spcBef>
                          <a:spcPts val="0"/>
                        </a:spcBef>
                        <a:spcAft>
                          <a:spcPts val="0"/>
                        </a:spcAft>
                        <a:buNone/>
                      </a:pPr>
                      <a:r>
                        <a:rPr lang="en-US" sz="1800" b="0" u="none" strike="noStrike" cap="none">
                          <a:solidFill>
                            <a:srgbClr val="333333"/>
                          </a:solidFill>
                          <a:sym typeface="Helvetica Neue"/>
                        </a:rPr>
                        <a:t>VAE</a:t>
                      </a:r>
                      <a:endParaRPr sz="200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Generative (Unsup)</a:t>
                      </a:r>
                      <a:endParaRPr sz="200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69.44%</a:t>
                      </a:r>
                      <a:endParaRPr sz="2000"/>
                    </a:p>
                  </a:txBody>
                  <a:tcPr marL="63500" marR="63500" marT="25400" marB="25400" anchor="ctr"/>
                </a:tc>
                <a:tc>
                  <a:txBody>
                    <a:bodyPr/>
                    <a:lstStyle/>
                    <a:p>
                      <a:pPr marL="0" marR="0" lvl="0" indent="0" algn="l" rtl="0">
                        <a:spcBef>
                          <a:spcPts val="0"/>
                        </a:spcBef>
                        <a:spcAft>
                          <a:spcPts val="0"/>
                        </a:spcAft>
                        <a:buNone/>
                      </a:pPr>
                      <a:r>
                        <a:rPr lang="en-US" sz="1800" b="0" u="none" strike="noStrike" cap="none">
                          <a:solidFill>
                            <a:srgbClr val="333333"/>
                          </a:solidFill>
                          <a:sym typeface="Helvetica Neue"/>
                        </a:rPr>
                        <a:t>74.29%</a:t>
                      </a:r>
                      <a:endParaRPr sz="2000"/>
                    </a:p>
                  </a:txBody>
                  <a:tcPr marL="63500" marR="63500" marT="25400" marB="25400" anchor="ctr"/>
                </a:tc>
                <a:tc>
                  <a:txBody>
                    <a:bodyPr/>
                    <a:lstStyle/>
                    <a:p>
                      <a:pPr marL="0" marR="0" lvl="0" indent="0" algn="l" rtl="0">
                        <a:spcBef>
                          <a:spcPts val="0"/>
                        </a:spcBef>
                        <a:spcAft>
                          <a:spcPts val="0"/>
                        </a:spcAft>
                        <a:buNone/>
                      </a:pPr>
                      <a:r>
                        <a:rPr lang="en-US" sz="1800" b="1" u="none" strike="noStrike" cap="none">
                          <a:solidFill>
                            <a:srgbClr val="333333"/>
                          </a:solidFill>
                          <a:sym typeface="Helvetica Neue"/>
                        </a:rPr>
                        <a:t>71.78%</a:t>
                      </a:r>
                      <a:endParaRPr sz="2000"/>
                    </a:p>
                  </a:txBody>
                  <a:tcPr marL="63500" marR="63500" marT="25400" marB="25400" anchor="ctr"/>
                </a:tc>
                <a:tc>
                  <a:txBody>
                    <a:bodyPr/>
                    <a:lstStyle/>
                    <a:p>
                      <a:pPr marL="0" marR="0" lvl="0" indent="0" algn="l" rtl="0">
                        <a:spcBef>
                          <a:spcPts val="0"/>
                        </a:spcBef>
                        <a:spcAft>
                          <a:spcPts val="0"/>
                        </a:spcAft>
                        <a:buNone/>
                      </a:pPr>
                      <a:r>
                        <a:rPr lang="en-US" sz="1800" b="0" u="none" strike="noStrike" cap="none" dirty="0">
                          <a:solidFill>
                            <a:srgbClr val="333333"/>
                          </a:solidFill>
                          <a:sym typeface="Helvetica Neue"/>
                        </a:rPr>
                        <a:t>98.76%</a:t>
                      </a:r>
                      <a:endParaRPr sz="2000" dirty="0"/>
                    </a:p>
                  </a:txBody>
                  <a:tcPr marL="63500" marR="63500" marT="25400" marB="25400" anchor="ctr"/>
                </a:tc>
                <a:extLst>
                  <a:ext uri="{0D108BD9-81ED-4DB2-BD59-A6C34878D82A}">
                    <a16:rowId xmlns:a16="http://schemas.microsoft.com/office/drawing/2014/main" val="10005"/>
                  </a:ext>
                </a:extLst>
              </a:tr>
            </a:tbl>
          </a:graphicData>
        </a:graphic>
      </p:graphicFrame>
      <p:sp>
        <p:nvSpPr>
          <p:cNvPr id="352" name="Google Shape;352;p24"/>
          <p:cNvSpPr/>
          <p:nvPr/>
        </p:nvSpPr>
        <p:spPr>
          <a:xfrm>
            <a:off x="762000" y="2786806"/>
            <a:ext cx="1584424"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53" name="Google Shape;353;p24"/>
          <p:cNvSpPr/>
          <p:nvPr/>
        </p:nvSpPr>
        <p:spPr>
          <a:xfrm>
            <a:off x="762000" y="2146845"/>
            <a:ext cx="1584424"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54" name="Google Shape;354;p24"/>
          <p:cNvSpPr/>
          <p:nvPr/>
        </p:nvSpPr>
        <p:spPr>
          <a:xfrm>
            <a:off x="2346424" y="2786806"/>
            <a:ext cx="2859137"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55" name="Google Shape;355;p24"/>
          <p:cNvSpPr/>
          <p:nvPr/>
        </p:nvSpPr>
        <p:spPr>
          <a:xfrm>
            <a:off x="2346424" y="2146845"/>
            <a:ext cx="2859137"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56" name="Google Shape;356;p24"/>
          <p:cNvSpPr/>
          <p:nvPr/>
        </p:nvSpPr>
        <p:spPr>
          <a:xfrm>
            <a:off x="5205561" y="2786806"/>
            <a:ext cx="1627584"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57" name="Google Shape;357;p24"/>
          <p:cNvSpPr/>
          <p:nvPr/>
        </p:nvSpPr>
        <p:spPr>
          <a:xfrm>
            <a:off x="5205561" y="2146845"/>
            <a:ext cx="1627584"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58" name="Google Shape;358;p24"/>
          <p:cNvSpPr/>
          <p:nvPr/>
        </p:nvSpPr>
        <p:spPr>
          <a:xfrm>
            <a:off x="6833145" y="2786806"/>
            <a:ext cx="1341685"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59" name="Google Shape;359;p24"/>
          <p:cNvSpPr/>
          <p:nvPr/>
        </p:nvSpPr>
        <p:spPr>
          <a:xfrm>
            <a:off x="6833145" y="2146845"/>
            <a:ext cx="1341685"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60" name="Google Shape;360;p24"/>
          <p:cNvSpPr/>
          <p:nvPr/>
        </p:nvSpPr>
        <p:spPr>
          <a:xfrm>
            <a:off x="8174831" y="2786806"/>
            <a:ext cx="1570285"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61" name="Google Shape;361;p24"/>
          <p:cNvSpPr/>
          <p:nvPr/>
        </p:nvSpPr>
        <p:spPr>
          <a:xfrm>
            <a:off x="8174831" y="2146845"/>
            <a:ext cx="1570285"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62" name="Google Shape;362;p24"/>
          <p:cNvSpPr/>
          <p:nvPr/>
        </p:nvSpPr>
        <p:spPr>
          <a:xfrm>
            <a:off x="9745116" y="2786806"/>
            <a:ext cx="1684883"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63" name="Google Shape;363;p24"/>
          <p:cNvSpPr/>
          <p:nvPr/>
        </p:nvSpPr>
        <p:spPr>
          <a:xfrm>
            <a:off x="9745116" y="2146845"/>
            <a:ext cx="1684883"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64" name="Google Shape;364;p24"/>
          <p:cNvSpPr/>
          <p:nvPr/>
        </p:nvSpPr>
        <p:spPr>
          <a:xfrm>
            <a:off x="762000" y="3450580"/>
            <a:ext cx="1584424"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65" name="Google Shape;365;p24"/>
          <p:cNvSpPr/>
          <p:nvPr/>
        </p:nvSpPr>
        <p:spPr>
          <a:xfrm>
            <a:off x="2346424" y="3450580"/>
            <a:ext cx="2859137"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66" name="Google Shape;366;p24"/>
          <p:cNvSpPr/>
          <p:nvPr/>
        </p:nvSpPr>
        <p:spPr>
          <a:xfrm>
            <a:off x="5205561" y="3450580"/>
            <a:ext cx="1627584"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67" name="Google Shape;367;p24"/>
          <p:cNvSpPr/>
          <p:nvPr/>
        </p:nvSpPr>
        <p:spPr>
          <a:xfrm>
            <a:off x="6833145" y="3450580"/>
            <a:ext cx="1341685"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68" name="Google Shape;368;p24"/>
          <p:cNvSpPr/>
          <p:nvPr/>
        </p:nvSpPr>
        <p:spPr>
          <a:xfrm>
            <a:off x="8174831" y="3450580"/>
            <a:ext cx="1570285"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69" name="Google Shape;369;p24"/>
          <p:cNvSpPr/>
          <p:nvPr/>
        </p:nvSpPr>
        <p:spPr>
          <a:xfrm>
            <a:off x="9745116" y="3450580"/>
            <a:ext cx="1684883"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70" name="Google Shape;370;p24"/>
          <p:cNvSpPr/>
          <p:nvPr/>
        </p:nvSpPr>
        <p:spPr>
          <a:xfrm>
            <a:off x="762000" y="4100066"/>
            <a:ext cx="1584424"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71" name="Google Shape;371;p24"/>
          <p:cNvSpPr/>
          <p:nvPr/>
        </p:nvSpPr>
        <p:spPr>
          <a:xfrm>
            <a:off x="2346424" y="4100066"/>
            <a:ext cx="2859137"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72" name="Google Shape;372;p24"/>
          <p:cNvSpPr/>
          <p:nvPr/>
        </p:nvSpPr>
        <p:spPr>
          <a:xfrm>
            <a:off x="5205561" y="4100066"/>
            <a:ext cx="1627584"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73" name="Google Shape;373;p24"/>
          <p:cNvSpPr/>
          <p:nvPr/>
        </p:nvSpPr>
        <p:spPr>
          <a:xfrm>
            <a:off x="6833145" y="4100066"/>
            <a:ext cx="1341685"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74" name="Google Shape;374;p24"/>
          <p:cNvSpPr/>
          <p:nvPr/>
        </p:nvSpPr>
        <p:spPr>
          <a:xfrm>
            <a:off x="8174831" y="4100066"/>
            <a:ext cx="1570285"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75" name="Google Shape;375;p24"/>
          <p:cNvSpPr/>
          <p:nvPr/>
        </p:nvSpPr>
        <p:spPr>
          <a:xfrm>
            <a:off x="9745116" y="4100066"/>
            <a:ext cx="1684883"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76" name="Google Shape;376;p24"/>
          <p:cNvSpPr/>
          <p:nvPr/>
        </p:nvSpPr>
        <p:spPr>
          <a:xfrm>
            <a:off x="762000" y="4749551"/>
            <a:ext cx="1584424"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77" name="Google Shape;377;p24"/>
          <p:cNvSpPr/>
          <p:nvPr/>
        </p:nvSpPr>
        <p:spPr>
          <a:xfrm>
            <a:off x="2346424" y="4749551"/>
            <a:ext cx="2859137"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78" name="Google Shape;378;p24"/>
          <p:cNvSpPr/>
          <p:nvPr/>
        </p:nvSpPr>
        <p:spPr>
          <a:xfrm>
            <a:off x="5205561" y="4749551"/>
            <a:ext cx="1627584"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79" name="Google Shape;379;p24"/>
          <p:cNvSpPr/>
          <p:nvPr/>
        </p:nvSpPr>
        <p:spPr>
          <a:xfrm>
            <a:off x="6833145" y="4749551"/>
            <a:ext cx="1341685"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80" name="Google Shape;380;p24"/>
          <p:cNvSpPr/>
          <p:nvPr/>
        </p:nvSpPr>
        <p:spPr>
          <a:xfrm>
            <a:off x="8174831" y="4749551"/>
            <a:ext cx="1570285"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81" name="Google Shape;381;p24"/>
          <p:cNvSpPr/>
          <p:nvPr/>
        </p:nvSpPr>
        <p:spPr>
          <a:xfrm>
            <a:off x="9745116" y="4749551"/>
            <a:ext cx="1684883"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82" name="Google Shape;382;p24"/>
          <p:cNvSpPr/>
          <p:nvPr/>
        </p:nvSpPr>
        <p:spPr>
          <a:xfrm>
            <a:off x="762000" y="5399037"/>
            <a:ext cx="1584424"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83" name="Google Shape;383;p24"/>
          <p:cNvSpPr/>
          <p:nvPr/>
        </p:nvSpPr>
        <p:spPr>
          <a:xfrm>
            <a:off x="2346424" y="5399037"/>
            <a:ext cx="2859137"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84" name="Google Shape;384;p24"/>
          <p:cNvSpPr/>
          <p:nvPr/>
        </p:nvSpPr>
        <p:spPr>
          <a:xfrm>
            <a:off x="5205561" y="5399037"/>
            <a:ext cx="1627584"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85" name="Google Shape;385;p24"/>
          <p:cNvSpPr/>
          <p:nvPr/>
        </p:nvSpPr>
        <p:spPr>
          <a:xfrm>
            <a:off x="6833145" y="5399037"/>
            <a:ext cx="1341685"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86" name="Google Shape;386;p24"/>
          <p:cNvSpPr/>
          <p:nvPr/>
        </p:nvSpPr>
        <p:spPr>
          <a:xfrm>
            <a:off x="8174831" y="5399037"/>
            <a:ext cx="1570285"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87" name="Google Shape;387;p24"/>
          <p:cNvSpPr/>
          <p:nvPr/>
        </p:nvSpPr>
        <p:spPr>
          <a:xfrm>
            <a:off x="9745116" y="5399037"/>
            <a:ext cx="1684883" cy="9525"/>
          </a:xfrm>
          <a:prstGeom prst="rect">
            <a:avLst/>
          </a:prstGeom>
          <a:solidFill>
            <a:srgbClr val="CBD5E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88" name="Google Shape;388;p24"/>
          <p:cNvSpPr/>
          <p:nvPr/>
        </p:nvSpPr>
        <p:spPr>
          <a:xfrm>
            <a:off x="762000" y="6043761"/>
            <a:ext cx="1584424"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89" name="Google Shape;389;p24"/>
          <p:cNvSpPr/>
          <p:nvPr/>
        </p:nvSpPr>
        <p:spPr>
          <a:xfrm>
            <a:off x="2346424" y="6043761"/>
            <a:ext cx="2859137"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90" name="Google Shape;390;p24"/>
          <p:cNvSpPr/>
          <p:nvPr/>
        </p:nvSpPr>
        <p:spPr>
          <a:xfrm>
            <a:off x="5205561" y="6043761"/>
            <a:ext cx="1627584"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91" name="Google Shape;391;p24"/>
          <p:cNvSpPr/>
          <p:nvPr/>
        </p:nvSpPr>
        <p:spPr>
          <a:xfrm>
            <a:off x="6833145" y="6043761"/>
            <a:ext cx="1341685"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92" name="Google Shape;392;p24"/>
          <p:cNvSpPr/>
          <p:nvPr/>
        </p:nvSpPr>
        <p:spPr>
          <a:xfrm>
            <a:off x="8174831" y="6043761"/>
            <a:ext cx="1570285"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393" name="Google Shape;393;p24"/>
          <p:cNvSpPr/>
          <p:nvPr/>
        </p:nvSpPr>
        <p:spPr>
          <a:xfrm>
            <a:off x="9745116" y="6043761"/>
            <a:ext cx="1684883" cy="19050"/>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33ED372-C9EE-5F17-79B9-7E01C064D8CF}"/>
              </a:ext>
            </a:extLst>
          </p:cNvPr>
          <p:cNvGraphicFramePr>
            <a:graphicFrameLocks noGrp="1"/>
          </p:cNvGraphicFramePr>
          <p:nvPr>
            <p:extLst>
              <p:ext uri="{D42A27DB-BD31-4B8C-83A1-F6EECF244321}">
                <p14:modId xmlns:p14="http://schemas.microsoft.com/office/powerpoint/2010/main" val="367831516"/>
              </p:ext>
            </p:extLst>
          </p:nvPr>
        </p:nvGraphicFramePr>
        <p:xfrm>
          <a:off x="1028698" y="1669312"/>
          <a:ext cx="10401300" cy="3988536"/>
        </p:xfrm>
        <a:graphic>
          <a:graphicData uri="http://schemas.openxmlformats.org/drawingml/2006/table">
            <a:tbl>
              <a:tblPr>
                <a:tableStyleId>{B301B821-A1FF-4177-AEE7-76D212191A09}</a:tableStyleId>
              </a:tblPr>
              <a:tblGrid>
                <a:gridCol w="2778125">
                  <a:extLst>
                    <a:ext uri="{9D8B030D-6E8A-4147-A177-3AD203B41FA5}">
                      <a16:colId xmlns:a16="http://schemas.microsoft.com/office/drawing/2014/main" val="2998840343"/>
                    </a:ext>
                  </a:extLst>
                </a:gridCol>
                <a:gridCol w="1666875">
                  <a:extLst>
                    <a:ext uri="{9D8B030D-6E8A-4147-A177-3AD203B41FA5}">
                      <a16:colId xmlns:a16="http://schemas.microsoft.com/office/drawing/2014/main" val="472041408"/>
                    </a:ext>
                  </a:extLst>
                </a:gridCol>
                <a:gridCol w="1666875">
                  <a:extLst>
                    <a:ext uri="{9D8B030D-6E8A-4147-A177-3AD203B41FA5}">
                      <a16:colId xmlns:a16="http://schemas.microsoft.com/office/drawing/2014/main" val="3602447331"/>
                    </a:ext>
                  </a:extLst>
                </a:gridCol>
                <a:gridCol w="1666875">
                  <a:extLst>
                    <a:ext uri="{9D8B030D-6E8A-4147-A177-3AD203B41FA5}">
                      <a16:colId xmlns:a16="http://schemas.microsoft.com/office/drawing/2014/main" val="2478312340"/>
                    </a:ext>
                  </a:extLst>
                </a:gridCol>
                <a:gridCol w="2622550">
                  <a:extLst>
                    <a:ext uri="{9D8B030D-6E8A-4147-A177-3AD203B41FA5}">
                      <a16:colId xmlns:a16="http://schemas.microsoft.com/office/drawing/2014/main" val="3360315924"/>
                    </a:ext>
                  </a:extLst>
                </a:gridCol>
              </a:tblGrid>
              <a:tr h="498567">
                <a:tc>
                  <a:txBody>
                    <a:bodyPr/>
                    <a:lstStyle/>
                    <a:p>
                      <a:pPr marL="0" marR="0" lvl="0" indent="0" algn="l" defTabSz="914400" rtl="0" eaLnBrk="1" latinLnBrk="0" hangingPunct="1">
                        <a:spcBef>
                          <a:spcPts val="0"/>
                        </a:spcBef>
                        <a:spcAft>
                          <a:spcPts val="0"/>
                        </a:spcAft>
                        <a:buNone/>
                      </a:pPr>
                      <a:r>
                        <a:rPr lang="en-PK" sz="1800" b="1" u="none" strike="noStrike" kern="1200" cap="none" dirty="0">
                          <a:solidFill>
                            <a:srgbClr val="003366"/>
                          </a:solidFill>
                          <a:latin typeface="+mn-lt"/>
                          <a:ea typeface="+mn-ea"/>
                          <a:cs typeface="+mn-cs"/>
                        </a:rPr>
                        <a:t>Model</a:t>
                      </a:r>
                    </a:p>
                  </a:txBody>
                  <a:tcPr marL="76200" marR="76200" marT="50800" marB="50800">
                    <a:solidFill>
                      <a:schemeClr val="tx2">
                        <a:lumMod val="75000"/>
                        <a:lumOff val="25000"/>
                      </a:schemeClr>
                    </a:solidFill>
                  </a:tcPr>
                </a:tc>
                <a:tc>
                  <a:txBody>
                    <a:bodyPr/>
                    <a:lstStyle/>
                    <a:p>
                      <a:pPr marL="0" marR="0" lvl="0" indent="0" algn="l" defTabSz="914400" rtl="0" eaLnBrk="1" latinLnBrk="0" hangingPunct="1">
                        <a:spcBef>
                          <a:spcPts val="0"/>
                        </a:spcBef>
                        <a:spcAft>
                          <a:spcPts val="0"/>
                        </a:spcAft>
                        <a:buNone/>
                      </a:pPr>
                      <a:r>
                        <a:rPr lang="en-PK" sz="1800" b="1" u="none" strike="noStrike" kern="1200" cap="none" dirty="0">
                          <a:solidFill>
                            <a:srgbClr val="003366"/>
                          </a:solidFill>
                          <a:latin typeface="+mn-lt"/>
                          <a:ea typeface="+mn-ea"/>
                          <a:cs typeface="+mn-cs"/>
                        </a:rPr>
                        <a:t>ROC-AUC</a:t>
                      </a:r>
                    </a:p>
                  </a:txBody>
                  <a:tcPr marL="76200" marR="76200" marT="50800" marB="50800">
                    <a:solidFill>
                      <a:schemeClr val="tx2">
                        <a:lumMod val="75000"/>
                        <a:lumOff val="25000"/>
                      </a:schemeClr>
                    </a:solidFill>
                  </a:tcPr>
                </a:tc>
                <a:tc>
                  <a:txBody>
                    <a:bodyPr/>
                    <a:lstStyle/>
                    <a:p>
                      <a:pPr marL="0" marR="0" lvl="0" indent="0" algn="l" defTabSz="914400" rtl="0" eaLnBrk="1" latinLnBrk="0" hangingPunct="1">
                        <a:spcBef>
                          <a:spcPts val="0"/>
                        </a:spcBef>
                        <a:spcAft>
                          <a:spcPts val="0"/>
                        </a:spcAft>
                        <a:buNone/>
                      </a:pPr>
                      <a:r>
                        <a:rPr lang="en-PK" sz="1800" b="1" u="none" strike="noStrike" kern="1200" cap="none" dirty="0">
                          <a:solidFill>
                            <a:srgbClr val="003366"/>
                          </a:solidFill>
                          <a:latin typeface="+mn-lt"/>
                          <a:ea typeface="+mn-ea"/>
                          <a:cs typeface="+mn-cs"/>
                        </a:rPr>
                        <a:t>Recall</a:t>
                      </a:r>
                    </a:p>
                  </a:txBody>
                  <a:tcPr marL="76200" marR="76200" marT="50800" marB="50800">
                    <a:solidFill>
                      <a:schemeClr val="tx2">
                        <a:lumMod val="75000"/>
                        <a:lumOff val="25000"/>
                      </a:schemeClr>
                    </a:solidFill>
                  </a:tcPr>
                </a:tc>
                <a:tc>
                  <a:txBody>
                    <a:bodyPr/>
                    <a:lstStyle/>
                    <a:p>
                      <a:pPr marL="0" marR="0" lvl="0" indent="0" algn="l" defTabSz="914400" rtl="0" eaLnBrk="1" latinLnBrk="0" hangingPunct="1">
                        <a:spcBef>
                          <a:spcPts val="0"/>
                        </a:spcBef>
                        <a:spcAft>
                          <a:spcPts val="0"/>
                        </a:spcAft>
                        <a:buNone/>
                      </a:pPr>
                      <a:r>
                        <a:rPr lang="en-PK" sz="1800" b="1" u="none" strike="noStrike" kern="1200" cap="none" dirty="0">
                          <a:solidFill>
                            <a:srgbClr val="003366"/>
                          </a:solidFill>
                          <a:latin typeface="+mn-lt"/>
                          <a:ea typeface="+mn-ea"/>
                          <a:cs typeface="+mn-cs"/>
                        </a:rPr>
                        <a:t>F1</a:t>
                      </a:r>
                    </a:p>
                  </a:txBody>
                  <a:tcPr marL="76200" marR="76200" marT="50800" marB="50800">
                    <a:solidFill>
                      <a:schemeClr val="tx2">
                        <a:lumMod val="75000"/>
                        <a:lumOff val="25000"/>
                      </a:schemeClr>
                    </a:solidFill>
                  </a:tcPr>
                </a:tc>
                <a:tc>
                  <a:txBody>
                    <a:bodyPr/>
                    <a:lstStyle/>
                    <a:p>
                      <a:pPr marL="0" marR="0" lvl="0" indent="0" algn="l" defTabSz="914400" rtl="0" eaLnBrk="1" latinLnBrk="0" hangingPunct="1">
                        <a:spcBef>
                          <a:spcPts val="0"/>
                        </a:spcBef>
                        <a:spcAft>
                          <a:spcPts val="0"/>
                        </a:spcAft>
                        <a:buNone/>
                      </a:pPr>
                      <a:r>
                        <a:rPr lang="en-PK" sz="1800" b="1" u="none" strike="noStrike" kern="1200" cap="none" dirty="0">
                          <a:solidFill>
                            <a:srgbClr val="003366"/>
                          </a:solidFill>
                          <a:latin typeface="+mn-lt"/>
                          <a:ea typeface="+mn-ea"/>
                          <a:cs typeface="+mn-cs"/>
                        </a:rPr>
                        <a:t>Ranking</a:t>
                      </a:r>
                    </a:p>
                  </a:txBody>
                  <a:tcPr marL="76200" marR="76200" marT="50800" marB="50800">
                    <a:solidFill>
                      <a:schemeClr val="tx2">
                        <a:lumMod val="75000"/>
                        <a:lumOff val="25000"/>
                      </a:schemeClr>
                    </a:solidFill>
                  </a:tcPr>
                </a:tc>
                <a:extLst>
                  <a:ext uri="{0D108BD9-81ED-4DB2-BD59-A6C34878D82A}">
                    <a16:rowId xmlns:a16="http://schemas.microsoft.com/office/drawing/2014/main" val="2779425814"/>
                  </a:ext>
                </a:extLst>
              </a:tr>
              <a:tr h="498567">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CNN Classifier</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0.9978</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1.00</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0.16</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1st ✅</a:t>
                      </a:r>
                      <a:endParaRPr lang="en-PK" sz="1800" b="0" u="none" strike="noStrike" kern="1200" cap="none" dirty="0">
                        <a:solidFill>
                          <a:srgbClr val="333333"/>
                        </a:solidFill>
                        <a:latin typeface="+mn-lt"/>
                        <a:ea typeface="+mn-ea"/>
                        <a:cs typeface="+mn-cs"/>
                      </a:endParaRPr>
                    </a:p>
                  </a:txBody>
                  <a:tcPr marL="76200" marR="76200" marT="50800" marB="50800"/>
                </a:tc>
                <a:extLst>
                  <a:ext uri="{0D108BD9-81ED-4DB2-BD59-A6C34878D82A}">
                    <a16:rowId xmlns:a16="http://schemas.microsoft.com/office/drawing/2014/main" val="1673659576"/>
                  </a:ext>
                </a:extLst>
              </a:tr>
              <a:tr h="498567">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Random Forest</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0.9902</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0.89</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0.44</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2nd ✅</a:t>
                      </a:r>
                      <a:endParaRPr lang="en-PK" sz="1800" b="0" u="none" strike="noStrike" kern="1200" cap="none">
                        <a:solidFill>
                          <a:srgbClr val="333333"/>
                        </a:solidFill>
                        <a:latin typeface="+mn-lt"/>
                        <a:ea typeface="+mn-ea"/>
                        <a:cs typeface="+mn-cs"/>
                      </a:endParaRPr>
                    </a:p>
                  </a:txBody>
                  <a:tcPr marL="76200" marR="76200" marT="50800" marB="50800"/>
                </a:tc>
                <a:extLst>
                  <a:ext uri="{0D108BD9-81ED-4DB2-BD59-A6C34878D82A}">
                    <a16:rowId xmlns:a16="http://schemas.microsoft.com/office/drawing/2014/main" val="80439868"/>
                  </a:ext>
                </a:extLst>
              </a:tr>
              <a:tr h="498567">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LSTM Autoencoder</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0.9822</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0.93</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0.05</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3rd</a:t>
                      </a:r>
                      <a:endParaRPr lang="en-PK" sz="1800" b="0" u="none" strike="noStrike" kern="1200" cap="none">
                        <a:solidFill>
                          <a:srgbClr val="333333"/>
                        </a:solidFill>
                        <a:latin typeface="+mn-lt"/>
                        <a:ea typeface="+mn-ea"/>
                        <a:cs typeface="+mn-cs"/>
                      </a:endParaRPr>
                    </a:p>
                  </a:txBody>
                  <a:tcPr marL="76200" marR="76200" marT="50800" marB="50800"/>
                </a:tc>
                <a:extLst>
                  <a:ext uri="{0D108BD9-81ED-4DB2-BD59-A6C34878D82A}">
                    <a16:rowId xmlns:a16="http://schemas.microsoft.com/office/drawing/2014/main" val="2029922477"/>
                  </a:ext>
                </a:extLst>
              </a:tr>
              <a:tr h="498567">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Isolation Forest</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0.9559</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0.04</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0.04</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4th</a:t>
                      </a:r>
                      <a:endParaRPr lang="en-PK" sz="1800" b="0" u="none" strike="noStrike" kern="1200" cap="none">
                        <a:solidFill>
                          <a:srgbClr val="333333"/>
                        </a:solidFill>
                        <a:latin typeface="+mn-lt"/>
                        <a:ea typeface="+mn-ea"/>
                        <a:cs typeface="+mn-cs"/>
                      </a:endParaRPr>
                    </a:p>
                  </a:txBody>
                  <a:tcPr marL="76200" marR="76200" marT="50800" marB="50800"/>
                </a:tc>
                <a:extLst>
                  <a:ext uri="{0D108BD9-81ED-4DB2-BD59-A6C34878D82A}">
                    <a16:rowId xmlns:a16="http://schemas.microsoft.com/office/drawing/2014/main" val="2882819450"/>
                  </a:ext>
                </a:extLst>
              </a:tr>
              <a:tr h="498567">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VAE</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0.7700</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0.16</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0.01</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5th</a:t>
                      </a:r>
                      <a:endParaRPr lang="en-PK" sz="1800" b="0" u="none" strike="noStrike" kern="1200" cap="none">
                        <a:solidFill>
                          <a:srgbClr val="333333"/>
                        </a:solidFill>
                        <a:latin typeface="+mn-lt"/>
                        <a:ea typeface="+mn-ea"/>
                        <a:cs typeface="+mn-cs"/>
                      </a:endParaRPr>
                    </a:p>
                  </a:txBody>
                  <a:tcPr marL="76200" marR="76200" marT="50800" marB="50800"/>
                </a:tc>
                <a:extLst>
                  <a:ext uri="{0D108BD9-81ED-4DB2-BD59-A6C34878D82A}">
                    <a16:rowId xmlns:a16="http://schemas.microsoft.com/office/drawing/2014/main" val="994806026"/>
                  </a:ext>
                </a:extLst>
              </a:tr>
              <a:tr h="498567">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GAN</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0.2479</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0.12</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0.01</a:t>
                      </a:r>
                      <a:endParaRPr lang="en-PK" sz="1800" b="0" u="none" strike="noStrike" kern="1200" cap="none" dirty="0">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6th ❌</a:t>
                      </a:r>
                      <a:endParaRPr lang="en-PK" sz="1800" b="0" u="none" strike="noStrike" kern="1200" cap="none" dirty="0">
                        <a:solidFill>
                          <a:srgbClr val="333333"/>
                        </a:solidFill>
                        <a:latin typeface="+mn-lt"/>
                        <a:ea typeface="+mn-ea"/>
                        <a:cs typeface="+mn-cs"/>
                      </a:endParaRPr>
                    </a:p>
                  </a:txBody>
                  <a:tcPr marL="76200" marR="76200" marT="50800" marB="50800"/>
                </a:tc>
                <a:extLst>
                  <a:ext uri="{0D108BD9-81ED-4DB2-BD59-A6C34878D82A}">
                    <a16:rowId xmlns:a16="http://schemas.microsoft.com/office/drawing/2014/main" val="3020341745"/>
                  </a:ext>
                </a:extLst>
              </a:tr>
              <a:tr h="498567">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One-Class SVM</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0.2388</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0.01</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a:solidFill>
                            <a:srgbClr val="333333"/>
                          </a:solidFill>
                        </a:rPr>
                        <a:t>0.00</a:t>
                      </a:r>
                      <a:endParaRPr lang="en-PK" sz="1800" b="0" u="none" strike="noStrike" kern="1200" cap="none">
                        <a:solidFill>
                          <a:srgbClr val="333333"/>
                        </a:solidFill>
                        <a:latin typeface="+mn-lt"/>
                        <a:ea typeface="+mn-ea"/>
                        <a:cs typeface="+mn-cs"/>
                      </a:endParaRPr>
                    </a:p>
                  </a:txBody>
                  <a:tcPr marL="76200" marR="76200" marT="50800" marB="50800"/>
                </a:tc>
                <a:tc>
                  <a:txBody>
                    <a:bodyPr/>
                    <a:lstStyle/>
                    <a:p>
                      <a:pPr marL="0" marR="0" lvl="0" indent="0" algn="l" defTabSz="914400" rtl="0" eaLnBrk="1" latinLnBrk="0" hangingPunct="1">
                        <a:spcBef>
                          <a:spcPts val="0"/>
                        </a:spcBef>
                        <a:spcAft>
                          <a:spcPts val="0"/>
                        </a:spcAft>
                        <a:buNone/>
                      </a:pPr>
                      <a:r>
                        <a:rPr lang="en-PK" sz="1800" b="0" u="none" strike="noStrike" kern="1200" cap="none" dirty="0">
                          <a:solidFill>
                            <a:srgbClr val="333333"/>
                          </a:solidFill>
                        </a:rPr>
                        <a:t>7th ❌</a:t>
                      </a:r>
                      <a:endParaRPr lang="en-PK" sz="1800" b="0" u="none" strike="noStrike" kern="1200" cap="none" dirty="0">
                        <a:solidFill>
                          <a:srgbClr val="333333"/>
                        </a:solidFill>
                        <a:latin typeface="+mn-lt"/>
                        <a:ea typeface="+mn-ea"/>
                        <a:cs typeface="+mn-cs"/>
                      </a:endParaRPr>
                    </a:p>
                  </a:txBody>
                  <a:tcPr marL="76200" marR="76200" marT="50800" marB="50800"/>
                </a:tc>
                <a:extLst>
                  <a:ext uri="{0D108BD9-81ED-4DB2-BD59-A6C34878D82A}">
                    <a16:rowId xmlns:a16="http://schemas.microsoft.com/office/drawing/2014/main" val="3158595811"/>
                  </a:ext>
                </a:extLst>
              </a:tr>
            </a:tbl>
          </a:graphicData>
        </a:graphic>
      </p:graphicFrame>
      <p:sp>
        <p:nvSpPr>
          <p:cNvPr id="4" name="TextBox 3">
            <a:extLst>
              <a:ext uri="{FF2B5EF4-FFF2-40B4-BE49-F238E27FC236}">
                <a16:creationId xmlns:a16="http://schemas.microsoft.com/office/drawing/2014/main" id="{F326E8B8-8AD8-A479-9D98-11447291E9D5}"/>
              </a:ext>
            </a:extLst>
          </p:cNvPr>
          <p:cNvSpPr txBox="1"/>
          <p:nvPr/>
        </p:nvSpPr>
        <p:spPr>
          <a:xfrm>
            <a:off x="1028699" y="528578"/>
            <a:ext cx="8910083" cy="938719"/>
          </a:xfrm>
          <a:prstGeom prst="rect">
            <a:avLst/>
          </a:prstGeom>
          <a:noFill/>
        </p:spPr>
        <p:txBody>
          <a:bodyPr wrap="square">
            <a:spAutoFit/>
          </a:bodyPr>
          <a:lstStyle/>
          <a:p>
            <a:pPr>
              <a:spcBef>
                <a:spcPts val="1200"/>
              </a:spcBef>
              <a:spcAft>
                <a:spcPts val="600"/>
              </a:spcAft>
              <a:buNone/>
            </a:pPr>
            <a:r>
              <a:rPr lang="en-US" sz="3150" b="1" i="0" u="none" strike="noStrike" cap="none" dirty="0">
                <a:solidFill>
                  <a:srgbClr val="003366"/>
                </a:solidFill>
                <a:latin typeface="Times New Roman" panose="02020603050405020304" pitchFamily="18" charset="0"/>
                <a:ea typeface="Helvetica Neue"/>
                <a:cs typeface="Times New Roman" panose="02020603050405020304" pitchFamily="18" charset="0"/>
                <a:sym typeface="Helvetica Neue"/>
              </a:rPr>
              <a:t>Results: </a:t>
            </a:r>
            <a:r>
              <a:rPr lang="en-PK" sz="3150" b="1" dirty="0">
                <a:solidFill>
                  <a:srgbClr val="003366"/>
                </a:solidFill>
                <a:latin typeface="Times New Roman" panose="02020603050405020304" pitchFamily="18" charset="0"/>
                <a:cs typeface="Times New Roman" panose="02020603050405020304" pitchFamily="18" charset="0"/>
              </a:rPr>
              <a:t>Spark Dataset Results</a:t>
            </a:r>
          </a:p>
          <a:p>
            <a:pPr marL="0" marR="0" lvl="0" indent="0" algn="l" rtl="0">
              <a:spcBef>
                <a:spcPts val="0"/>
              </a:spcBef>
              <a:spcAft>
                <a:spcPts val="0"/>
              </a:spcAft>
              <a:buNone/>
            </a:pPr>
            <a:endParaRPr lang="en-US" sz="1800" dirty="0">
              <a:latin typeface="Times New Roman" panose="02020603050405020304" pitchFamily="18" charset="0"/>
              <a:cs typeface="Times New Roman" panose="02020603050405020304" pitchFamily="18" charset="0"/>
            </a:endParaRPr>
          </a:p>
        </p:txBody>
      </p:sp>
      <p:sp>
        <p:nvSpPr>
          <p:cNvPr id="6" name="Google Shape;347;p24">
            <a:extLst>
              <a:ext uri="{FF2B5EF4-FFF2-40B4-BE49-F238E27FC236}">
                <a16:creationId xmlns:a16="http://schemas.microsoft.com/office/drawing/2014/main" id="{599C8E1E-7888-E17A-F226-239028A9CEA5}"/>
              </a:ext>
            </a:extLst>
          </p:cNvPr>
          <p:cNvSpPr/>
          <p:nvPr/>
        </p:nvSpPr>
        <p:spPr>
          <a:xfrm>
            <a:off x="762000" y="1200150"/>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extLst>
      <p:ext uri="{BB962C8B-B14F-4D97-AF65-F5344CB8AC3E}">
        <p14:creationId xmlns:p14="http://schemas.microsoft.com/office/powerpoint/2010/main" val="323581206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C96BE19-12A2-7D02-44E2-36832A38C543}"/>
              </a:ext>
            </a:extLst>
          </p:cNvPr>
          <p:cNvGraphicFramePr>
            <a:graphicFrameLocks noGrp="1"/>
          </p:cNvGraphicFramePr>
          <p:nvPr>
            <p:extLst>
              <p:ext uri="{D42A27DB-BD31-4B8C-83A1-F6EECF244321}">
                <p14:modId xmlns:p14="http://schemas.microsoft.com/office/powerpoint/2010/main" val="3928025739"/>
              </p:ext>
            </p:extLst>
          </p:nvPr>
        </p:nvGraphicFramePr>
        <p:xfrm>
          <a:off x="762001" y="1708518"/>
          <a:ext cx="10668000" cy="4075595"/>
        </p:xfrm>
        <a:graphic>
          <a:graphicData uri="http://schemas.openxmlformats.org/drawingml/2006/table">
            <a:tbl>
              <a:tblPr>
                <a:tableStyleId>{5C22544A-7EE6-4342-B048-85BDC9FD1C3A}</a:tableStyleId>
              </a:tblPr>
              <a:tblGrid>
                <a:gridCol w="3304270">
                  <a:extLst>
                    <a:ext uri="{9D8B030D-6E8A-4147-A177-3AD203B41FA5}">
                      <a16:colId xmlns:a16="http://schemas.microsoft.com/office/drawing/2014/main" val="1040471027"/>
                    </a:ext>
                  </a:extLst>
                </a:gridCol>
                <a:gridCol w="1928944">
                  <a:extLst>
                    <a:ext uri="{9D8B030D-6E8A-4147-A177-3AD203B41FA5}">
                      <a16:colId xmlns:a16="http://schemas.microsoft.com/office/drawing/2014/main" val="953002633"/>
                    </a:ext>
                  </a:extLst>
                </a:gridCol>
                <a:gridCol w="1520929">
                  <a:extLst>
                    <a:ext uri="{9D8B030D-6E8A-4147-A177-3AD203B41FA5}">
                      <a16:colId xmlns:a16="http://schemas.microsoft.com/office/drawing/2014/main" val="10291725"/>
                    </a:ext>
                  </a:extLst>
                </a:gridCol>
                <a:gridCol w="1520929">
                  <a:extLst>
                    <a:ext uri="{9D8B030D-6E8A-4147-A177-3AD203B41FA5}">
                      <a16:colId xmlns:a16="http://schemas.microsoft.com/office/drawing/2014/main" val="4183016189"/>
                    </a:ext>
                  </a:extLst>
                </a:gridCol>
                <a:gridCol w="2392928">
                  <a:extLst>
                    <a:ext uri="{9D8B030D-6E8A-4147-A177-3AD203B41FA5}">
                      <a16:colId xmlns:a16="http://schemas.microsoft.com/office/drawing/2014/main" val="2588229013"/>
                    </a:ext>
                  </a:extLst>
                </a:gridCol>
              </a:tblGrid>
              <a:tr h="466864">
                <a:tc>
                  <a:txBody>
                    <a:bodyPr/>
                    <a:lstStyle/>
                    <a:p>
                      <a:pPr marL="0" marR="0" lvl="0" indent="0" algn="l" defTabSz="914400" rtl="0" eaLnBrk="1" latinLnBrk="0" hangingPunct="1">
                        <a:spcBef>
                          <a:spcPts val="0"/>
                        </a:spcBef>
                        <a:spcAft>
                          <a:spcPts val="0"/>
                        </a:spcAft>
                        <a:buNone/>
                      </a:pPr>
                      <a:r>
                        <a:rPr lang="en-PK" sz="1800" b="1" u="none" strike="noStrike" kern="1200" cap="none" dirty="0">
                          <a:solidFill>
                            <a:srgbClr val="003366"/>
                          </a:solidFill>
                          <a:latin typeface="+mn-lt"/>
                          <a:ea typeface="+mn-ea"/>
                          <a:cs typeface="+mn-cs"/>
                        </a:rPr>
                        <a:t>Model</a:t>
                      </a:r>
                    </a:p>
                  </a:txBody>
                  <a:tcPr marL="76200" marR="76200" marT="50800" marB="50800">
                    <a:solidFill>
                      <a:schemeClr val="tx2">
                        <a:lumMod val="75000"/>
                        <a:lumOff val="25000"/>
                      </a:schemeClr>
                    </a:solidFill>
                  </a:tcPr>
                </a:tc>
                <a:tc>
                  <a:txBody>
                    <a:bodyPr/>
                    <a:lstStyle/>
                    <a:p>
                      <a:pPr marL="0" marR="0" lvl="0" indent="0" algn="l" defTabSz="914400" rtl="0" eaLnBrk="1" latinLnBrk="0" hangingPunct="1">
                        <a:spcBef>
                          <a:spcPts val="0"/>
                        </a:spcBef>
                        <a:spcAft>
                          <a:spcPts val="0"/>
                        </a:spcAft>
                        <a:buNone/>
                      </a:pPr>
                      <a:r>
                        <a:rPr lang="en-PK" sz="1800" b="1" u="none" strike="noStrike" kern="1200" cap="none" dirty="0">
                          <a:solidFill>
                            <a:srgbClr val="003366"/>
                          </a:solidFill>
                          <a:latin typeface="+mn-lt"/>
                          <a:ea typeface="+mn-ea"/>
                          <a:cs typeface="+mn-cs"/>
                        </a:rPr>
                        <a:t>ROC-AUC</a:t>
                      </a:r>
                    </a:p>
                  </a:txBody>
                  <a:tcPr marL="76200" marR="76200" marT="50800" marB="50800">
                    <a:solidFill>
                      <a:schemeClr val="tx2">
                        <a:lumMod val="75000"/>
                        <a:lumOff val="25000"/>
                      </a:schemeClr>
                    </a:solidFill>
                  </a:tcPr>
                </a:tc>
                <a:tc>
                  <a:txBody>
                    <a:bodyPr/>
                    <a:lstStyle/>
                    <a:p>
                      <a:pPr marL="0" marR="0" lvl="0" indent="0" algn="l" defTabSz="914400" rtl="0" eaLnBrk="1" latinLnBrk="0" hangingPunct="1">
                        <a:spcBef>
                          <a:spcPts val="0"/>
                        </a:spcBef>
                        <a:spcAft>
                          <a:spcPts val="0"/>
                        </a:spcAft>
                        <a:buNone/>
                      </a:pPr>
                      <a:r>
                        <a:rPr lang="en-PK" sz="1800" b="1" u="none" strike="noStrike" kern="1200" cap="none" dirty="0">
                          <a:solidFill>
                            <a:srgbClr val="003366"/>
                          </a:solidFill>
                          <a:latin typeface="+mn-lt"/>
                          <a:ea typeface="+mn-ea"/>
                          <a:cs typeface="+mn-cs"/>
                        </a:rPr>
                        <a:t>Recall</a:t>
                      </a:r>
                    </a:p>
                  </a:txBody>
                  <a:tcPr marL="76200" marR="76200" marT="50800" marB="50800">
                    <a:solidFill>
                      <a:schemeClr val="tx2">
                        <a:lumMod val="75000"/>
                        <a:lumOff val="25000"/>
                      </a:schemeClr>
                    </a:solidFill>
                  </a:tcPr>
                </a:tc>
                <a:tc>
                  <a:txBody>
                    <a:bodyPr/>
                    <a:lstStyle/>
                    <a:p>
                      <a:pPr marL="0" marR="0" lvl="0" indent="0" algn="l" defTabSz="914400" rtl="0" eaLnBrk="1" latinLnBrk="0" hangingPunct="1">
                        <a:spcBef>
                          <a:spcPts val="0"/>
                        </a:spcBef>
                        <a:spcAft>
                          <a:spcPts val="0"/>
                        </a:spcAft>
                        <a:buNone/>
                      </a:pPr>
                      <a:r>
                        <a:rPr lang="en-PK" sz="1800" b="1" u="none" strike="noStrike" kern="1200" cap="none" dirty="0">
                          <a:solidFill>
                            <a:srgbClr val="003366"/>
                          </a:solidFill>
                          <a:latin typeface="+mn-lt"/>
                          <a:ea typeface="+mn-ea"/>
                          <a:cs typeface="+mn-cs"/>
                        </a:rPr>
                        <a:t>F1</a:t>
                      </a:r>
                    </a:p>
                  </a:txBody>
                  <a:tcPr marL="76200" marR="76200" marT="50800" marB="50800">
                    <a:solidFill>
                      <a:schemeClr val="tx2">
                        <a:lumMod val="75000"/>
                        <a:lumOff val="25000"/>
                      </a:schemeClr>
                    </a:solidFill>
                  </a:tcPr>
                </a:tc>
                <a:tc>
                  <a:txBody>
                    <a:bodyPr/>
                    <a:lstStyle/>
                    <a:p>
                      <a:pPr marL="0" marR="0" lvl="0" indent="0" algn="l" defTabSz="914400" rtl="0" eaLnBrk="1" latinLnBrk="0" hangingPunct="1">
                        <a:spcBef>
                          <a:spcPts val="0"/>
                        </a:spcBef>
                        <a:spcAft>
                          <a:spcPts val="0"/>
                        </a:spcAft>
                        <a:buNone/>
                      </a:pPr>
                      <a:r>
                        <a:rPr lang="en-PK" sz="1800" b="1" u="none" strike="noStrike" kern="1200" cap="none" dirty="0">
                          <a:solidFill>
                            <a:srgbClr val="003366"/>
                          </a:solidFill>
                          <a:latin typeface="+mn-lt"/>
                          <a:ea typeface="+mn-ea"/>
                          <a:cs typeface="+mn-cs"/>
                        </a:rPr>
                        <a:t>Note</a:t>
                      </a:r>
                    </a:p>
                  </a:txBody>
                  <a:tcPr marL="76200" marR="76200" marT="50800" marB="50800">
                    <a:solidFill>
                      <a:schemeClr val="tx2">
                        <a:lumMod val="75000"/>
                        <a:lumOff val="25000"/>
                      </a:schemeClr>
                    </a:solidFill>
                  </a:tcPr>
                </a:tc>
                <a:extLst>
                  <a:ext uri="{0D108BD9-81ED-4DB2-BD59-A6C34878D82A}">
                    <a16:rowId xmlns:a16="http://schemas.microsoft.com/office/drawing/2014/main" val="1297102956"/>
                  </a:ext>
                </a:extLst>
              </a:tr>
              <a:tr h="807547">
                <a:tc>
                  <a:txBody>
                    <a:bodyPr/>
                    <a:lstStyle/>
                    <a:p>
                      <a:pPr algn="l">
                        <a:buNone/>
                      </a:pPr>
                      <a:r>
                        <a:rPr lang="en-PK" sz="1800" dirty="0">
                          <a:effectLst/>
                        </a:rPr>
                        <a:t>Random Forest</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1.0000</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1.00</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1.00</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 Label Leakage</a:t>
                      </a:r>
                      <a:endParaRPr lang="en-PK" sz="1800">
                        <a:effectLst/>
                        <a:latin typeface="Arial" panose="020B0604020202020204" pitchFamily="34" charset="0"/>
                        <a:ea typeface="Arial" panose="020B0604020202020204" pitchFamily="34" charset="0"/>
                      </a:endParaRPr>
                    </a:p>
                  </a:txBody>
                  <a:tcPr marL="76200" marR="76200" marT="50800" marB="50800"/>
                </a:tc>
                <a:extLst>
                  <a:ext uri="{0D108BD9-81ED-4DB2-BD59-A6C34878D82A}">
                    <a16:rowId xmlns:a16="http://schemas.microsoft.com/office/drawing/2014/main" val="2593582636"/>
                  </a:ext>
                </a:extLst>
              </a:tr>
              <a:tr h="466864">
                <a:tc>
                  <a:txBody>
                    <a:bodyPr/>
                    <a:lstStyle/>
                    <a:p>
                      <a:pPr algn="l">
                        <a:buNone/>
                      </a:pPr>
                      <a:r>
                        <a:rPr lang="en-PK" sz="1800">
                          <a:effectLst/>
                        </a:rPr>
                        <a:t>CNN Classifier</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0.9617</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0.84</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0.91</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 Reliable</a:t>
                      </a:r>
                      <a:endParaRPr lang="en-PK" sz="1800">
                        <a:effectLst/>
                        <a:latin typeface="Arial" panose="020B0604020202020204" pitchFamily="34" charset="0"/>
                        <a:ea typeface="Arial" panose="020B0604020202020204" pitchFamily="34" charset="0"/>
                      </a:endParaRPr>
                    </a:p>
                  </a:txBody>
                  <a:tcPr marL="76200" marR="76200" marT="50800" marB="50800"/>
                </a:tc>
                <a:extLst>
                  <a:ext uri="{0D108BD9-81ED-4DB2-BD59-A6C34878D82A}">
                    <a16:rowId xmlns:a16="http://schemas.microsoft.com/office/drawing/2014/main" val="732718329"/>
                  </a:ext>
                </a:extLst>
              </a:tr>
              <a:tr h="466864">
                <a:tc>
                  <a:txBody>
                    <a:bodyPr/>
                    <a:lstStyle/>
                    <a:p>
                      <a:pPr algn="l">
                        <a:buNone/>
                      </a:pPr>
                      <a:r>
                        <a:rPr lang="en-PK" sz="1800" dirty="0">
                          <a:effectLst/>
                        </a:rPr>
                        <a:t>LSTM Autoencoder</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0.6519</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0.29</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0.45</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Average</a:t>
                      </a:r>
                      <a:endParaRPr lang="en-PK" sz="1800">
                        <a:effectLst/>
                        <a:latin typeface="Arial" panose="020B0604020202020204" pitchFamily="34" charset="0"/>
                        <a:ea typeface="Arial" panose="020B0604020202020204" pitchFamily="34" charset="0"/>
                      </a:endParaRPr>
                    </a:p>
                  </a:txBody>
                  <a:tcPr marL="76200" marR="76200" marT="50800" marB="50800"/>
                </a:tc>
                <a:extLst>
                  <a:ext uri="{0D108BD9-81ED-4DB2-BD59-A6C34878D82A}">
                    <a16:rowId xmlns:a16="http://schemas.microsoft.com/office/drawing/2014/main" val="3096906917"/>
                  </a:ext>
                </a:extLst>
              </a:tr>
              <a:tr h="466864">
                <a:tc>
                  <a:txBody>
                    <a:bodyPr/>
                    <a:lstStyle/>
                    <a:p>
                      <a:pPr algn="l">
                        <a:buNone/>
                      </a:pPr>
                      <a:r>
                        <a:rPr lang="en-PK" sz="1800">
                          <a:effectLst/>
                        </a:rPr>
                        <a:t>GAN</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0.6133</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0.01</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0.03</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 Poor</a:t>
                      </a:r>
                      <a:endParaRPr lang="en-PK" sz="1800" dirty="0">
                        <a:effectLst/>
                        <a:latin typeface="Arial" panose="020B0604020202020204" pitchFamily="34" charset="0"/>
                        <a:ea typeface="Arial" panose="020B0604020202020204" pitchFamily="34" charset="0"/>
                      </a:endParaRPr>
                    </a:p>
                  </a:txBody>
                  <a:tcPr marL="76200" marR="76200" marT="50800" marB="50800"/>
                </a:tc>
                <a:extLst>
                  <a:ext uri="{0D108BD9-81ED-4DB2-BD59-A6C34878D82A}">
                    <a16:rowId xmlns:a16="http://schemas.microsoft.com/office/drawing/2014/main" val="2350705500"/>
                  </a:ext>
                </a:extLst>
              </a:tr>
              <a:tr h="466864">
                <a:tc>
                  <a:txBody>
                    <a:bodyPr/>
                    <a:lstStyle/>
                    <a:p>
                      <a:pPr algn="l">
                        <a:buNone/>
                      </a:pPr>
                      <a:r>
                        <a:rPr lang="en-PK" sz="1800">
                          <a:effectLst/>
                        </a:rPr>
                        <a:t>VAE</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0.5235</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0.07</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0.12</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 Poor</a:t>
                      </a:r>
                      <a:endParaRPr lang="en-PK" sz="1800" dirty="0">
                        <a:effectLst/>
                        <a:latin typeface="Arial" panose="020B0604020202020204" pitchFamily="34" charset="0"/>
                        <a:ea typeface="Arial" panose="020B0604020202020204" pitchFamily="34" charset="0"/>
                      </a:endParaRPr>
                    </a:p>
                  </a:txBody>
                  <a:tcPr marL="76200" marR="76200" marT="50800" marB="50800"/>
                </a:tc>
                <a:extLst>
                  <a:ext uri="{0D108BD9-81ED-4DB2-BD59-A6C34878D82A}">
                    <a16:rowId xmlns:a16="http://schemas.microsoft.com/office/drawing/2014/main" val="242998160"/>
                  </a:ext>
                </a:extLst>
              </a:tr>
              <a:tr h="466864">
                <a:tc>
                  <a:txBody>
                    <a:bodyPr/>
                    <a:lstStyle/>
                    <a:p>
                      <a:pPr algn="l">
                        <a:buNone/>
                      </a:pPr>
                      <a:r>
                        <a:rPr lang="en-PK" sz="1800" dirty="0">
                          <a:effectLst/>
                        </a:rPr>
                        <a:t>One-Class SVM</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0.2383</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0.20</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0.32</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 Poor</a:t>
                      </a:r>
                      <a:endParaRPr lang="en-PK" sz="1800" dirty="0">
                        <a:effectLst/>
                        <a:latin typeface="Arial" panose="020B0604020202020204" pitchFamily="34" charset="0"/>
                        <a:ea typeface="Arial" panose="020B0604020202020204" pitchFamily="34" charset="0"/>
                      </a:endParaRPr>
                    </a:p>
                  </a:txBody>
                  <a:tcPr marL="76200" marR="76200" marT="50800" marB="50800"/>
                </a:tc>
                <a:extLst>
                  <a:ext uri="{0D108BD9-81ED-4DB2-BD59-A6C34878D82A}">
                    <a16:rowId xmlns:a16="http://schemas.microsoft.com/office/drawing/2014/main" val="2591253701"/>
                  </a:ext>
                </a:extLst>
              </a:tr>
              <a:tr h="466864">
                <a:tc>
                  <a:txBody>
                    <a:bodyPr/>
                    <a:lstStyle/>
                    <a:p>
                      <a:pPr algn="l">
                        <a:buNone/>
                      </a:pPr>
                      <a:r>
                        <a:rPr lang="en-PK" sz="1800" dirty="0">
                          <a:effectLst/>
                        </a:rPr>
                        <a:t>Isolation Forest</a:t>
                      </a:r>
                      <a:endParaRPr lang="en-PK" sz="1800" dirty="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0.2092</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0.46</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a:effectLst/>
                        </a:rPr>
                        <a:t>0.60</a:t>
                      </a:r>
                      <a:endParaRPr lang="en-PK" sz="1800">
                        <a:effectLst/>
                        <a:latin typeface="Arial" panose="020B0604020202020204" pitchFamily="34" charset="0"/>
                        <a:ea typeface="Arial" panose="020B0604020202020204" pitchFamily="34" charset="0"/>
                      </a:endParaRPr>
                    </a:p>
                  </a:txBody>
                  <a:tcPr marL="76200" marR="76200" marT="50800" marB="50800"/>
                </a:tc>
                <a:tc>
                  <a:txBody>
                    <a:bodyPr/>
                    <a:lstStyle/>
                    <a:p>
                      <a:pPr algn="l">
                        <a:buNone/>
                      </a:pPr>
                      <a:r>
                        <a:rPr lang="en-PK" sz="1800" dirty="0">
                          <a:effectLst/>
                        </a:rPr>
                        <a:t>❌ Poor</a:t>
                      </a:r>
                      <a:endParaRPr lang="en-PK" sz="1800" dirty="0">
                        <a:effectLst/>
                        <a:latin typeface="Arial" panose="020B0604020202020204" pitchFamily="34" charset="0"/>
                        <a:ea typeface="Arial" panose="020B0604020202020204" pitchFamily="34" charset="0"/>
                      </a:endParaRPr>
                    </a:p>
                  </a:txBody>
                  <a:tcPr marL="76200" marR="76200" marT="50800" marB="50800"/>
                </a:tc>
                <a:extLst>
                  <a:ext uri="{0D108BD9-81ED-4DB2-BD59-A6C34878D82A}">
                    <a16:rowId xmlns:a16="http://schemas.microsoft.com/office/drawing/2014/main" val="2459104397"/>
                  </a:ext>
                </a:extLst>
              </a:tr>
            </a:tbl>
          </a:graphicData>
        </a:graphic>
      </p:graphicFrame>
      <p:sp>
        <p:nvSpPr>
          <p:cNvPr id="4" name="TextBox 3">
            <a:extLst>
              <a:ext uri="{FF2B5EF4-FFF2-40B4-BE49-F238E27FC236}">
                <a16:creationId xmlns:a16="http://schemas.microsoft.com/office/drawing/2014/main" id="{F7197D80-E5BF-0C81-D0A6-039EB213621C}"/>
              </a:ext>
            </a:extLst>
          </p:cNvPr>
          <p:cNvSpPr txBox="1"/>
          <p:nvPr/>
        </p:nvSpPr>
        <p:spPr>
          <a:xfrm>
            <a:off x="1028699" y="528578"/>
            <a:ext cx="8910083" cy="938719"/>
          </a:xfrm>
          <a:prstGeom prst="rect">
            <a:avLst/>
          </a:prstGeom>
          <a:noFill/>
        </p:spPr>
        <p:txBody>
          <a:bodyPr wrap="square">
            <a:spAutoFit/>
          </a:bodyPr>
          <a:lstStyle/>
          <a:p>
            <a:pPr>
              <a:spcBef>
                <a:spcPts val="1200"/>
              </a:spcBef>
              <a:spcAft>
                <a:spcPts val="600"/>
              </a:spcAft>
              <a:buNone/>
            </a:pPr>
            <a:r>
              <a:rPr lang="en-US" sz="3150" b="1" i="0" u="none" strike="noStrike" cap="none" dirty="0">
                <a:solidFill>
                  <a:srgbClr val="003366"/>
                </a:solidFill>
                <a:latin typeface="Times New Roman" panose="02020603050405020304" pitchFamily="18" charset="0"/>
                <a:ea typeface="Helvetica Neue"/>
                <a:cs typeface="Times New Roman" panose="02020603050405020304" pitchFamily="18" charset="0"/>
                <a:sym typeface="Helvetica Neue"/>
              </a:rPr>
              <a:t>Results: </a:t>
            </a:r>
            <a:r>
              <a:rPr lang="en-PK" sz="3150" b="1" dirty="0">
                <a:solidFill>
                  <a:srgbClr val="003366"/>
                </a:solidFill>
                <a:latin typeface="Times New Roman" panose="02020603050405020304" pitchFamily="18" charset="0"/>
                <a:cs typeface="Times New Roman" panose="02020603050405020304" pitchFamily="18" charset="0"/>
              </a:rPr>
              <a:t>Hadoop</a:t>
            </a:r>
            <a:r>
              <a:rPr lang="en-PK" b="1" dirty="0"/>
              <a:t> </a:t>
            </a:r>
            <a:r>
              <a:rPr lang="en-PK" sz="3150" b="1" dirty="0">
                <a:solidFill>
                  <a:srgbClr val="003366"/>
                </a:solidFill>
                <a:latin typeface="Times New Roman" panose="02020603050405020304" pitchFamily="18" charset="0"/>
                <a:cs typeface="Times New Roman" panose="02020603050405020304" pitchFamily="18" charset="0"/>
              </a:rPr>
              <a:t> Dataset Results</a:t>
            </a:r>
          </a:p>
          <a:p>
            <a:pPr marL="0" marR="0" lvl="0" indent="0" algn="l" rtl="0">
              <a:spcBef>
                <a:spcPts val="0"/>
              </a:spcBef>
              <a:spcAft>
                <a:spcPts val="0"/>
              </a:spcAft>
              <a:buNone/>
            </a:pPr>
            <a:endParaRPr lang="en-US" sz="1800" dirty="0">
              <a:latin typeface="Times New Roman" panose="02020603050405020304" pitchFamily="18" charset="0"/>
              <a:cs typeface="Times New Roman" panose="02020603050405020304" pitchFamily="18" charset="0"/>
            </a:endParaRPr>
          </a:p>
        </p:txBody>
      </p:sp>
      <p:sp>
        <p:nvSpPr>
          <p:cNvPr id="6" name="Google Shape;347;p24">
            <a:extLst>
              <a:ext uri="{FF2B5EF4-FFF2-40B4-BE49-F238E27FC236}">
                <a16:creationId xmlns:a16="http://schemas.microsoft.com/office/drawing/2014/main" id="{D1B1E8FB-9B09-43FE-F863-8D7E57E8D419}"/>
              </a:ext>
            </a:extLst>
          </p:cNvPr>
          <p:cNvSpPr/>
          <p:nvPr/>
        </p:nvSpPr>
        <p:spPr>
          <a:xfrm>
            <a:off x="762000" y="1200150"/>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extLst>
      <p:ext uri="{BB962C8B-B14F-4D97-AF65-F5344CB8AC3E}">
        <p14:creationId xmlns:p14="http://schemas.microsoft.com/office/powerpoint/2010/main" val="50770266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97"/>
        <p:cNvGrpSpPr/>
        <p:nvPr/>
      </p:nvGrpSpPr>
      <p:grpSpPr>
        <a:xfrm>
          <a:off x="0" y="0"/>
          <a:ext cx="0" cy="0"/>
          <a:chOff x="0" y="0"/>
          <a:chExt cx="0" cy="0"/>
        </a:xfrm>
      </p:grpSpPr>
      <p:pic>
        <p:nvPicPr>
          <p:cNvPr id="399" name="Google Shape;399;p25" descr="image.png"/>
          <p:cNvPicPr preferRelativeResize="0"/>
          <p:nvPr/>
        </p:nvPicPr>
        <p:blipFill rotWithShape="1">
          <a:blip r:embed="rId3">
            <a:alphaModFix/>
          </a:blip>
          <a:srcRect/>
          <a:stretch/>
        </p:blipFill>
        <p:spPr>
          <a:xfrm>
            <a:off x="762000" y="1485900"/>
            <a:ext cx="5048250" cy="4363640"/>
          </a:xfrm>
          <a:prstGeom prst="rect">
            <a:avLst/>
          </a:prstGeom>
          <a:noFill/>
          <a:ln>
            <a:noFill/>
          </a:ln>
        </p:spPr>
      </p:pic>
      <p:pic>
        <p:nvPicPr>
          <p:cNvPr id="400" name="Google Shape;400;p25" descr="image.png"/>
          <p:cNvPicPr preferRelativeResize="0"/>
          <p:nvPr/>
        </p:nvPicPr>
        <p:blipFill rotWithShape="1">
          <a:blip r:embed="rId4">
            <a:alphaModFix/>
          </a:blip>
          <a:srcRect/>
          <a:stretch/>
        </p:blipFill>
        <p:spPr>
          <a:xfrm>
            <a:off x="6381750" y="1485900"/>
            <a:ext cx="5048250" cy="3632299"/>
          </a:xfrm>
          <a:prstGeom prst="rect">
            <a:avLst/>
          </a:prstGeom>
          <a:noFill/>
          <a:ln>
            <a:noFill/>
          </a:ln>
        </p:spPr>
      </p:pic>
      <p:sp>
        <p:nvSpPr>
          <p:cNvPr id="401" name="Google Shape;401;p25"/>
          <p:cNvSpPr txBox="1"/>
          <p:nvPr/>
        </p:nvSpPr>
        <p:spPr>
          <a:xfrm>
            <a:off x="762000" y="571500"/>
            <a:ext cx="1120140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dirty="0">
                <a:solidFill>
                  <a:srgbClr val="003366"/>
                </a:solidFill>
                <a:latin typeface="Times New Roman" panose="02020603050405020304" pitchFamily="18" charset="0"/>
                <a:ea typeface="Helvetica Neue"/>
                <a:cs typeface="Times New Roman" panose="02020603050405020304" pitchFamily="18" charset="0"/>
                <a:sym typeface="Helvetica Neue"/>
              </a:rPr>
              <a:t> Results: Spark &amp; Hadoop Evaluation</a:t>
            </a:r>
            <a:endParaRPr dirty="0">
              <a:latin typeface="Times New Roman" panose="02020603050405020304" pitchFamily="18" charset="0"/>
              <a:cs typeface="Times New Roman" panose="02020603050405020304" pitchFamily="18" charset="0"/>
            </a:endParaRPr>
          </a:p>
        </p:txBody>
      </p:sp>
      <p:sp>
        <p:nvSpPr>
          <p:cNvPr id="402" name="Google Shape;402;p25"/>
          <p:cNvSpPr/>
          <p:nvPr/>
        </p:nvSpPr>
        <p:spPr>
          <a:xfrm>
            <a:off x="762000" y="1171575"/>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
        <p:nvSpPr>
          <p:cNvPr id="405" name="Google Shape;405;p25"/>
          <p:cNvSpPr txBox="1"/>
          <p:nvPr/>
        </p:nvSpPr>
        <p:spPr>
          <a:xfrm>
            <a:off x="1104900" y="1724025"/>
            <a:ext cx="4640580" cy="32316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3366"/>
                </a:solidFill>
                <a:latin typeface="Times New Roman" panose="02020603050405020304" pitchFamily="18" charset="0"/>
                <a:ea typeface="Helvetica Neue"/>
                <a:cs typeface="Times New Roman" panose="02020603050405020304" pitchFamily="18" charset="0"/>
                <a:sym typeface="Helvetica Neue"/>
              </a:rPr>
              <a:t>Apache Spark Logs</a:t>
            </a:r>
            <a:endParaRPr>
              <a:latin typeface="Times New Roman" panose="02020603050405020304" pitchFamily="18" charset="0"/>
              <a:cs typeface="Times New Roman" panose="02020603050405020304" pitchFamily="18" charset="0"/>
            </a:endParaRPr>
          </a:p>
        </p:txBody>
      </p:sp>
      <p:sp>
        <p:nvSpPr>
          <p:cNvPr id="406" name="Google Shape;406;p25"/>
          <p:cNvSpPr txBox="1"/>
          <p:nvPr/>
        </p:nvSpPr>
        <p:spPr>
          <a:xfrm>
            <a:off x="6724650" y="1724025"/>
            <a:ext cx="4640580" cy="32316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a:solidFill>
                  <a:srgbClr val="003366"/>
                </a:solidFill>
                <a:latin typeface="Times New Roman" panose="02020603050405020304" pitchFamily="18" charset="0"/>
                <a:ea typeface="Helvetica Neue"/>
                <a:cs typeface="Times New Roman" panose="02020603050405020304" pitchFamily="18" charset="0"/>
                <a:sym typeface="Helvetica Neue"/>
              </a:rPr>
              <a:t>Hadoop Logs</a:t>
            </a:r>
            <a:endParaRPr>
              <a:latin typeface="Times New Roman" panose="02020603050405020304" pitchFamily="18" charset="0"/>
              <a:cs typeface="Times New Roman" panose="02020603050405020304" pitchFamily="18" charset="0"/>
            </a:endParaRPr>
          </a:p>
        </p:txBody>
      </p:sp>
      <p:sp>
        <p:nvSpPr>
          <p:cNvPr id="407" name="Google Shape;407;p25"/>
          <p:cNvSpPr txBox="1"/>
          <p:nvPr/>
        </p:nvSpPr>
        <p:spPr>
          <a:xfrm>
            <a:off x="1362075" y="2173605"/>
            <a:ext cx="7620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
        <p:nvSpPr>
          <p:cNvPr id="408" name="Google Shape;408;p25"/>
          <p:cNvSpPr txBox="1"/>
          <p:nvPr/>
        </p:nvSpPr>
        <p:spPr>
          <a:xfrm>
            <a:off x="1438275" y="2171700"/>
            <a:ext cx="4086225" cy="1329595"/>
          </a:xfrm>
          <a:prstGeom prst="rect">
            <a:avLst/>
          </a:prstGeom>
          <a:noFill/>
          <a:ln>
            <a:noFill/>
          </a:ln>
        </p:spPr>
        <p:txBody>
          <a:bodyPr spcFirstLastPara="1" wrap="square" lIns="76200" tIns="0" rIns="0" bIns="0" anchor="t" anchorCtr="0">
            <a:spAutoFit/>
          </a:bodyPr>
          <a:lstStyle/>
          <a:p>
            <a:pPr marL="0" marR="0" lvl="0" indent="0" algn="l" rtl="0">
              <a:lnSpc>
                <a:spcPct val="159944"/>
              </a:lnSpc>
              <a:spcBef>
                <a:spcPts val="0"/>
              </a:spcBef>
              <a:spcAft>
                <a:spcPts val="0"/>
              </a:spcAft>
              <a:buNone/>
            </a:pPr>
            <a:r>
              <a:rPr lang="en-US" sz="1800" b="1"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Traditional ML:</a:t>
            </a: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 Isolation forest achieved ROC-AUC 0.95, but F1 was only </a:t>
            </a:r>
            <a:r>
              <a:rPr lang="en-US" sz="1800" b="1"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0.04</a:t>
            </a: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 Random Forest peaked at F1 </a:t>
            </a:r>
            <a:r>
              <a:rPr lang="en-US" sz="1800" b="1"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0.44</a:t>
            </a:r>
            <a:r>
              <a:rPr lang="en-US" sz="1800" b="0" i="0" u="none" strike="noStrike" cap="none" dirty="0">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dirty="0">
              <a:latin typeface="Times New Roman" panose="02020603050405020304" pitchFamily="18" charset="0"/>
              <a:cs typeface="Times New Roman" panose="02020603050405020304" pitchFamily="18" charset="0"/>
            </a:endParaRPr>
          </a:p>
        </p:txBody>
      </p:sp>
      <p:sp>
        <p:nvSpPr>
          <p:cNvPr id="409" name="Google Shape;409;p25"/>
          <p:cNvSpPr txBox="1"/>
          <p:nvPr/>
        </p:nvSpPr>
        <p:spPr>
          <a:xfrm>
            <a:off x="1362075" y="3807737"/>
            <a:ext cx="7620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
        <p:nvSpPr>
          <p:cNvPr id="410" name="Google Shape;410;p25"/>
          <p:cNvSpPr txBox="1"/>
          <p:nvPr/>
        </p:nvSpPr>
        <p:spPr>
          <a:xfrm>
            <a:off x="1438275" y="3805832"/>
            <a:ext cx="4086225" cy="886397"/>
          </a:xfrm>
          <a:prstGeom prst="rect">
            <a:avLst/>
          </a:prstGeom>
          <a:noFill/>
          <a:ln>
            <a:noFill/>
          </a:ln>
        </p:spPr>
        <p:txBody>
          <a:bodyPr spcFirstLastPara="1" wrap="square" lIns="7620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Deep Learning:</a:t>
            </a: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 CNN achieved Recall 1.00 but Precision 0.09 (F1 </a:t>
            </a: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0.16</a:t>
            </a: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
        <p:nvSpPr>
          <p:cNvPr id="411" name="Google Shape;411;p25"/>
          <p:cNvSpPr txBox="1"/>
          <p:nvPr/>
        </p:nvSpPr>
        <p:spPr>
          <a:xfrm>
            <a:off x="1362075" y="4710529"/>
            <a:ext cx="7620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
        <p:nvSpPr>
          <p:cNvPr id="412" name="Google Shape;412;p25"/>
          <p:cNvSpPr txBox="1"/>
          <p:nvPr/>
        </p:nvSpPr>
        <p:spPr>
          <a:xfrm>
            <a:off x="1438275" y="4708624"/>
            <a:ext cx="4086225" cy="886397"/>
          </a:xfrm>
          <a:prstGeom prst="rect">
            <a:avLst/>
          </a:prstGeom>
          <a:noFill/>
          <a:ln>
            <a:noFill/>
          </a:ln>
        </p:spPr>
        <p:txBody>
          <a:bodyPr spcFirstLastPara="1" wrap="square" lIns="7620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Generative AI:</a:t>
            </a: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 LSTM-AE generated 16,562 False Positives (F1 </a:t>
            </a: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0.05</a:t>
            </a: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
        <p:nvSpPr>
          <p:cNvPr id="413" name="Google Shape;413;p25"/>
          <p:cNvSpPr txBox="1"/>
          <p:nvPr/>
        </p:nvSpPr>
        <p:spPr>
          <a:xfrm>
            <a:off x="6981825" y="2173605"/>
            <a:ext cx="7620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
        <p:nvSpPr>
          <p:cNvPr id="414" name="Google Shape;414;p25"/>
          <p:cNvSpPr txBox="1"/>
          <p:nvPr/>
        </p:nvSpPr>
        <p:spPr>
          <a:xfrm>
            <a:off x="7058025" y="2171700"/>
            <a:ext cx="4086225" cy="886397"/>
          </a:xfrm>
          <a:prstGeom prst="rect">
            <a:avLst/>
          </a:prstGeom>
          <a:noFill/>
          <a:ln>
            <a:noFill/>
          </a:ln>
        </p:spPr>
        <p:txBody>
          <a:bodyPr spcFirstLastPara="1" wrap="square" lIns="7620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Traditional ML:</a:t>
            </a: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 Random Forest achieved perfect metrics (F1 </a:t>
            </a: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1.00</a:t>
            </a: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
        <p:nvSpPr>
          <p:cNvPr id="415" name="Google Shape;415;p25"/>
          <p:cNvSpPr txBox="1"/>
          <p:nvPr/>
        </p:nvSpPr>
        <p:spPr>
          <a:xfrm>
            <a:off x="6981825" y="3076396"/>
            <a:ext cx="7620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
        <p:nvSpPr>
          <p:cNvPr id="416" name="Google Shape;416;p25"/>
          <p:cNvSpPr txBox="1"/>
          <p:nvPr/>
        </p:nvSpPr>
        <p:spPr>
          <a:xfrm>
            <a:off x="7058025" y="3074491"/>
            <a:ext cx="4086225" cy="886397"/>
          </a:xfrm>
          <a:prstGeom prst="rect">
            <a:avLst/>
          </a:prstGeom>
          <a:noFill/>
          <a:ln>
            <a:noFill/>
          </a:ln>
        </p:spPr>
        <p:txBody>
          <a:bodyPr spcFirstLastPara="1" wrap="square" lIns="7620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Deep Learning:</a:t>
            </a: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 CNN recovered performance (F1 </a:t>
            </a: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0.91</a:t>
            </a: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
        <p:nvSpPr>
          <p:cNvPr id="417" name="Google Shape;417;p25"/>
          <p:cNvSpPr txBox="1"/>
          <p:nvPr/>
        </p:nvSpPr>
        <p:spPr>
          <a:xfrm>
            <a:off x="6981825" y="3979187"/>
            <a:ext cx="7620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
        <p:nvSpPr>
          <p:cNvPr id="418" name="Google Shape;418;p25"/>
          <p:cNvSpPr txBox="1"/>
          <p:nvPr/>
        </p:nvSpPr>
        <p:spPr>
          <a:xfrm>
            <a:off x="7058025" y="3977282"/>
            <a:ext cx="4086225" cy="886397"/>
          </a:xfrm>
          <a:prstGeom prst="rect">
            <a:avLst/>
          </a:prstGeom>
          <a:noFill/>
          <a:ln>
            <a:noFill/>
          </a:ln>
        </p:spPr>
        <p:txBody>
          <a:bodyPr spcFirstLastPara="1" wrap="square" lIns="76200" tIns="0" rIns="0" bIns="0" anchor="t" anchorCtr="0">
            <a:spAutoFit/>
          </a:bodyPr>
          <a:lstStyle/>
          <a:p>
            <a:pPr marL="0" marR="0" lvl="0" indent="0" algn="l" rtl="0">
              <a:lnSpc>
                <a:spcPct val="159944"/>
              </a:lnSpc>
              <a:spcBef>
                <a:spcPts val="0"/>
              </a:spcBef>
              <a:spcAft>
                <a:spcPts val="0"/>
              </a:spcAft>
              <a:buNone/>
            </a:pP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Generative AI:</a:t>
            </a: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 LSTM-AE dropped relative to HDFS, achieving F1 </a:t>
            </a:r>
            <a:r>
              <a:rPr lang="en-US" sz="1800" b="1"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0.45</a:t>
            </a:r>
            <a:r>
              <a:rPr lang="en-US" sz="1800" b="0" i="0" u="none" strike="noStrike" cap="none">
                <a:solidFill>
                  <a:srgbClr val="333333"/>
                </a:solidFill>
                <a:latin typeface="Times New Roman" panose="02020603050405020304" pitchFamily="18" charset="0"/>
                <a:ea typeface="Helvetica Neue"/>
                <a:cs typeface="Times New Roman" panose="02020603050405020304" pitchFamily="18" charset="0"/>
                <a:sym typeface="Helvetica Neue"/>
              </a:rPr>
              <a:t>.</a:t>
            </a:r>
            <a:endParaRPr>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4" name="Google Shape;424;p26"/>
          <p:cNvSpPr txBox="1"/>
          <p:nvPr/>
        </p:nvSpPr>
        <p:spPr>
          <a:xfrm>
            <a:off x="762000" y="571500"/>
            <a:ext cx="11201400" cy="4857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3150" b="1" i="0" u="none" strike="noStrike" cap="none" dirty="0">
                <a:solidFill>
                  <a:srgbClr val="003366"/>
                </a:solidFill>
                <a:latin typeface="Times New Roman" panose="02020603050405020304" pitchFamily="18" charset="0"/>
                <a:ea typeface="Helvetica Neue"/>
                <a:cs typeface="Times New Roman" panose="02020603050405020304" pitchFamily="18" charset="0"/>
                <a:sym typeface="Helvetica Neue"/>
              </a:rPr>
              <a:t>Overall Synthesis Matrix</a:t>
            </a:r>
            <a:endParaRPr dirty="0">
              <a:latin typeface="Times New Roman" panose="02020603050405020304" pitchFamily="18" charset="0"/>
              <a:cs typeface="Times New Roman" panose="02020603050405020304" pitchFamily="18" charset="0"/>
            </a:endParaRPr>
          </a:p>
        </p:txBody>
      </p:sp>
      <p:sp>
        <p:nvSpPr>
          <p:cNvPr id="425" name="Google Shape;425;p26"/>
          <p:cNvSpPr/>
          <p:nvPr/>
        </p:nvSpPr>
        <p:spPr>
          <a:xfrm>
            <a:off x="762000" y="1171575"/>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graphicFrame>
        <p:nvGraphicFramePr>
          <p:cNvPr id="46" name="Content Placeholder 45">
            <a:extLst>
              <a:ext uri="{FF2B5EF4-FFF2-40B4-BE49-F238E27FC236}">
                <a16:creationId xmlns:a16="http://schemas.microsoft.com/office/drawing/2014/main" id="{4B6EA312-CEB6-612B-40DD-328991C081AA}"/>
              </a:ext>
            </a:extLst>
          </p:cNvPr>
          <p:cNvGraphicFramePr>
            <a:graphicFrameLocks/>
          </p:cNvGraphicFramePr>
          <p:nvPr>
            <p:extLst>
              <p:ext uri="{D42A27DB-BD31-4B8C-83A1-F6EECF244321}">
                <p14:modId xmlns:p14="http://schemas.microsoft.com/office/powerpoint/2010/main" val="2440635284"/>
              </p:ext>
            </p:extLst>
          </p:nvPr>
        </p:nvGraphicFramePr>
        <p:xfrm>
          <a:off x="762000" y="1343025"/>
          <a:ext cx="10668000" cy="5378829"/>
        </p:xfrm>
        <a:graphic>
          <a:graphicData uri="http://schemas.openxmlformats.org/drawingml/2006/table">
            <a:tbl>
              <a:tblPr firstRow="1" firstCol="1" bandRow="1">
                <a:tableStyleId>{5C22544A-7EE6-4342-B048-85BDC9FD1C3A}</a:tableStyleId>
              </a:tblPr>
              <a:tblGrid>
                <a:gridCol w="2632865">
                  <a:extLst>
                    <a:ext uri="{9D8B030D-6E8A-4147-A177-3AD203B41FA5}">
                      <a16:colId xmlns:a16="http://schemas.microsoft.com/office/drawing/2014/main" val="3656217168"/>
                    </a:ext>
                  </a:extLst>
                </a:gridCol>
                <a:gridCol w="4001467">
                  <a:extLst>
                    <a:ext uri="{9D8B030D-6E8A-4147-A177-3AD203B41FA5}">
                      <a16:colId xmlns:a16="http://schemas.microsoft.com/office/drawing/2014/main" val="1982595559"/>
                    </a:ext>
                  </a:extLst>
                </a:gridCol>
                <a:gridCol w="1214102">
                  <a:extLst>
                    <a:ext uri="{9D8B030D-6E8A-4147-A177-3AD203B41FA5}">
                      <a16:colId xmlns:a16="http://schemas.microsoft.com/office/drawing/2014/main" val="4030277859"/>
                    </a:ext>
                  </a:extLst>
                </a:gridCol>
                <a:gridCol w="1263333">
                  <a:extLst>
                    <a:ext uri="{9D8B030D-6E8A-4147-A177-3AD203B41FA5}">
                      <a16:colId xmlns:a16="http://schemas.microsoft.com/office/drawing/2014/main" val="3044342611"/>
                    </a:ext>
                  </a:extLst>
                </a:gridCol>
                <a:gridCol w="1556233">
                  <a:extLst>
                    <a:ext uri="{9D8B030D-6E8A-4147-A177-3AD203B41FA5}">
                      <a16:colId xmlns:a16="http://schemas.microsoft.com/office/drawing/2014/main" val="2518966805"/>
                    </a:ext>
                  </a:extLst>
                </a:gridCol>
              </a:tblGrid>
              <a:tr h="309035">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Model</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dirty="0">
                          <a:effectLst/>
                          <a:latin typeface="Times New Roman" panose="02020603050405020304" pitchFamily="18" charset="0"/>
                          <a:cs typeface="Times New Roman" panose="02020603050405020304" pitchFamily="18" charset="0"/>
                        </a:rPr>
                        <a:t>Category</a:t>
                      </a:r>
                      <a:endParaRPr lang="en-PK"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dirty="0">
                          <a:effectLst/>
                          <a:latin typeface="Times New Roman" panose="02020603050405020304" pitchFamily="18" charset="0"/>
                          <a:cs typeface="Times New Roman" panose="02020603050405020304" pitchFamily="18" charset="0"/>
                        </a:rPr>
                        <a:t>HDFS F1</a:t>
                      </a:r>
                      <a:endParaRPr lang="en-PK"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Spark F1</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Hadoop F1</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690936239"/>
                  </a:ext>
                </a:extLst>
              </a:tr>
              <a:tr h="372074">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XGBoost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Traditional ML (Supervised)</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0.9991</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2866682691"/>
                  </a:ext>
                </a:extLst>
              </a:tr>
              <a:tr h="372074">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SVM</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Traditional ML (Supervised)</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0.9811</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1558474586"/>
                  </a:ext>
                </a:extLst>
              </a:tr>
              <a:tr h="372074">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Random Forest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Traditional ML (Supervised)</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0.44</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1</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2650653007"/>
                  </a:ext>
                </a:extLst>
              </a:tr>
              <a:tr h="372074">
                <a:tc>
                  <a:txBody>
                    <a:bodyPr/>
                    <a:lstStyle/>
                    <a:p>
                      <a:pPr algn="just">
                        <a:lnSpc>
                          <a:spcPct val="150000"/>
                        </a:lnSpc>
                        <a:buNone/>
                      </a:pPr>
                      <a:r>
                        <a:rPr lang="en-US" sz="1800" dirty="0">
                          <a:effectLst/>
                          <a:latin typeface="Times New Roman" panose="02020603050405020304" pitchFamily="18" charset="0"/>
                          <a:cs typeface="Times New Roman" panose="02020603050405020304" pitchFamily="18" charset="0"/>
                        </a:rPr>
                        <a:t>LSTM</a:t>
                      </a:r>
                      <a:endParaRPr lang="en-PK"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Deep Learning (Supervised)</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0.9897</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4209206213"/>
                  </a:ext>
                </a:extLst>
              </a:tr>
              <a:tr h="372074">
                <a:tc>
                  <a:txBody>
                    <a:bodyPr/>
                    <a:lstStyle/>
                    <a:p>
                      <a:pPr algn="just">
                        <a:lnSpc>
                          <a:spcPct val="150000"/>
                        </a:lnSpc>
                        <a:buNone/>
                      </a:pPr>
                      <a:r>
                        <a:rPr lang="en-US" sz="1800" dirty="0">
                          <a:effectLst/>
                          <a:latin typeface="Times New Roman" panose="02020603050405020304" pitchFamily="18" charset="0"/>
                          <a:cs typeface="Times New Roman" panose="02020603050405020304" pitchFamily="18" charset="0"/>
                        </a:rPr>
                        <a:t>GRU</a:t>
                      </a:r>
                      <a:endParaRPr lang="en-PK"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Deep Learning (Supervised)</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0.9899</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1936193700"/>
                  </a:ext>
                </a:extLst>
              </a:tr>
              <a:tr h="372074">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CNN Classifier</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Deep Learning (Supervised)</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0.16</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0.91</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1548551051"/>
                  </a:ext>
                </a:extLst>
              </a:tr>
              <a:tr h="625145">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Isolation Forest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Traditional ML (Unsupervised)</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dirty="0">
                          <a:effectLst/>
                          <a:latin typeface="Times New Roman" panose="02020603050405020304" pitchFamily="18" charset="0"/>
                          <a:cs typeface="Times New Roman" panose="02020603050405020304" pitchFamily="18" charset="0"/>
                        </a:rPr>
                        <a:t>-</a:t>
                      </a:r>
                      <a:endParaRPr lang="en-PK"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0.04</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0.6</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1659661482"/>
                  </a:ext>
                </a:extLst>
              </a:tr>
              <a:tr h="625145">
                <a:tc>
                  <a:txBody>
                    <a:bodyPr/>
                    <a:lstStyle/>
                    <a:p>
                      <a:pPr algn="just">
                        <a:lnSpc>
                          <a:spcPct val="150000"/>
                        </a:lnSpc>
                        <a:buNone/>
                      </a:pPr>
                      <a:r>
                        <a:rPr lang="en-US" sz="1800" dirty="0">
                          <a:effectLst/>
                          <a:latin typeface="Times New Roman" panose="02020603050405020304" pitchFamily="18" charset="0"/>
                          <a:cs typeface="Times New Roman" panose="02020603050405020304" pitchFamily="18" charset="0"/>
                        </a:rPr>
                        <a:t>One-Class SVM</a:t>
                      </a:r>
                      <a:endParaRPr lang="en-PK"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Traditional ML (Unsupervised)</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0.32</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3900473419"/>
                  </a:ext>
                </a:extLst>
              </a:tr>
              <a:tr h="625145">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LSTM Autoencoder</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Generative / Unsupervised DL</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0.7946</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0.05</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0.45</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3044692012"/>
                  </a:ext>
                </a:extLst>
              </a:tr>
              <a:tr h="372074">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VAE / LSTM-VAE</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Generative</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0.7178</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0.01</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0.12</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2843653977"/>
                  </a:ext>
                </a:extLst>
              </a:tr>
              <a:tr h="309035">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GAN</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Generative</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a:effectLst/>
                          <a:latin typeface="Times New Roman" panose="02020603050405020304" pitchFamily="18" charset="0"/>
                          <a:cs typeface="Times New Roman" panose="02020603050405020304" pitchFamily="18" charset="0"/>
                        </a:rPr>
                        <a:t>0.01</a:t>
                      </a:r>
                      <a:endParaRPr lang="en-PK" sz="18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tc>
                  <a:txBody>
                    <a:bodyPr/>
                    <a:lstStyle/>
                    <a:p>
                      <a:pPr algn="just">
                        <a:lnSpc>
                          <a:spcPct val="150000"/>
                        </a:lnSpc>
                        <a:buNone/>
                      </a:pPr>
                      <a:r>
                        <a:rPr lang="en-US" sz="1800" dirty="0">
                          <a:effectLst/>
                          <a:latin typeface="Times New Roman" panose="02020603050405020304" pitchFamily="18" charset="0"/>
                          <a:cs typeface="Times New Roman" panose="02020603050405020304" pitchFamily="18" charset="0"/>
                        </a:rPr>
                        <a:t>0.03</a:t>
                      </a:r>
                      <a:endParaRPr lang="en-PK" sz="18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20297" marR="20297" marT="13531" marB="13531" anchor="b"/>
                </a:tc>
                <a:extLst>
                  <a:ext uri="{0D108BD9-81ED-4DB2-BD59-A6C34878D82A}">
                    <a16:rowId xmlns:a16="http://schemas.microsoft.com/office/drawing/2014/main" val="4210574203"/>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75781-89D1-6FF3-77B5-ABC40BD088D0}"/>
              </a:ext>
            </a:extLst>
          </p:cNvPr>
          <p:cNvSpPr>
            <a:spLocks noGrp="1"/>
          </p:cNvSpPr>
          <p:nvPr>
            <p:ph type="title"/>
          </p:nvPr>
        </p:nvSpPr>
        <p:spPr>
          <a:xfrm>
            <a:off x="723013" y="731837"/>
            <a:ext cx="11046542" cy="703557"/>
          </a:xfrm>
        </p:spPr>
        <p:txBody>
          <a:bodyPr>
            <a:normAutofit/>
          </a:bodyPr>
          <a:lstStyle/>
          <a:p>
            <a:r>
              <a:rPr lang="en-US" b="1" cap="none" dirty="0">
                <a:solidFill>
                  <a:srgbClr val="003366"/>
                </a:solidFill>
                <a:latin typeface="Times New Roman" panose="02020603050405020304" pitchFamily="18" charset="0"/>
                <a:ea typeface="Helvetica Neue"/>
                <a:cs typeface="Times New Roman" panose="02020603050405020304" pitchFamily="18" charset="0"/>
                <a:sym typeface="Helvetica Neue"/>
              </a:rPr>
              <a:t>Discussion On Results (Key Takeaways)</a:t>
            </a:r>
            <a:endParaRPr lang="en-PK" cap="none" dirty="0">
              <a:latin typeface="Times New Roman" panose="02020603050405020304" pitchFamily="18" charset="0"/>
              <a:cs typeface="Times New Roman" panose="02020603050405020304" pitchFamily="18" charset="0"/>
            </a:endParaRPr>
          </a:p>
        </p:txBody>
      </p:sp>
      <p:sp>
        <p:nvSpPr>
          <p:cNvPr id="48" name="Content Placeholder 47">
            <a:extLst>
              <a:ext uri="{FF2B5EF4-FFF2-40B4-BE49-F238E27FC236}">
                <a16:creationId xmlns:a16="http://schemas.microsoft.com/office/drawing/2014/main" id="{5EC9CAFC-EEC2-98E5-E823-E6797D03300A}"/>
              </a:ext>
            </a:extLst>
          </p:cNvPr>
          <p:cNvSpPr>
            <a:spLocks noGrp="1"/>
          </p:cNvSpPr>
          <p:nvPr>
            <p:ph idx="1"/>
          </p:nvPr>
        </p:nvSpPr>
        <p:spPr>
          <a:xfrm>
            <a:off x="457200" y="1600200"/>
            <a:ext cx="11184194" cy="4525963"/>
          </a:xfrm>
        </p:spPr>
        <p:txBody>
          <a:bodyPr>
            <a:normAutofit/>
          </a:bodyPr>
          <a:lstStyle/>
          <a:p>
            <a:r>
              <a:rPr lang="en-US" sz="1800" b="1" dirty="0">
                <a:solidFill>
                  <a:srgbClr val="003366"/>
                </a:solidFill>
                <a:latin typeface="Times New Roman" panose="02020603050405020304" pitchFamily="18" charset="0"/>
                <a:ea typeface="Helvetica Neue"/>
                <a:cs typeface="Times New Roman" panose="02020603050405020304" pitchFamily="18" charset="0"/>
                <a:sym typeface="Helvetica Neue"/>
              </a:rPr>
              <a:t>1. The "HDFS Illusion”</a:t>
            </a:r>
          </a:p>
          <a:p>
            <a:pPr marL="0" indent="0">
              <a:buNone/>
            </a:pPr>
            <a:r>
              <a:rPr lang="en-US" sz="1800" dirty="0">
                <a:solidFill>
                  <a:srgbClr val="333333"/>
                </a:solidFill>
                <a:latin typeface="Times New Roman" panose="02020603050405020304" pitchFamily="18" charset="0"/>
                <a:ea typeface="Helvetica Neue"/>
                <a:cs typeface="Times New Roman" panose="02020603050405020304" pitchFamily="18" charset="0"/>
                <a:sym typeface="Helvetica Neue"/>
              </a:rPr>
              <a:t>Nearly all evaluated models work exceptionally well on structured HDFS datasets (F1 &gt; 90%). This creates a false sense of security in the literature, making anomaly detection appear artificially solved.</a:t>
            </a:r>
          </a:p>
          <a:p>
            <a:r>
              <a:rPr lang="en-US" sz="1800" b="1" dirty="0">
                <a:solidFill>
                  <a:srgbClr val="003366"/>
                </a:solidFill>
                <a:latin typeface="Times New Roman" panose="02020603050405020304" pitchFamily="18" charset="0"/>
                <a:ea typeface="Helvetica Neue"/>
                <a:cs typeface="Times New Roman" panose="02020603050405020304" pitchFamily="18" charset="0"/>
                <a:sym typeface="Helvetica Neue"/>
              </a:rPr>
              <a:t>2. The "Spark Reality Check"</a:t>
            </a:r>
            <a:endParaRPr lang="en-US" sz="1800" dirty="0">
              <a:latin typeface="Times New Roman" panose="02020603050405020304" pitchFamily="18" charset="0"/>
              <a:cs typeface="Times New Roman" panose="02020603050405020304" pitchFamily="18" charset="0"/>
            </a:endParaRPr>
          </a:p>
          <a:p>
            <a:pPr marL="0" indent="0">
              <a:buNone/>
            </a:pPr>
            <a:r>
              <a:rPr lang="en-US" sz="1800" dirty="0">
                <a:solidFill>
                  <a:srgbClr val="333333"/>
                </a:solidFill>
                <a:latin typeface="Times New Roman" panose="02020603050405020304" pitchFamily="18" charset="0"/>
                <a:ea typeface="Helvetica Neue"/>
                <a:cs typeface="Times New Roman" panose="02020603050405020304" pitchFamily="18" charset="0"/>
                <a:sym typeface="Helvetica Neue"/>
              </a:rPr>
              <a:t>Complex, asynchronously overlapping Spark logs break almost every evaluated model (F1 &lt; 0.50). This proves a severe lack of true functional transferability in current supervised paradigms.</a:t>
            </a:r>
          </a:p>
          <a:p>
            <a:r>
              <a:rPr lang="en-US" sz="1800" b="1" dirty="0">
                <a:solidFill>
                  <a:srgbClr val="003366"/>
                </a:solidFill>
                <a:latin typeface="Times New Roman" panose="02020603050405020304" pitchFamily="18" charset="0"/>
                <a:ea typeface="Helvetica Neue"/>
                <a:cs typeface="Times New Roman" panose="02020603050405020304" pitchFamily="18" charset="0"/>
                <a:sym typeface="Helvetica Neue"/>
              </a:rPr>
              <a:t>3. The "Generative Struggle”</a:t>
            </a:r>
          </a:p>
          <a:p>
            <a:pPr marL="0" indent="0">
              <a:buNone/>
            </a:pPr>
            <a:r>
              <a:rPr lang="en-US" sz="1800" dirty="0">
                <a:solidFill>
                  <a:srgbClr val="333333"/>
                </a:solidFill>
                <a:latin typeface="Times New Roman" panose="02020603050405020304" pitchFamily="18" charset="0"/>
                <a:ea typeface="Helvetica Neue"/>
                <a:cs typeface="Times New Roman" panose="02020603050405020304" pitchFamily="18" charset="0"/>
                <a:sym typeface="Helvetica Neue"/>
              </a:rPr>
              <a:t>Generative models successfully eliminate manual feature engineering and identify zero-day anomalies via strong ROC-AUC. However, they are highly noise-sensitive, leading to massive false positive rates on dynamic systems.</a:t>
            </a:r>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PK"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90718851"/>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8038A-D0E2-4B3A-18BD-6C965846FFE5}"/>
              </a:ext>
            </a:extLst>
          </p:cNvPr>
          <p:cNvSpPr>
            <a:spLocks noGrp="1"/>
          </p:cNvSpPr>
          <p:nvPr>
            <p:ph type="title"/>
          </p:nvPr>
        </p:nvSpPr>
        <p:spPr/>
        <p:txBody>
          <a:bodyPr/>
          <a:lstStyle/>
          <a:p>
            <a:r>
              <a:rPr lang="en-US" b="1" cap="none" dirty="0">
                <a:solidFill>
                  <a:srgbClr val="003366"/>
                </a:solidFill>
                <a:latin typeface="Times New Roman" panose="02020603050405020304" pitchFamily="18" charset="0"/>
                <a:cs typeface="Times New Roman" panose="02020603050405020304" pitchFamily="18" charset="0"/>
                <a:sym typeface="Poppins SemiBold"/>
              </a:rPr>
              <a:t>Generative Model Failures</a:t>
            </a:r>
            <a:endParaRPr lang="en-PK" b="1" cap="none" dirty="0">
              <a:solidFill>
                <a:srgbClr val="003366"/>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6F27784-B0E7-FDEA-6E5F-962F3F29A941}"/>
              </a:ext>
            </a:extLst>
          </p:cNvPr>
          <p:cNvSpPr>
            <a:spLocks noGrp="1"/>
          </p:cNvSpPr>
          <p:nvPr>
            <p:ph idx="1"/>
          </p:nvPr>
        </p:nvSpPr>
        <p:spPr/>
        <p:txBody>
          <a:bodyPr>
            <a:normAutofit/>
          </a:bodyPr>
          <a:lstStyle/>
          <a:p>
            <a:r>
              <a:rPr lang="en-US" sz="1800" b="1" dirty="0">
                <a:solidFill>
                  <a:srgbClr val="003366"/>
                </a:solidFill>
                <a:latin typeface="Times New Roman" panose="02020603050405020304" pitchFamily="18" charset="0"/>
                <a:cs typeface="Times New Roman" panose="02020603050405020304" pitchFamily="18" charset="0"/>
                <a:sym typeface="Poppins SemiBold"/>
              </a:rPr>
              <a:t>GANs: Structural Mismatch</a:t>
            </a:r>
            <a:endParaRPr lang="en-US" sz="1800" b="1" dirty="0">
              <a:solidFill>
                <a:srgbClr val="003366"/>
              </a:solidFill>
              <a:latin typeface="Times New Roman" panose="02020603050405020304" pitchFamily="18" charset="0"/>
              <a:cs typeface="Times New Roman" panose="02020603050405020304" pitchFamily="18" charset="0"/>
            </a:endParaRPr>
          </a:p>
          <a:p>
            <a:r>
              <a:rPr lang="en-US" sz="1800" dirty="0">
                <a:solidFill>
                  <a:srgbClr val="333333"/>
                </a:solidFill>
                <a:latin typeface="Times New Roman" panose="02020603050405020304" pitchFamily="18" charset="0"/>
                <a:cs typeface="Times New Roman" panose="02020603050405020304" pitchFamily="18" charset="0"/>
                <a:sym typeface="Inter"/>
              </a:rPr>
              <a:t>GANs require highly diverse, dynamic data to function. Log data, however, is rigidly structured and repetitive. This leads directly to Mode Collapse—the GAN simply generates one specific type of fake data over and over.</a:t>
            </a:r>
            <a:br>
              <a:rPr lang="en-US" sz="1800" dirty="0">
                <a:solidFill>
                  <a:srgbClr val="333333"/>
                </a:solidFill>
                <a:latin typeface="Times New Roman" panose="02020603050405020304" pitchFamily="18" charset="0"/>
                <a:cs typeface="Times New Roman" panose="02020603050405020304" pitchFamily="18" charset="0"/>
                <a:sym typeface="Calibri"/>
              </a:rPr>
            </a:br>
            <a:br>
              <a:rPr lang="en-US" sz="1800" dirty="0">
                <a:solidFill>
                  <a:srgbClr val="333333"/>
                </a:solidFill>
                <a:latin typeface="Times New Roman" panose="02020603050405020304" pitchFamily="18" charset="0"/>
                <a:cs typeface="Times New Roman" panose="02020603050405020304" pitchFamily="18" charset="0"/>
                <a:sym typeface="Calibri"/>
              </a:rPr>
            </a:br>
            <a:r>
              <a:rPr lang="en-US" sz="1800" dirty="0">
                <a:solidFill>
                  <a:srgbClr val="333333"/>
                </a:solidFill>
                <a:latin typeface="Times New Roman" panose="02020603050405020304" pitchFamily="18" charset="0"/>
                <a:cs typeface="Times New Roman" panose="02020603050405020304" pitchFamily="18" charset="0"/>
                <a:sym typeface="Inter"/>
              </a:rPr>
              <a:t>Analogy: A GAN is like a creative artist tasked with spotting accounting fraud. It fundamentally isn't designed for the job.</a:t>
            </a:r>
          </a:p>
          <a:p>
            <a:endParaRPr lang="en-US" sz="1800" dirty="0">
              <a:solidFill>
                <a:srgbClr val="333333"/>
              </a:solidFill>
              <a:latin typeface="Times New Roman" panose="02020603050405020304" pitchFamily="18" charset="0"/>
              <a:cs typeface="Times New Roman" panose="02020603050405020304" pitchFamily="18" charset="0"/>
            </a:endParaRPr>
          </a:p>
          <a:p>
            <a:r>
              <a:rPr lang="en-US" sz="1800" b="1" dirty="0">
                <a:solidFill>
                  <a:srgbClr val="003366"/>
                </a:solidFill>
                <a:latin typeface="Times New Roman" panose="02020603050405020304" pitchFamily="18" charset="0"/>
                <a:cs typeface="Times New Roman" panose="02020603050405020304" pitchFamily="18" charset="0"/>
                <a:sym typeface="Poppins SemiBold"/>
              </a:rPr>
              <a:t>VAEs: Blurry Reconstruction</a:t>
            </a:r>
            <a:endParaRPr lang="en-US" sz="1800" b="1" dirty="0">
              <a:solidFill>
                <a:srgbClr val="003366"/>
              </a:solidFill>
              <a:latin typeface="Times New Roman" panose="02020603050405020304" pitchFamily="18" charset="0"/>
              <a:cs typeface="Times New Roman" panose="02020603050405020304" pitchFamily="18" charset="0"/>
            </a:endParaRPr>
          </a:p>
          <a:p>
            <a:r>
              <a:rPr lang="en-US" sz="1800" dirty="0">
                <a:solidFill>
                  <a:srgbClr val="333333"/>
                </a:solidFill>
                <a:latin typeface="Times New Roman" panose="02020603050405020304" pitchFamily="18" charset="0"/>
                <a:cs typeface="Times New Roman" panose="02020603050405020304" pitchFamily="18" charset="0"/>
                <a:sym typeface="Inter"/>
              </a:rPr>
              <a:t>Variational Autoencoders produce "blurry" reconstructions by design. Because they generalize, the fine, crucial details in anomalous log lines are completely lost, making the reconstruction error between normal and anomalous logs indistinguishable.</a:t>
            </a:r>
            <a:br>
              <a:rPr lang="en-US" sz="1800" dirty="0">
                <a:solidFill>
                  <a:srgbClr val="333333"/>
                </a:solidFill>
                <a:latin typeface="Times New Roman" panose="02020603050405020304" pitchFamily="18" charset="0"/>
                <a:cs typeface="Times New Roman" panose="02020603050405020304" pitchFamily="18" charset="0"/>
                <a:sym typeface="Calibri"/>
              </a:rPr>
            </a:br>
            <a:br>
              <a:rPr lang="en-US" sz="1800" dirty="0">
                <a:solidFill>
                  <a:srgbClr val="333333"/>
                </a:solidFill>
                <a:latin typeface="Times New Roman" panose="02020603050405020304" pitchFamily="18" charset="0"/>
                <a:cs typeface="Times New Roman" panose="02020603050405020304" pitchFamily="18" charset="0"/>
                <a:sym typeface="Calibri"/>
              </a:rPr>
            </a:br>
            <a:r>
              <a:rPr lang="en-US" sz="1800" dirty="0">
                <a:solidFill>
                  <a:srgbClr val="333333"/>
                </a:solidFill>
                <a:latin typeface="Times New Roman" panose="02020603050405020304" pitchFamily="18" charset="0"/>
                <a:cs typeface="Times New Roman" panose="02020603050405020304" pitchFamily="18" charset="0"/>
                <a:sym typeface="Inter"/>
              </a:rPr>
              <a:t>Analogy: A VAE is like a cheap photocopier that blurs both a perfectly normal page and a torn page alike.</a:t>
            </a:r>
            <a:endParaRPr lang="en-US" sz="1800" dirty="0">
              <a:solidFill>
                <a:srgbClr val="333333"/>
              </a:solidFill>
              <a:latin typeface="Times New Roman" panose="02020603050405020304" pitchFamily="18" charset="0"/>
              <a:cs typeface="Times New Roman" panose="02020603050405020304" pitchFamily="18" charset="0"/>
            </a:endParaRPr>
          </a:p>
          <a:p>
            <a:endParaRPr lang="en-US" sz="1800" dirty="0"/>
          </a:p>
        </p:txBody>
      </p:sp>
      <p:sp>
        <p:nvSpPr>
          <p:cNvPr id="5" name="Google Shape;299;p22">
            <a:extLst>
              <a:ext uri="{FF2B5EF4-FFF2-40B4-BE49-F238E27FC236}">
                <a16:creationId xmlns:a16="http://schemas.microsoft.com/office/drawing/2014/main" id="{D1220017-F925-F54F-845C-68CE5C46A158}"/>
              </a:ext>
            </a:extLst>
          </p:cNvPr>
          <p:cNvSpPr/>
          <p:nvPr/>
        </p:nvSpPr>
        <p:spPr>
          <a:xfrm>
            <a:off x="602986" y="1620871"/>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extLst>
      <p:ext uri="{BB962C8B-B14F-4D97-AF65-F5344CB8AC3E}">
        <p14:creationId xmlns:p14="http://schemas.microsoft.com/office/powerpoint/2010/main" val="266305814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0369-3A8B-4DD0-1528-9A2577EB4D0F}"/>
              </a:ext>
            </a:extLst>
          </p:cNvPr>
          <p:cNvSpPr>
            <a:spLocks noGrp="1"/>
          </p:cNvSpPr>
          <p:nvPr>
            <p:ph type="title"/>
          </p:nvPr>
        </p:nvSpPr>
        <p:spPr/>
        <p:txBody>
          <a:bodyPr/>
          <a:lstStyle/>
          <a:p>
            <a:r>
              <a:rPr lang="en-US" b="1" cap="none" dirty="0">
                <a:solidFill>
                  <a:srgbClr val="003366"/>
                </a:solidFill>
                <a:latin typeface="Times New Roman" panose="02020603050405020304" pitchFamily="18" charset="0"/>
                <a:cs typeface="Times New Roman" panose="02020603050405020304" pitchFamily="18" charset="0"/>
                <a:sym typeface="Poppins SemiBold"/>
              </a:rPr>
              <a:t>Thesis Core Finding and My Contribution</a:t>
            </a:r>
            <a:endParaRPr lang="en-PK" b="1" cap="none" dirty="0">
              <a:solidFill>
                <a:srgbClr val="003366"/>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A8AE484-9237-DF21-1810-6D7EE503F318}"/>
              </a:ext>
            </a:extLst>
          </p:cNvPr>
          <p:cNvSpPr>
            <a:spLocks noGrp="1"/>
          </p:cNvSpPr>
          <p:nvPr>
            <p:ph idx="1"/>
          </p:nvPr>
        </p:nvSpPr>
        <p:spPr/>
        <p:txBody>
          <a:bodyPr>
            <a:normAutofit fontScale="85000" lnSpcReduction="20000"/>
          </a:bodyPr>
          <a:lstStyle/>
          <a:p>
            <a:pPr algn="ctr"/>
            <a:r>
              <a:rPr lang="en-US" sz="3600" b="1" dirty="0">
                <a:solidFill>
                  <a:srgbClr val="38BDF8"/>
                </a:solidFill>
                <a:latin typeface="Times New Roman" panose="02020603050405020304" pitchFamily="18" charset="0"/>
                <a:ea typeface="Poppins"/>
                <a:cs typeface="Times New Roman" panose="02020603050405020304" pitchFamily="18" charset="0"/>
                <a:sym typeface="Poppins"/>
              </a:rPr>
              <a:t>Supervised &gt; Unsupervised &gt; Generative</a:t>
            </a:r>
            <a:endParaRPr lang="en-US" sz="3600" dirty="0">
              <a:latin typeface="Times New Roman" panose="02020603050405020304" pitchFamily="18" charset="0"/>
              <a:cs typeface="Times New Roman" panose="02020603050405020304" pitchFamily="18" charset="0"/>
            </a:endParaRPr>
          </a:p>
          <a:p>
            <a:r>
              <a:rPr lang="en-US" sz="2100" b="1" dirty="0">
                <a:solidFill>
                  <a:schemeClr val="tx1">
                    <a:lumMod val="90000"/>
                    <a:lumOff val="10000"/>
                  </a:schemeClr>
                </a:solidFill>
                <a:latin typeface="Times New Roman" panose="02020603050405020304" pitchFamily="18" charset="0"/>
                <a:cs typeface="Times New Roman" panose="02020603050405020304" pitchFamily="18" charset="0"/>
                <a:sym typeface="Inter"/>
              </a:rPr>
              <a:t>Consistent Hierarchy Across All Datasets</a:t>
            </a:r>
            <a:endParaRPr lang="en-US" sz="2100" b="1" dirty="0">
              <a:solidFill>
                <a:schemeClr val="tx1">
                  <a:lumMod val="90000"/>
                  <a:lumOff val="10000"/>
                </a:schemeClr>
              </a:solidFill>
              <a:latin typeface="Times New Roman" panose="02020603050405020304" pitchFamily="18" charset="0"/>
              <a:cs typeface="Times New Roman" panose="02020603050405020304" pitchFamily="18" charset="0"/>
            </a:endParaRPr>
          </a:p>
          <a:p>
            <a:pPr>
              <a:lnSpc>
                <a:spcPct val="120000"/>
              </a:lnSpc>
            </a:pPr>
            <a:r>
              <a:rPr lang="en-US" sz="2100" dirty="0">
                <a:solidFill>
                  <a:srgbClr val="333333"/>
                </a:solidFill>
                <a:latin typeface="Times New Roman" panose="02020603050405020304" pitchFamily="18" charset="0"/>
                <a:cs typeface="Times New Roman" panose="02020603050405020304" pitchFamily="18" charset="0"/>
                <a:sym typeface="Inter"/>
              </a:rPr>
              <a:t>Despite removing the need for manual feature engineering, Generative models are significantly inferior to traditional supervised models for detecting anomalies in large-scale system logs due to structural mismatches and noise sensitivity.</a:t>
            </a:r>
            <a:endParaRPr lang="en-US" sz="1900" dirty="0">
              <a:solidFill>
                <a:srgbClr val="333333"/>
              </a:solidFill>
              <a:latin typeface="Times New Roman" panose="02020603050405020304" pitchFamily="18" charset="0"/>
              <a:cs typeface="Times New Roman" panose="02020603050405020304" pitchFamily="18" charset="0"/>
              <a:sym typeface="Inter"/>
            </a:endParaRPr>
          </a:p>
          <a:p>
            <a:r>
              <a:rPr lang="en-PK" sz="2100" b="1" dirty="0">
                <a:solidFill>
                  <a:schemeClr val="tx1">
                    <a:lumMod val="90000"/>
                    <a:lumOff val="10000"/>
                  </a:schemeClr>
                </a:solidFill>
                <a:latin typeface="Times New Roman" panose="02020603050405020304" pitchFamily="18" charset="0"/>
                <a:cs typeface="Times New Roman" panose="02020603050405020304" pitchFamily="18" charset="0"/>
              </a:rPr>
              <a:t>My Contributions</a:t>
            </a:r>
          </a:p>
          <a:p>
            <a:pPr lvl="0">
              <a:lnSpc>
                <a:spcPct val="140000"/>
              </a:lnSpc>
            </a:pPr>
            <a:r>
              <a:rPr lang="en-PK" sz="2100" dirty="0">
                <a:solidFill>
                  <a:srgbClr val="333333"/>
                </a:solidFill>
                <a:latin typeface="Times New Roman" panose="02020603050405020304" pitchFamily="18" charset="0"/>
                <a:cs typeface="Times New Roman" panose="02020603050405020304" pitchFamily="18" charset="0"/>
              </a:rPr>
              <a:t>Developed a comprehensive 5-phase comparative framework benchmarking across diverse architectures (HDFS, Spark, Hadoop).</a:t>
            </a:r>
          </a:p>
          <a:p>
            <a:pPr lvl="0">
              <a:lnSpc>
                <a:spcPct val="140000"/>
              </a:lnSpc>
            </a:pPr>
            <a:r>
              <a:rPr lang="en-PK" sz="2100" dirty="0">
                <a:solidFill>
                  <a:srgbClr val="333333"/>
                </a:solidFill>
                <a:latin typeface="Times New Roman" panose="02020603050405020304" pitchFamily="18" charset="0"/>
                <a:cs typeface="Times New Roman" panose="02020603050405020304" pitchFamily="18" charset="0"/>
              </a:rPr>
              <a:t>Successfully solved extreme class imbalance (93.57% vs 0.14%) via SMOTE and targeted data pollution.</a:t>
            </a:r>
          </a:p>
          <a:p>
            <a:pPr lvl="0">
              <a:lnSpc>
                <a:spcPct val="140000"/>
              </a:lnSpc>
            </a:pPr>
            <a:r>
              <a:rPr lang="en-PK" sz="2100" dirty="0">
                <a:solidFill>
                  <a:srgbClr val="333333"/>
                </a:solidFill>
                <a:latin typeface="Times New Roman" panose="02020603050405020304" pitchFamily="18" charset="0"/>
                <a:cs typeface="Times New Roman" panose="02020603050405020304" pitchFamily="18" charset="0"/>
              </a:rPr>
              <a:t>Proved the functional limitations of Generative AI vs Traditional ML, bridging a critical gap in current cybersecurity literature.</a:t>
            </a:r>
          </a:p>
          <a:p>
            <a:endParaRPr lang="en-US" sz="1800" dirty="0">
              <a:solidFill>
                <a:srgbClr val="333333"/>
              </a:solidFill>
              <a:latin typeface="Times New Roman" panose="02020603050405020304" pitchFamily="18" charset="0"/>
              <a:cs typeface="Times New Roman" panose="02020603050405020304" pitchFamily="18" charset="0"/>
            </a:endParaRPr>
          </a:p>
          <a:p>
            <a:endParaRPr lang="en-PK" sz="1800" dirty="0"/>
          </a:p>
        </p:txBody>
      </p:sp>
      <p:sp>
        <p:nvSpPr>
          <p:cNvPr id="5" name="Google Shape;299;p22">
            <a:extLst>
              <a:ext uri="{FF2B5EF4-FFF2-40B4-BE49-F238E27FC236}">
                <a16:creationId xmlns:a16="http://schemas.microsoft.com/office/drawing/2014/main" id="{93E5888D-174A-FA67-9866-9892C07F94EE}"/>
              </a:ext>
            </a:extLst>
          </p:cNvPr>
          <p:cNvSpPr/>
          <p:nvPr/>
        </p:nvSpPr>
        <p:spPr>
          <a:xfrm>
            <a:off x="602986" y="1620871"/>
            <a:ext cx="10668000" cy="28575"/>
          </a:xfrm>
          <a:prstGeom prst="rect">
            <a:avLst/>
          </a:prstGeom>
          <a:solidFill>
            <a:srgbClr val="00336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Times New Roman" panose="02020603050405020304" pitchFamily="18" charset="0"/>
              <a:ea typeface="Calibri"/>
              <a:cs typeface="Times New Roman" panose="02020603050405020304" pitchFamily="18" charset="0"/>
              <a:sym typeface="Calibri"/>
            </a:endParaRPr>
          </a:p>
        </p:txBody>
      </p:sp>
    </p:spTree>
    <p:extLst>
      <p:ext uri="{BB962C8B-B14F-4D97-AF65-F5344CB8AC3E}">
        <p14:creationId xmlns:p14="http://schemas.microsoft.com/office/powerpoint/2010/main" val="169383606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102FA-770B-E2BA-E183-3C5B45D86DD3}"/>
              </a:ext>
            </a:extLst>
          </p:cNvPr>
          <p:cNvSpPr>
            <a:spLocks noGrp="1"/>
          </p:cNvSpPr>
          <p:nvPr>
            <p:ph type="title"/>
          </p:nvPr>
        </p:nvSpPr>
        <p:spPr>
          <a:xfrm>
            <a:off x="838200" y="365126"/>
            <a:ext cx="10515600" cy="1134066"/>
          </a:xfrm>
        </p:spPr>
        <p:txBody>
          <a:bodyPr/>
          <a:lstStyle/>
          <a:p>
            <a:r>
              <a:rPr lang="en-US" cap="none" dirty="0">
                <a:solidFill>
                  <a:srgbClr val="003366"/>
                </a:solidFill>
                <a:latin typeface="Times New Roman" panose="02020603050405020304" pitchFamily="18" charset="0"/>
                <a:cs typeface="Times New Roman" panose="02020603050405020304" pitchFamily="18" charset="0"/>
              </a:rPr>
              <a:t>Research Questions Answers</a:t>
            </a:r>
            <a:endParaRPr lang="en-PK" cap="none" dirty="0">
              <a:solidFill>
                <a:srgbClr val="003366"/>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29FD8A7-2492-7883-4283-EE27FEBBD6F7}"/>
              </a:ext>
            </a:extLst>
          </p:cNvPr>
          <p:cNvSpPr>
            <a:spLocks noGrp="1"/>
          </p:cNvSpPr>
          <p:nvPr>
            <p:ph idx="1"/>
          </p:nvPr>
        </p:nvSpPr>
        <p:spPr>
          <a:xfrm>
            <a:off x="838200" y="1499192"/>
            <a:ext cx="10515600" cy="4677771"/>
          </a:xfrm>
        </p:spPr>
        <p:txBody>
          <a:bodyPr>
            <a:normAutofit/>
          </a:bodyPr>
          <a:lstStyle/>
          <a:p>
            <a:pPr lvl="0">
              <a:lnSpc>
                <a:spcPct val="120000"/>
              </a:lnSpc>
            </a:pPr>
            <a:r>
              <a:rPr lang="en-PK" sz="2000" b="1" dirty="0">
                <a:solidFill>
                  <a:srgbClr val="333333"/>
                </a:solidFill>
                <a:latin typeface="Times New Roman" panose="02020603050405020304" pitchFamily="18" charset="0"/>
                <a:cs typeface="Times New Roman" panose="02020603050405020304" pitchFamily="18" charset="0"/>
              </a:rPr>
              <a:t>How Gen AI generalize better than Traditional ML across systems? </a:t>
            </a:r>
            <a:endParaRPr lang="en-US" sz="2000" b="1" dirty="0">
              <a:solidFill>
                <a:srgbClr val="333333"/>
              </a:solidFill>
              <a:latin typeface="Times New Roman" panose="02020603050405020304" pitchFamily="18" charset="0"/>
              <a:cs typeface="Times New Roman" panose="02020603050405020304" pitchFamily="18" charset="0"/>
            </a:endParaRPr>
          </a:p>
          <a:p>
            <a:pPr>
              <a:lnSpc>
                <a:spcPct val="120000"/>
              </a:lnSpc>
            </a:pPr>
            <a:r>
              <a:rPr lang="en-PK" sz="1800" dirty="0">
                <a:solidFill>
                  <a:srgbClr val="333333"/>
                </a:solidFill>
                <a:latin typeface="Times New Roman" panose="02020603050405020304" pitchFamily="18" charset="0"/>
                <a:cs typeface="Times New Roman" panose="02020603050405020304" pitchFamily="18" charset="0"/>
              </a:rPr>
              <a:t>Generative AI theoretically adapts better to new systems because it skips manual feature engineering—a rigid process that breaks when system formats change. Instead, it learns what "normal" activity looks like to automatically catch unknown, zero-day errors. However, real-world testing proves that Generative AI is too sensitive to background noise. On complex systems like Apache Spark, it gets confused and generates too many false alarms, making traditional supervised models much more reliable in practice. </a:t>
            </a:r>
            <a:endParaRPr lang="en-US" sz="1800" dirty="0">
              <a:solidFill>
                <a:srgbClr val="333333"/>
              </a:solidFill>
              <a:latin typeface="Times New Roman" panose="02020603050405020304" pitchFamily="18" charset="0"/>
              <a:cs typeface="Times New Roman" panose="02020603050405020304" pitchFamily="18" charset="0"/>
            </a:endParaRPr>
          </a:p>
          <a:p>
            <a:pPr lvl="0"/>
            <a:r>
              <a:rPr lang="en-PK" sz="2000" b="1" dirty="0">
                <a:solidFill>
                  <a:srgbClr val="333333"/>
                </a:solidFill>
                <a:latin typeface="Times New Roman" panose="02020603050405020304" pitchFamily="18" charset="0"/>
                <a:cs typeface="Times New Roman" panose="02020603050405020304" pitchFamily="18" charset="0"/>
              </a:rPr>
              <a:t>Could Gen AI outperform traditional unsupervised methods for unknown anomalies?</a:t>
            </a:r>
            <a:endParaRPr lang="en-US" sz="2000" b="1" dirty="0">
              <a:solidFill>
                <a:srgbClr val="333333"/>
              </a:solidFill>
              <a:latin typeface="Times New Roman" panose="02020603050405020304" pitchFamily="18" charset="0"/>
              <a:cs typeface="Times New Roman" panose="02020603050405020304" pitchFamily="18" charset="0"/>
            </a:endParaRPr>
          </a:p>
          <a:p>
            <a:pPr lvl="0">
              <a:lnSpc>
                <a:spcPct val="120000"/>
              </a:lnSpc>
            </a:pPr>
            <a:r>
              <a:rPr lang="en-PK" sz="1800" dirty="0">
                <a:solidFill>
                  <a:srgbClr val="333333"/>
                </a:solidFill>
                <a:latin typeface="Times New Roman" panose="02020603050405020304" pitchFamily="18" charset="0"/>
                <a:cs typeface="Times New Roman" panose="02020603050405020304" pitchFamily="18" charset="0"/>
              </a:rPr>
              <a:t> Generative AI can successfully identify zero-day (unknown) anomalies, achieving strong ROC-AUC scores and providing a valuable baseline through normal-only training. However, it produces massive false positive rates, meaning its overall F1-score is lower, limiting its standalone production readiness. </a:t>
            </a:r>
          </a:p>
          <a:p>
            <a:pPr>
              <a:lnSpc>
                <a:spcPct val="120000"/>
              </a:lnSpc>
            </a:pPr>
            <a:endParaRPr lang="en-PK" sz="1800" dirty="0">
              <a:solidFill>
                <a:srgbClr val="333333"/>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5517160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F8C9C-5063-907A-C2DF-6EF13FE98691}"/>
              </a:ext>
            </a:extLst>
          </p:cNvPr>
          <p:cNvSpPr>
            <a:spLocks noGrp="1"/>
          </p:cNvSpPr>
          <p:nvPr>
            <p:ph type="title"/>
          </p:nvPr>
        </p:nvSpPr>
        <p:spPr>
          <a:xfrm>
            <a:off x="1007806" y="651299"/>
            <a:ext cx="9890066" cy="1204593"/>
          </a:xfrm>
        </p:spPr>
        <p:txBody>
          <a:bodyPr>
            <a:normAutofit fontScale="90000"/>
          </a:bodyPr>
          <a:lstStyle/>
          <a:p>
            <a:r>
              <a:rPr lang="en-US" b="1" cap="none" dirty="0">
                <a:solidFill>
                  <a:srgbClr val="003366"/>
                </a:solidFill>
                <a:latin typeface="Times New Roman" panose="02020603050405020304" pitchFamily="18" charset="0"/>
                <a:ea typeface="Helvetica Neue"/>
                <a:cs typeface="Times New Roman" panose="02020603050405020304" pitchFamily="18" charset="0"/>
                <a:sym typeface="Helvetica Neue"/>
              </a:rPr>
              <a:t>7. Conclusion &amp; Future Work</a:t>
            </a:r>
            <a:br>
              <a:rPr lang="en-US" cap="none" dirty="0">
                <a:latin typeface="Times New Roman" panose="02020603050405020304" pitchFamily="18" charset="0"/>
                <a:cs typeface="Times New Roman" panose="02020603050405020304" pitchFamily="18" charset="0"/>
              </a:rPr>
            </a:br>
            <a:endParaRPr lang="en-PK" cap="none"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BE32A02-259D-67B4-F88D-F1D9FD51B78F}"/>
              </a:ext>
            </a:extLst>
          </p:cNvPr>
          <p:cNvSpPr>
            <a:spLocks noGrp="1"/>
          </p:cNvSpPr>
          <p:nvPr>
            <p:ph sz="half" idx="1"/>
          </p:nvPr>
        </p:nvSpPr>
        <p:spPr>
          <a:xfrm>
            <a:off x="1007806" y="1578077"/>
            <a:ext cx="4862051" cy="4525963"/>
          </a:xfrm>
        </p:spPr>
        <p:txBody>
          <a:bodyPr>
            <a:normAutofit/>
          </a:bodyPr>
          <a:lstStyle/>
          <a:p>
            <a:pPr marL="0" indent="0">
              <a:buNone/>
            </a:pPr>
            <a:r>
              <a:rPr lang="en-US" sz="2000" b="1" dirty="0">
                <a:latin typeface="Times New Roman" panose="02020603050405020304" pitchFamily="18" charset="0"/>
                <a:cs typeface="Times New Roman" panose="02020603050405020304" pitchFamily="18" charset="0"/>
              </a:rPr>
              <a:t>Conclusion (The Trade-Off)</a:t>
            </a:r>
          </a:p>
          <a:p>
            <a:r>
              <a:rPr lang="en-US" sz="1800" b="1" dirty="0">
                <a:latin typeface="Times New Roman" panose="02020603050405020304" pitchFamily="18" charset="0"/>
                <a:cs typeface="Times New Roman" panose="02020603050405020304" pitchFamily="18" charset="0"/>
              </a:rPr>
              <a:t>Traditional ML:</a:t>
            </a:r>
          </a:p>
          <a:p>
            <a:pPr marL="0" indent="0">
              <a:buNone/>
            </a:pPr>
            <a:r>
              <a:rPr lang="en-US" sz="1800" dirty="0">
                <a:latin typeface="Times New Roman" panose="02020603050405020304" pitchFamily="18" charset="0"/>
                <a:cs typeface="Times New Roman" panose="02020603050405020304" pitchFamily="18" charset="0"/>
              </a:rPr>
              <a:t> Near-perfect on structured data, but entirely brittle and requires manual engineering.</a:t>
            </a:r>
          </a:p>
          <a:p>
            <a:r>
              <a:rPr lang="en-US" sz="1800" b="1" dirty="0">
                <a:latin typeface="Times New Roman" panose="02020603050405020304" pitchFamily="18" charset="0"/>
                <a:cs typeface="Times New Roman" panose="02020603050405020304" pitchFamily="18" charset="0"/>
              </a:rPr>
              <a:t>Supervised DL: </a:t>
            </a:r>
          </a:p>
          <a:p>
            <a:pPr marL="0" indent="0">
              <a:buNone/>
            </a:pPr>
            <a:r>
              <a:rPr lang="en-US" sz="1800" dirty="0">
                <a:latin typeface="Times New Roman" panose="02020603050405020304" pitchFamily="18" charset="0"/>
                <a:cs typeface="Times New Roman" panose="02020603050405020304" pitchFamily="18" charset="0"/>
              </a:rPr>
              <a:t>Removes manual extraction but remains highly volatile on noisy logs (e.g., Spark).</a:t>
            </a:r>
          </a:p>
          <a:p>
            <a:r>
              <a:rPr lang="en-US" sz="1800" b="1" dirty="0">
                <a:latin typeface="Times New Roman" panose="02020603050405020304" pitchFamily="18" charset="0"/>
                <a:cs typeface="Times New Roman" panose="02020603050405020304" pitchFamily="18" charset="0"/>
              </a:rPr>
              <a:t>Generative Al: </a:t>
            </a:r>
          </a:p>
          <a:p>
            <a:pPr marL="0" indent="0">
              <a:buNone/>
            </a:pPr>
            <a:r>
              <a:rPr lang="en-US" sz="1800" dirty="0">
                <a:latin typeface="Times New Roman" panose="02020603050405020304" pitchFamily="18" charset="0"/>
                <a:cs typeface="Times New Roman" panose="02020603050405020304" pitchFamily="18" charset="0"/>
              </a:rPr>
              <a:t>Provides a valuable zero-day baseline due to normal-only training, but low raw F1 limits standalone production readiness.</a:t>
            </a:r>
            <a:endParaRPr lang="en-PK" sz="18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0DD13EFB-0B34-F784-D49A-1DE364B87843}"/>
              </a:ext>
            </a:extLst>
          </p:cNvPr>
          <p:cNvSpPr>
            <a:spLocks noGrp="1"/>
          </p:cNvSpPr>
          <p:nvPr>
            <p:ph sz="half" idx="2"/>
          </p:nvPr>
        </p:nvSpPr>
        <p:spPr>
          <a:xfrm>
            <a:off x="6322143" y="1417638"/>
            <a:ext cx="5102941" cy="4525963"/>
          </a:xfrm>
        </p:spPr>
        <p:txBody>
          <a:bodyPr>
            <a:normAutofit/>
          </a:bodyPr>
          <a:lstStyle/>
          <a:p>
            <a:pPr marL="0" indent="0">
              <a:buNone/>
            </a:pPr>
            <a:r>
              <a:rPr lang="en-US" sz="2000" b="1" dirty="0">
                <a:latin typeface="Times New Roman" panose="02020603050405020304" pitchFamily="18" charset="0"/>
                <a:cs typeface="Times New Roman" panose="02020603050405020304" pitchFamily="18" charset="0"/>
              </a:rPr>
              <a:t>Future Work</a:t>
            </a:r>
          </a:p>
          <a:p>
            <a:r>
              <a:rPr lang="en-US" sz="1800" b="1" dirty="0">
                <a:latin typeface="Times New Roman" panose="02020603050405020304" pitchFamily="18" charset="0"/>
                <a:cs typeface="Times New Roman" panose="02020603050405020304" pitchFamily="18" charset="0"/>
              </a:rPr>
              <a:t>Dynamic Thresholding: </a:t>
            </a:r>
          </a:p>
          <a:p>
            <a:pPr marL="0" indent="0">
              <a:buNone/>
            </a:pPr>
            <a:r>
              <a:rPr lang="en-US" sz="1800" dirty="0">
                <a:latin typeface="Times New Roman" panose="02020603050405020304" pitchFamily="18" charset="0"/>
                <a:cs typeface="Times New Roman" panose="02020603050405020304" pitchFamily="18" charset="0"/>
              </a:rPr>
              <a:t>Implementing Extreme Value Theory (EVT) to adjust reconstruction thresholds and reduce false positives. </a:t>
            </a:r>
          </a:p>
          <a:p>
            <a:r>
              <a:rPr lang="en-US" sz="1800" b="1" dirty="0">
                <a:latin typeface="Times New Roman" panose="02020603050405020304" pitchFamily="18" charset="0"/>
                <a:cs typeface="Times New Roman" panose="02020603050405020304" pitchFamily="18" charset="0"/>
              </a:rPr>
              <a:t>Concept Drift Mitigation: </a:t>
            </a:r>
          </a:p>
          <a:p>
            <a:pPr marL="0" indent="0">
              <a:buNone/>
            </a:pPr>
            <a:r>
              <a:rPr lang="en-US" sz="1800" dirty="0">
                <a:latin typeface="Times New Roman" panose="02020603050405020304" pitchFamily="18" charset="0"/>
                <a:cs typeface="Times New Roman" panose="02020603050405020304" pitchFamily="18" charset="0"/>
              </a:rPr>
              <a:t>Online learning to adapt to evolving log formats in real-time.</a:t>
            </a:r>
          </a:p>
          <a:p>
            <a:r>
              <a:rPr lang="en-US" sz="1800" b="1" dirty="0">
                <a:latin typeface="Times New Roman" panose="02020603050405020304" pitchFamily="18" charset="0"/>
                <a:cs typeface="Times New Roman" panose="02020603050405020304" pitchFamily="18" charset="0"/>
              </a:rPr>
              <a:t>Hybrid Frameworks: </a:t>
            </a:r>
          </a:p>
          <a:p>
            <a:pPr marL="0" indent="0">
              <a:buNone/>
            </a:pPr>
            <a:r>
              <a:rPr lang="en-US" sz="1800" dirty="0">
                <a:latin typeface="Times New Roman" panose="02020603050405020304" pitchFamily="18" charset="0"/>
                <a:cs typeface="Times New Roman" panose="02020603050405020304" pitchFamily="18" charset="0"/>
              </a:rPr>
              <a:t>Developing neuro-symbolic models combining ensemble precision with generative semantic </a:t>
            </a:r>
            <a:r>
              <a:rPr lang="en-US" sz="2000" dirty="0">
                <a:latin typeface="Times New Roman" panose="02020603050405020304" pitchFamily="18" charset="0"/>
                <a:cs typeface="Times New Roman" panose="02020603050405020304" pitchFamily="18" charset="0"/>
              </a:rPr>
              <a:t>understanding</a:t>
            </a:r>
            <a:r>
              <a:rPr lang="en-US" sz="1800" dirty="0">
                <a:latin typeface="Times New Roman" panose="02020603050405020304" pitchFamily="18" charset="0"/>
                <a:cs typeface="Times New Roman" panose="02020603050405020304" pitchFamily="18" charset="0"/>
              </a:rPr>
              <a:t>.</a:t>
            </a:r>
            <a:endParaRPr lang="en-PK"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9242239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6" name="Google Shape;516;p29"/>
          <p:cNvSpPr txBox="1"/>
          <p:nvPr/>
        </p:nvSpPr>
        <p:spPr>
          <a:xfrm>
            <a:off x="2069562" y="1735484"/>
            <a:ext cx="8052725" cy="969496"/>
          </a:xfrm>
          <a:prstGeom prst="rect">
            <a:avLst/>
          </a:prstGeom>
          <a:noFill/>
          <a:ln>
            <a:noFill/>
          </a:ln>
        </p:spPr>
        <p:txBody>
          <a:bodyPr spcFirstLastPara="1" wrap="square" lIns="0" tIns="0" rIns="0" bIns="0" anchor="t" anchorCtr="0">
            <a:spAutoFit/>
          </a:bodyPr>
          <a:lstStyle/>
          <a:p>
            <a:pPr marL="0" marR="0" lvl="0" indent="0" algn="ctr" rtl="0">
              <a:lnSpc>
                <a:spcPct val="120000"/>
              </a:lnSpc>
              <a:spcBef>
                <a:spcPts val="0"/>
              </a:spcBef>
              <a:spcAft>
                <a:spcPts val="0"/>
              </a:spcAft>
              <a:buNone/>
            </a:pPr>
            <a:r>
              <a:rPr lang="en-US" sz="5250" b="1" i="0" u="none" strike="noStrike" cap="none">
                <a:solidFill>
                  <a:srgbClr val="003366"/>
                </a:solidFill>
                <a:latin typeface="Times New Roman" panose="02020603050405020304" pitchFamily="18" charset="0"/>
                <a:ea typeface="Helvetica Neue"/>
                <a:cs typeface="Times New Roman" panose="02020603050405020304" pitchFamily="18" charset="0"/>
                <a:sym typeface="Helvetica Neue"/>
              </a:rPr>
              <a:t>Questions &amp; Discussion</a:t>
            </a:r>
            <a:endParaRPr>
              <a:latin typeface="Times New Roman" panose="02020603050405020304" pitchFamily="18" charset="0"/>
              <a:cs typeface="Times New Roman" panose="02020603050405020304" pitchFamily="18" charset="0"/>
            </a:endParaRPr>
          </a:p>
        </p:txBody>
      </p:sp>
      <p:sp>
        <p:nvSpPr>
          <p:cNvPr id="517" name="Google Shape;517;p29"/>
          <p:cNvSpPr txBox="1"/>
          <p:nvPr/>
        </p:nvSpPr>
        <p:spPr>
          <a:xfrm>
            <a:off x="4059026" y="2726084"/>
            <a:ext cx="4073946" cy="369332"/>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dirty="0">
                <a:solidFill>
                  <a:srgbClr val="555555"/>
                </a:solidFill>
                <a:latin typeface="Times New Roman" panose="02020603050405020304" pitchFamily="18" charset="0"/>
                <a:ea typeface="Helvetica Neue"/>
                <a:cs typeface="Times New Roman" panose="02020603050405020304" pitchFamily="18" charset="0"/>
                <a:sym typeface="Helvetica Neue"/>
              </a:rPr>
              <a:t>Thank you for your attention.</a:t>
            </a:r>
            <a:endParaRPr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Extreme Shadow">
      <a:fillStyleLst>
        <a:solidFill>
          <a:schemeClr val="phClr"/>
        </a:solidFill>
        <a:gradFill rotWithShape="1">
          <a:gsLst>
            <a:gs pos="0">
              <a:schemeClr val="phClr">
                <a:tint val="90000"/>
              </a:schemeClr>
            </a:gs>
            <a:gs pos="48000">
              <a:schemeClr val="phClr">
                <a:tint val="54000"/>
                <a:satMod val="140000"/>
              </a:schemeClr>
            </a:gs>
            <a:gs pos="100000">
              <a:schemeClr val="phClr">
                <a:tint val="24000"/>
                <a:satMod val="260000"/>
              </a:schemeClr>
            </a:gs>
          </a:gsLst>
          <a:lin ang="16200000" scaled="1"/>
        </a:gradFill>
        <a:gradFill rotWithShape="1">
          <a:gsLst>
            <a:gs pos="0">
              <a:schemeClr val="phClr"/>
            </a:gs>
            <a:gs pos="100000">
              <a:schemeClr val="phClr">
                <a:shade val="48000"/>
                <a:satMod val="180000"/>
                <a:lumMod val="94000"/>
              </a:schemeClr>
            </a:gs>
            <a:gs pos="100000">
              <a:schemeClr val="phClr">
                <a:shade val="48000"/>
                <a:satMod val="180000"/>
                <a:lumMod val="94000"/>
              </a:schemeClr>
            </a:gs>
          </a:gsLst>
          <a:lin ang="4140000" scaled="1"/>
        </a:gradFill>
      </a:fillStyleLst>
      <a:lnStyleLst>
        <a:ln w="12700"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outerShdw blurRad="63500" dist="12700" dir="5400000" sx="102000" sy="102000" rotWithShape="0">
              <a:srgbClr val="000000">
                <a:alpha val="32000"/>
              </a:srgbClr>
            </a:outerShdw>
          </a:effectLst>
        </a:effectStyle>
        <a:effectStyle>
          <a:effectLst>
            <a:outerShdw blurRad="76200" dist="38100" dir="5400000" rotWithShape="0">
              <a:srgbClr val="000000">
                <a:alpha val="60000"/>
              </a:srgbClr>
            </a:outerShdw>
          </a:effectLst>
          <a:scene3d>
            <a:camera prst="orthographicFront">
              <a:rot lat="0" lon="0" rev="0"/>
            </a:camera>
            <a:lightRig rig="threePt" dir="tl">
              <a:rot lat="0" lon="0" rev="19800000"/>
            </a:lightRig>
          </a:scene3d>
          <a:sp3d prstMaterial="plastic">
            <a:bevelT w="25400" h="19050"/>
          </a:sp3d>
        </a:effectStyle>
        <a:effectStyle>
          <a:effectLst>
            <a:outerShdw blurRad="114300" dist="114300" dir="5400000" rotWithShape="0">
              <a:srgbClr val="000000">
                <a:alpha val="70000"/>
              </a:srgbClr>
            </a:outerShdw>
          </a:effectLst>
          <a:scene3d>
            <a:camera prst="orthographicFront">
              <a:rot lat="0" lon="0" rev="0"/>
            </a:camera>
            <a:lightRig rig="threePt" dir="t">
              <a:rot lat="0" lon="0" rev="19800000"/>
            </a:lightRig>
          </a:scene3d>
          <a:sp3d prstMaterial="plastic">
            <a:bevelT w="38100" h="31750"/>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548</TotalTime>
  <Words>3708</Words>
  <Application>Microsoft Office PowerPoint</Application>
  <PresentationFormat>Widescreen</PresentationFormat>
  <Paragraphs>511</Paragraphs>
  <Slides>33</Slides>
  <Notes>12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vt:i4>
      </vt:variant>
    </vt:vector>
  </HeadingPairs>
  <TitlesOfParts>
    <vt:vector size="41" baseType="lpstr">
      <vt:lpstr>Aptos</vt:lpstr>
      <vt:lpstr>Aptos Display</vt:lpstr>
      <vt:lpstr>Arial</vt:lpstr>
      <vt:lpstr>Helvetica Neue</vt:lpstr>
      <vt:lpstr>Inter</vt:lpstr>
      <vt:lpstr>Poppins SemiBold</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3. Problem Statement &amp; Research Gap</vt:lpstr>
      <vt:lpstr>4. Research Questions &amp; Objectives</vt:lpstr>
      <vt:lpstr>5. Methodology (5-Phase Framework)</vt:lpstr>
      <vt:lpstr>PowerPoint Presentation</vt:lpstr>
      <vt:lpstr>PowerPoint Presentation</vt:lpstr>
      <vt:lpstr>PowerPoint Presentation</vt:lpstr>
      <vt:lpstr>PowerPoint Presentation</vt:lpstr>
      <vt:lpstr>PowerPoint Presentation</vt:lpstr>
      <vt:lpstr>PowerPoint Presentation</vt:lpstr>
      <vt:lpstr>Spark Dataset: Challenges</vt:lpstr>
      <vt:lpstr>Hadoop Dataset: Challenges</vt:lpstr>
      <vt:lpstr>PowerPoint Presentation</vt:lpstr>
      <vt:lpstr>Deconstructing Metrics</vt:lpstr>
      <vt:lpstr>Deconstructing Metrics</vt:lpstr>
      <vt:lpstr>PowerPoint Presentation</vt:lpstr>
      <vt:lpstr>PowerPoint Presentation</vt:lpstr>
      <vt:lpstr>PowerPoint Presentation</vt:lpstr>
      <vt:lpstr>PowerPoint Presentation</vt:lpstr>
      <vt:lpstr>PowerPoint Presentation</vt:lpstr>
      <vt:lpstr>Discussion On Results (Key Takeaways)</vt:lpstr>
      <vt:lpstr>Generative Model Failures</vt:lpstr>
      <vt:lpstr>Thesis Core Finding and My Contribution</vt:lpstr>
      <vt:lpstr>Research Questions Answers</vt:lpstr>
      <vt:lpstr>7. Conclusion &amp; Future Work </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ASAD KHAN</dc:creator>
  <cp:keywords/>
  <dc:description>generated using python-pptx</dc:description>
  <cp:lastModifiedBy>ASAD KHAN</cp:lastModifiedBy>
  <cp:revision>4</cp:revision>
  <dcterms:created xsi:type="dcterms:W3CDTF">2013-01-27T09:14:16Z</dcterms:created>
  <dcterms:modified xsi:type="dcterms:W3CDTF">2026-10-22T17:29:51Z</dcterms:modified>
  <cp:category/>
</cp:coreProperties>
</file>